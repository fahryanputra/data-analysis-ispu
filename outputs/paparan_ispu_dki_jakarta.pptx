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Jumlah terdampak</c:v>
                </c:pt>
              </c:strCache>
            </c:strRef>
          </c:tx>
          <c:spPr>
            <a:solidFill>
              <a:srgbClr val="197A5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PM2.5 missing</c:v>
                  </c:pt>
                  <c:pt idx="1">
                    <c:v>Max mismatch</c:v>
                  </c:pt>
                  <c:pt idx="2">
                    <c:v>Critical mismatch</c:v>
                  </c:pt>
                  <c:pt idx="3">
                    <c:v>Tanggal-periode mismatch</c:v>
                  </c:pt>
                  <c:pt idx="4">
                    <c:v>Duplikat kunci harian-stasiun</c:v>
                  </c:pt>
                </c:lvl>
              </c:multiLvlStrCache>
            </c:multiLvlStrRef>
          </c:cat>
          <c:val>
            <c:numRef>
              <c:f>Sheet1!$B$2:$B$6</c:f>
              <c:numCache>
                <c:formatCode>General</c:formatCode>
                <c:ptCount val="5"/>
                <c:pt idx="0">
                  <c:v>9059</c:v>
                </c:pt>
                <c:pt idx="1">
                  <c:v>1378</c:v>
                </c:pt>
                <c:pt idx="2">
                  <c:v>1246</c:v>
                </c:pt>
                <c:pt idx="3">
                  <c:v>172</c:v>
                </c:pt>
                <c:pt idx="4">
                  <c:v>640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majorUnit val="3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Rata-rata ISPU</c:v>
                </c:pt>
              </c:strCache>
            </c:strRef>
          </c:tx>
          <c:spPr>
            <a:solidFill>
              <a:srgbClr val="197A5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DKI2
Kelapa Gading</c:v>
                  </c:pt>
                  <c:pt idx="1">
                    <c:v>DKI5
Kebon Jeruk</c:v>
                  </c:pt>
                  <c:pt idx="2">
                    <c:v>DKI4
Lubang Buaya</c:v>
                  </c:pt>
                  <c:pt idx="3">
                    <c:v>DKI3
Jagakarsa</c:v>
                  </c:pt>
                  <c:pt idx="4">
                    <c:v>DKI1
Bunderan HI</c:v>
                  </c:pt>
                </c:lvl>
              </c:multiLvlStrCache>
            </c:multiLvlStrRef>
          </c:cat>
          <c:val>
            <c:numRef>
              <c:f>Sheet1!$B$2:$B$6</c:f>
              <c:numCache>
                <c:formatCode>General</c:formatCode>
                <c:ptCount val="5"/>
                <c:pt idx="0">
                  <c:v>88.2</c:v>
                </c:pt>
                <c:pt idx="1">
                  <c:v>83.4</c:v>
                </c:pt>
                <c:pt idx="2">
                  <c:v>82.5</c:v>
                </c:pt>
                <c:pt idx="3">
                  <c:v>77.2</c:v>
                </c:pt>
                <c:pt idx="4">
                  <c:v>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Rata-rata ISPU bulanan</c:v>
                </c:pt>
              </c:strCache>
            </c:strRef>
          </c:tx>
          <c:spPr>
            <a:solidFill>
              <a:srgbClr val="D68A00"/>
            </a:solidFill>
            <a:ln w="25400" cap="flat">
              <a:solidFill>
                <a:srgbClr val="D68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8A00"/>
              </a:solidFill>
              <a:ln w="9525" cap="flat">
                <a:solidFill>
                  <a:srgbClr val="D68A00"/>
                </a:solidFill>
                <a:prstDash val="solid"/>
                <a:round/>
              </a:ln>
              <a:effectLst/>
            </c:spPr>
          </c:marker>
          <c:cat>
            <c:multiLvlStrRef>
              <c:f>Sheet1!$A$2:$A$13</c:f>
              <c:multiLvlStrCache>
                <c:ptCount val="12"/>
                <c:lvl>
                  <c:pt idx="0">
                    <c:v>Jan</c:v>
                  </c:pt>
                  <c:pt idx="1">
                    <c:v>Feb</c:v>
                  </c:pt>
                  <c:pt idx="2">
                    <c:v>Mar</c:v>
                  </c:pt>
                  <c:pt idx="3">
                    <c:v>Apr</c:v>
                  </c:pt>
                  <c:pt idx="4">
                    <c:v>Mei</c:v>
                  </c:pt>
                  <c:pt idx="5">
                    <c:v>Jun</c:v>
                  </c:pt>
                  <c:pt idx="6">
                    <c:v>Jul</c:v>
                  </c:pt>
                  <c:pt idx="7">
                    <c:v>Agu</c:v>
                  </c:pt>
                  <c:pt idx="8">
                    <c:v>Sep</c:v>
                  </c:pt>
                  <c:pt idx="9">
                    <c:v>Okt</c:v>
                  </c:pt>
                  <c:pt idx="10">
                    <c:v>Nov</c:v>
                  </c:pt>
                  <c:pt idx="11">
                    <c:v>Des</c:v>
                  </c:pt>
                </c:lvl>
              </c:multiLvlStrCache>
            </c:multiLvlStrRef>
          </c:cat>
          <c:val>
            <c:numRef>
              <c:f>Sheet1!$B$2:$B$13</c:f>
              <c:numCache>
                <c:formatCode>General</c:formatCode>
                <c:ptCount val="12"/>
                <c:pt idx="0">
                  <c:v>62.6</c:v>
                </c:pt>
                <c:pt idx="1">
                  <c:v>67.8</c:v>
                </c:pt>
                <c:pt idx="2">
                  <c:v>76.7</c:v>
                </c:pt>
                <c:pt idx="3">
                  <c:v>78.2</c:v>
                </c:pt>
                <c:pt idx="4">
                  <c:v>83.2</c:v>
                </c:pt>
                <c:pt idx="5">
                  <c:v>83.8</c:v>
                </c:pt>
                <c:pt idx="6">
                  <c:v>85.8</c:v>
                </c:pt>
                <c:pt idx="7">
                  <c:v>83.6</c:v>
                </c:pt>
                <c:pt idx="8">
                  <c:v>89.5</c:v>
                </c:pt>
                <c:pt idx="9">
                  <c:v>89.7</c:v>
                </c:pt>
                <c:pt idx="10">
                  <c:v>84.7</c:v>
                </c:pt>
                <c:pt idx="11">
                  <c:v>65.1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02920" y="6446520"/>
            <a:ext cx="11155680" cy="0"/>
          </a:xfrm>
          <a:prstGeom prst="line">
            <a:avLst/>
          </a:prstGeom>
          <a:noFill/>
          <a:ln w="10160">
            <a:solidFill>
              <a:srgbClr val="DCE7E1"/>
            </a:solidFill>
            <a:prstDash val="solid"/>
          </a:ln>
        </p:spPr>
      </p:sp>
      <p:sp>
        <p:nvSpPr>
          <p:cNvPr id="3" name="Text 1"/>
          <p:cNvSpPr/>
          <p:nvPr/>
        </p:nvSpPr>
        <p:spPr>
          <a:xfrm>
            <a:off x="502920" y="6519672"/>
            <a:ext cx="6217920" cy="164592"/>
          </a:xfrm>
          <a:prstGeom prst="rect">
            <a:avLst/>
          </a:prstGeom>
          <a:noFill/>
          <a:ln/>
        </p:spPr>
        <p:txBody>
          <a:bodyPr wrap="square" lIns="0" tIns="0" rIns="0" bIns="0" rtlCol="0" anchor="ctr"/>
          <a:lstStyle/>
          <a:p>
            <a:pPr indent="0" marL="0">
              <a:buNone/>
            </a:pPr>
            <a:r>
              <a:rPr lang="en-US" sz="650" dirty="0">
                <a:solidFill>
                  <a:srgbClr val="6B7D76"/>
                </a:solidFill>
                <a:latin typeface="Aptos" pitchFamily="34" charset="0"/>
                <a:ea typeface="Aptos" pitchFamily="34" charset="-122"/>
                <a:cs typeface="Aptos" pitchFamily="34" charset="-120"/>
              </a:rPr>
              <a:t>Analisis ISPU DKI Jakarta • Data bersih tervalidasi • Dashboard BI</a:t>
            </a:r>
            <a:endParaRPr lang="en-US" sz="650" dirty="0"/>
          </a:p>
        </p:txBody>
      </p:sp>
      <p:sp>
        <p:nvSpPr>
          <p:cNvPr id="4" name="Text 2"/>
          <p:cNvSpPr/>
          <p:nvPr/>
        </p:nvSpPr>
        <p:spPr>
          <a:xfrm>
            <a:off x="10927080" y="6519672"/>
            <a:ext cx="731520" cy="164592"/>
          </a:xfrm>
          <a:prstGeom prst="rect">
            <a:avLst/>
          </a:prstGeom>
          <a:noFill/>
          <a:ln/>
        </p:spPr>
        <p:txBody>
          <a:bodyPr wrap="square" lIns="0" tIns="0" rIns="0" bIns="0" rtlCol="0" anchor="ctr"/>
          <a:lstStyle/>
          <a:p>
            <a:pPr algn="r" indent="0" marL="0">
              <a:buNone/>
            </a:pPr>
            <a:r>
              <a:rPr lang="en-US" sz="650" dirty="0">
                <a:solidFill>
                  <a:srgbClr val="6B7D76"/>
                </a:solidFill>
                <a:latin typeface="Aptos" pitchFamily="34" charset="0"/>
                <a:ea typeface="Aptos" pitchFamily="34" charset="-122"/>
                <a:cs typeface="Aptos" pitchFamily="34" charset="-120"/>
              </a:rPr>
              <a:t>2026</a:t>
            </a:r>
            <a:endParaRPr lang="en-US" sz="65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B24"/>
        </a:solidFill>
      </p:bgPr>
    </p:bg>
    <p:spTree>
      <p:nvGrpSpPr>
        <p:cNvPr id="1" name=""/>
        <p:cNvGrpSpPr/>
        <p:nvPr/>
      </p:nvGrpSpPr>
      <p:grpSpPr>
        <a:xfrm>
          <a:off x="0" y="0"/>
          <a:ext cx="0" cy="0"/>
          <a:chOff x="0" y="0"/>
          <a:chExt cx="0" cy="0"/>
        </a:xfrm>
      </p:grpSpPr>
      <p:sp>
        <p:nvSpPr>
          <p:cNvPr id="2" name="Text 0"/>
          <p:cNvSpPr/>
          <p:nvPr/>
        </p:nvSpPr>
        <p:spPr>
          <a:xfrm>
            <a:off x="731520" y="1005840"/>
            <a:ext cx="7223760" cy="86868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Analisis Kualitas Udara ISPU DKI Jakarta</a:t>
            </a:r>
            <a:endParaRPr lang="en-US" sz="3400" dirty="0"/>
          </a:p>
        </p:txBody>
      </p:sp>
      <p:sp>
        <p:nvSpPr>
          <p:cNvPr id="3" name="Text 1"/>
          <p:cNvSpPr/>
          <p:nvPr/>
        </p:nvSpPr>
        <p:spPr>
          <a:xfrm>
            <a:off x="749808" y="2011680"/>
            <a:ext cx="6858000" cy="292608"/>
          </a:xfrm>
          <a:prstGeom prst="rect">
            <a:avLst/>
          </a:prstGeom>
          <a:noFill/>
          <a:ln/>
        </p:spPr>
        <p:txBody>
          <a:bodyPr wrap="square" lIns="0" tIns="0" rIns="0" bIns="0" rtlCol="0" anchor="ctr">
            <a:normAutofit/>
          </a:bodyPr>
          <a:lstStyle/>
          <a:p>
            <a:pPr indent="0" marL="0">
              <a:buNone/>
            </a:pPr>
            <a:r>
              <a:rPr lang="en-US" sz="1450" dirty="0">
                <a:solidFill>
                  <a:srgbClr val="DFF2EA"/>
                </a:solidFill>
                <a:latin typeface="Aptos" pitchFamily="34" charset="0"/>
                <a:ea typeface="Aptos" pitchFamily="34" charset="-122"/>
                <a:cs typeface="Aptos" pitchFamily="34" charset="-120"/>
              </a:rPr>
              <a:t>Paparan Dashboard Business Intelligence berbasis data bersih 2010–2023</a:t>
            </a:r>
            <a:endParaRPr lang="en-US" sz="1450" dirty="0"/>
          </a:p>
        </p:txBody>
      </p:sp>
      <p:sp>
        <p:nvSpPr>
          <p:cNvPr id="4" name="Shape 2"/>
          <p:cNvSpPr/>
          <p:nvPr/>
        </p:nvSpPr>
        <p:spPr>
          <a:xfrm>
            <a:off x="749808" y="2542032"/>
            <a:ext cx="1828800" cy="0"/>
          </a:xfrm>
          <a:prstGeom prst="line">
            <a:avLst/>
          </a:prstGeom>
          <a:noFill/>
          <a:ln w="38100">
            <a:solidFill>
              <a:srgbClr val="2E9D76"/>
            </a:solidFill>
            <a:prstDash val="solid"/>
          </a:ln>
        </p:spPr>
      </p:sp>
      <p:sp>
        <p:nvSpPr>
          <p:cNvPr id="5" name="Text 3"/>
          <p:cNvSpPr/>
          <p:nvPr/>
        </p:nvSpPr>
        <p:spPr>
          <a:xfrm>
            <a:off x="749808" y="2926080"/>
            <a:ext cx="6583680" cy="749808"/>
          </a:xfrm>
          <a:prstGeom prst="rect">
            <a:avLst/>
          </a:prstGeom>
          <a:noFill/>
          <a:ln/>
        </p:spPr>
        <p:txBody>
          <a:bodyPr wrap="square" lIns="254" tIns="254" rIns="254" bIns="254" rtlCol="0" anchor="ctr">
            <a:normAutofit/>
          </a:bodyPr>
          <a:lstStyle/>
          <a:p>
            <a:pPr indent="0" marL="0">
              <a:buNone/>
            </a:pPr>
            <a:r>
              <a:rPr lang="en-US" sz="1250" dirty="0">
                <a:solidFill>
                  <a:srgbClr val="E8F4EF"/>
                </a:solidFill>
                <a:latin typeface="Aptos" pitchFamily="34" charset="0"/>
                <a:ea typeface="Aptos" pitchFamily="34" charset="-122"/>
                <a:cs typeface="Aptos" pitchFamily="34" charset="-120"/>
              </a:rPr>
              <a:t>Disusun untuk mendukung keputusan Kepala Dinas Lingkungan Hidup DKI Jakarta melalui analisis tren, perbandingan stasiun, parameter pencemar dominan, dan pola musiman kualitas udara.</a:t>
            </a:r>
            <a:endParaRPr lang="en-US" sz="1250" dirty="0"/>
          </a:p>
        </p:txBody>
      </p:sp>
      <p:sp>
        <p:nvSpPr>
          <p:cNvPr id="6" name="Shape 4"/>
          <p:cNvSpPr/>
          <p:nvPr/>
        </p:nvSpPr>
        <p:spPr>
          <a:xfrm>
            <a:off x="8183880" y="1234440"/>
            <a:ext cx="3154680" cy="3291840"/>
          </a:xfrm>
          <a:prstGeom prst="roundRect">
            <a:avLst>
              <a:gd name="adj" fmla="val 2319"/>
            </a:avLst>
          </a:prstGeom>
          <a:solidFill>
            <a:srgbClr val="F7FAF8"/>
          </a:solidFill>
          <a:ln w="10160">
            <a:solidFill>
              <a:srgbClr val="2E9D76"/>
            </a:solidFill>
            <a:prstDash val="solid"/>
          </a:ln>
          <a:effectLst>
            <a:outerShdw sx="100000" sy="100000" kx="0" ky="0" algn="bl" rotWithShape="0" blurRad="12700" dist="12700" dir="2700000">
              <a:srgbClr val="86958E">
                <a:alpha val="10000"/>
              </a:srgbClr>
            </a:outerShdw>
          </a:effectLst>
        </p:spPr>
      </p:sp>
      <p:sp>
        <p:nvSpPr>
          <p:cNvPr id="7" name="Text 5"/>
          <p:cNvSpPr/>
          <p:nvPr/>
        </p:nvSpPr>
        <p:spPr>
          <a:xfrm>
            <a:off x="8549640" y="1527048"/>
            <a:ext cx="2423160" cy="164592"/>
          </a:xfrm>
          <a:prstGeom prst="rect">
            <a:avLst/>
          </a:prstGeom>
          <a:noFill/>
          <a:ln/>
        </p:spPr>
        <p:txBody>
          <a:bodyPr wrap="square" lIns="0" tIns="0" rIns="0" bIns="0" rtlCol="0" anchor="ctr"/>
          <a:lstStyle/>
          <a:p>
            <a:pPr algn="ctr" indent="0" marL="0">
              <a:buNone/>
            </a:pPr>
            <a:r>
              <a:rPr lang="en-US" sz="800" b="1" dirty="0">
                <a:solidFill>
                  <a:srgbClr val="197A5D"/>
                </a:solidFill>
                <a:latin typeface="Aptos" pitchFamily="34" charset="0"/>
                <a:ea typeface="Aptos" pitchFamily="34" charset="-122"/>
                <a:cs typeface="Aptos" pitchFamily="34" charset="-120"/>
              </a:rPr>
              <a:t>DATA BERSIH</a:t>
            </a:r>
            <a:endParaRPr lang="en-US" sz="800" dirty="0"/>
          </a:p>
        </p:txBody>
      </p:sp>
      <p:sp>
        <p:nvSpPr>
          <p:cNvPr id="8" name="Text 6"/>
          <p:cNvSpPr/>
          <p:nvPr/>
        </p:nvSpPr>
        <p:spPr>
          <a:xfrm>
            <a:off x="8458200" y="1874520"/>
            <a:ext cx="2606040" cy="502920"/>
          </a:xfrm>
          <a:prstGeom prst="rect">
            <a:avLst/>
          </a:prstGeom>
          <a:noFill/>
          <a:ln/>
        </p:spPr>
        <p:txBody>
          <a:bodyPr wrap="square" lIns="0" tIns="0" rIns="0" bIns="0" rtlCol="0" anchor="ctr"/>
          <a:lstStyle/>
          <a:p>
            <a:pPr algn="ctr" indent="0" marL="0">
              <a:buNone/>
            </a:pPr>
            <a:r>
              <a:rPr lang="en-US" sz="3000" b="1" dirty="0">
                <a:solidFill>
                  <a:srgbClr val="14342C"/>
                </a:solidFill>
                <a:latin typeface="Aptos Display" pitchFamily="34" charset="0"/>
                <a:ea typeface="Aptos Display" pitchFamily="34" charset="-122"/>
                <a:cs typeface="Aptos Display" pitchFamily="34" charset="-120"/>
              </a:rPr>
              <a:t>14.576</a:t>
            </a:r>
            <a:endParaRPr lang="en-US" sz="3000" dirty="0"/>
          </a:p>
        </p:txBody>
      </p:sp>
      <p:sp>
        <p:nvSpPr>
          <p:cNvPr id="9" name="Text 7"/>
          <p:cNvSpPr/>
          <p:nvPr/>
        </p:nvSpPr>
        <p:spPr>
          <a:xfrm>
            <a:off x="8458200" y="2450592"/>
            <a:ext cx="2606040" cy="201168"/>
          </a:xfrm>
          <a:prstGeom prst="rect">
            <a:avLst/>
          </a:prstGeom>
          <a:noFill/>
          <a:ln/>
        </p:spPr>
        <p:txBody>
          <a:bodyPr wrap="square" lIns="0" tIns="0" rIns="0" bIns="0" rtlCol="0" anchor="ctr"/>
          <a:lstStyle/>
          <a:p>
            <a:pPr algn="ctr" indent="0" marL="0">
              <a:buNone/>
            </a:pPr>
            <a:r>
              <a:rPr lang="en-US" sz="950" dirty="0">
                <a:solidFill>
                  <a:srgbClr val="58706A"/>
                </a:solidFill>
                <a:latin typeface="Aptos" pitchFamily="34" charset="0"/>
                <a:ea typeface="Aptos" pitchFamily="34" charset="-122"/>
                <a:cs typeface="Aptos" pitchFamily="34" charset="-120"/>
              </a:rPr>
              <a:t>baris observasi harian-stasiun</a:t>
            </a:r>
            <a:endParaRPr lang="en-US" sz="950" dirty="0"/>
          </a:p>
        </p:txBody>
      </p:sp>
      <p:sp>
        <p:nvSpPr>
          <p:cNvPr id="10" name="Shape 8"/>
          <p:cNvSpPr/>
          <p:nvPr/>
        </p:nvSpPr>
        <p:spPr>
          <a:xfrm>
            <a:off x="8732520" y="2880360"/>
            <a:ext cx="2057400" cy="0"/>
          </a:xfrm>
          <a:prstGeom prst="line">
            <a:avLst/>
          </a:prstGeom>
          <a:noFill/>
          <a:ln w="12700">
            <a:solidFill>
              <a:srgbClr val="DCE7E1"/>
            </a:solidFill>
            <a:prstDash val="solid"/>
          </a:ln>
        </p:spPr>
      </p:sp>
      <p:sp>
        <p:nvSpPr>
          <p:cNvPr id="11" name="Text 9"/>
          <p:cNvSpPr/>
          <p:nvPr/>
        </p:nvSpPr>
        <p:spPr>
          <a:xfrm>
            <a:off x="8458200" y="3136392"/>
            <a:ext cx="2606040" cy="329184"/>
          </a:xfrm>
          <a:prstGeom prst="rect">
            <a:avLst/>
          </a:prstGeom>
          <a:noFill/>
          <a:ln/>
        </p:spPr>
        <p:txBody>
          <a:bodyPr wrap="square" lIns="0" tIns="0" rIns="0" bIns="0" rtlCol="0" anchor="ctr"/>
          <a:lstStyle/>
          <a:p>
            <a:pPr algn="ctr" indent="0" marL="0">
              <a:buNone/>
            </a:pPr>
            <a:r>
              <a:rPr lang="en-US" sz="2100" b="1" dirty="0">
                <a:solidFill>
                  <a:srgbClr val="197A5D"/>
                </a:solidFill>
                <a:latin typeface="Aptos Display" pitchFamily="34" charset="0"/>
                <a:ea typeface="Aptos Display" pitchFamily="34" charset="-122"/>
                <a:cs typeface="Aptos Display" pitchFamily="34" charset="-120"/>
              </a:rPr>
              <a:t>5 SPKU</a:t>
            </a:r>
            <a:endParaRPr lang="en-US" sz="2100" dirty="0"/>
          </a:p>
        </p:txBody>
      </p:sp>
      <p:sp>
        <p:nvSpPr>
          <p:cNvPr id="12" name="Text 10"/>
          <p:cNvSpPr/>
          <p:nvPr/>
        </p:nvSpPr>
        <p:spPr>
          <a:xfrm>
            <a:off x="8458200" y="3547872"/>
            <a:ext cx="2606040" cy="219456"/>
          </a:xfrm>
          <a:prstGeom prst="rect">
            <a:avLst/>
          </a:prstGeom>
          <a:noFill/>
          <a:ln/>
        </p:spPr>
        <p:txBody>
          <a:bodyPr wrap="square" lIns="0" tIns="0" rIns="0" bIns="0" rtlCol="0" anchor="ctr">
            <a:normAutofit/>
          </a:bodyPr>
          <a:lstStyle/>
          <a:p>
            <a:pPr algn="ctr" indent="0" marL="0">
              <a:buNone/>
            </a:pPr>
            <a:r>
              <a:rPr lang="en-US" sz="850" dirty="0">
                <a:solidFill>
                  <a:srgbClr val="58706A"/>
                </a:solidFill>
                <a:latin typeface="Aptos" pitchFamily="34" charset="0"/>
                <a:ea typeface="Aptos" pitchFamily="34" charset="-122"/>
                <a:cs typeface="Aptos" pitchFamily="34" charset="-120"/>
              </a:rPr>
              <a:t>01 Jan 2010 – 30 Nov 2023</a:t>
            </a:r>
            <a:endParaRPr lang="en-US" sz="850" dirty="0"/>
          </a:p>
        </p:txBody>
      </p:sp>
      <p:sp>
        <p:nvSpPr>
          <p:cNvPr id="13" name="Text 11"/>
          <p:cNvSpPr/>
          <p:nvPr/>
        </p:nvSpPr>
        <p:spPr>
          <a:xfrm>
            <a:off x="777240" y="5230368"/>
            <a:ext cx="4389120" cy="256032"/>
          </a:xfrm>
          <a:prstGeom prst="rect">
            <a:avLst/>
          </a:prstGeom>
          <a:noFill/>
          <a:ln/>
        </p:spPr>
        <p:txBody>
          <a:bodyPr wrap="square" lIns="0" tIns="0" rIns="0" bIns="0" rtlCol="0" anchor="ctr"/>
          <a:lstStyle/>
          <a:p>
            <a:pPr indent="0" marL="0">
              <a:buNone/>
            </a:pPr>
            <a:r>
              <a:rPr lang="en-US" sz="1100" b="1" dirty="0">
                <a:solidFill>
                  <a:srgbClr val="E8F4EF"/>
                </a:solidFill>
                <a:latin typeface="Aptos" pitchFamily="34" charset="0"/>
                <a:ea typeface="Aptos" pitchFamily="34" charset="-122"/>
                <a:cs typeface="Aptos" pitchFamily="34" charset="-120"/>
              </a:rPr>
              <a:t>Nama Asesi: Raihan Ferdyanza</a:t>
            </a:r>
            <a:endParaRPr lang="en-US" sz="1100" dirty="0"/>
          </a:p>
        </p:txBody>
      </p:sp>
      <p:sp>
        <p:nvSpPr>
          <p:cNvPr id="14" name="Text 12"/>
          <p:cNvSpPr/>
          <p:nvPr/>
        </p:nvSpPr>
        <p:spPr>
          <a:xfrm>
            <a:off x="777240" y="5541264"/>
            <a:ext cx="4389120" cy="256032"/>
          </a:xfrm>
          <a:prstGeom prst="rect">
            <a:avLst/>
          </a:prstGeom>
          <a:noFill/>
          <a:ln/>
        </p:spPr>
        <p:txBody>
          <a:bodyPr wrap="square" lIns="0" tIns="0" rIns="0" bIns="0" rtlCol="0" anchor="ctr"/>
          <a:lstStyle/>
          <a:p>
            <a:pPr indent="0" marL="0">
              <a:buNone/>
            </a:pPr>
            <a:r>
              <a:rPr lang="en-US" sz="1100" dirty="0">
                <a:solidFill>
                  <a:srgbClr val="B9D3C9"/>
                </a:solidFill>
                <a:latin typeface="Aptos" pitchFamily="34" charset="0"/>
                <a:ea typeface="Aptos" pitchFamily="34" charset="-122"/>
                <a:cs typeface="Aptos" pitchFamily="34" charset="-120"/>
              </a:rPr>
              <a:t>Tanggal Presentasi: 11 Juni 2026</a:t>
            </a:r>
            <a:endParaRPr lang="en-US" sz="1100" dirty="0"/>
          </a:p>
        </p:txBody>
      </p:sp>
      <p:sp>
        <p:nvSpPr>
          <p:cNvPr id="15" name="Text 13"/>
          <p:cNvSpPr/>
          <p:nvPr/>
        </p:nvSpPr>
        <p:spPr>
          <a:xfrm>
            <a:off x="777240" y="6172200"/>
            <a:ext cx="4389120" cy="201168"/>
          </a:xfrm>
          <a:prstGeom prst="rect">
            <a:avLst/>
          </a:prstGeom>
          <a:noFill/>
          <a:ln/>
        </p:spPr>
        <p:txBody>
          <a:bodyPr wrap="square" lIns="0" tIns="0" rIns="0" bIns="0" rtlCol="0" anchor="ctr"/>
          <a:lstStyle/>
          <a:p>
            <a:pPr indent="0" marL="0">
              <a:buNone/>
            </a:pPr>
            <a:r>
              <a:rPr lang="en-US" sz="850" dirty="0">
                <a:solidFill>
                  <a:srgbClr val="B9D3C9"/>
                </a:solidFill>
                <a:latin typeface="Aptos" pitchFamily="34" charset="0"/>
                <a:ea typeface="Aptos" pitchFamily="34" charset="-122"/>
                <a:cs typeface="Aptos" pitchFamily="34" charset="-120"/>
              </a:rPr>
              <a:t>Pusdatin KLH/BPLH</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2</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Latar Belakang &amp; Tujuan Analisis</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Text 3"/>
          <p:cNvSpPr/>
          <p:nvPr/>
        </p:nvSpPr>
        <p:spPr>
          <a:xfrm>
            <a:off x="658368" y="1325880"/>
            <a:ext cx="6583680" cy="658368"/>
          </a:xfrm>
          <a:prstGeom prst="rect">
            <a:avLst/>
          </a:prstGeom>
          <a:noFill/>
          <a:ln/>
        </p:spPr>
        <p:txBody>
          <a:bodyPr wrap="square" lIns="254" tIns="254" rIns="254" bIns="254" rtlCol="0" anchor="t">
            <a:normAutofit/>
          </a:bodyPr>
          <a:lstStyle/>
          <a:p>
            <a:pPr algn="l" indent="0" marL="0">
              <a:buNone/>
            </a:pPr>
            <a:r>
              <a:rPr lang="en-US" sz="1240" dirty="0">
                <a:solidFill>
                  <a:srgbClr val="14342C"/>
                </a:solidFill>
                <a:latin typeface="Aptos" pitchFamily="34" charset="0"/>
                <a:ea typeface="Aptos" pitchFamily="34" charset="-122"/>
                <a:cs typeface="Aptos" pitchFamily="34" charset="-120"/>
              </a:rPr>
              <a:t>Kualitas udara Jakarta perlu dipantau secara konsisten karena nilai ISPU berubah menurut waktu, lokasi SPKU, dan parameter pencemar. Dashboard BI dibutuhkan agar data harian tidak hanya menjadi arsip, tetapi menjadi dasar prioritas pengawasan, komunikasi risiko, dan kebijakan pengendalian pencemaran.</a:t>
            </a:r>
            <a:endParaRPr lang="en-US" sz="1240" dirty="0"/>
          </a:p>
        </p:txBody>
      </p:sp>
      <p:sp>
        <p:nvSpPr>
          <p:cNvPr id="6" name="Shape 4"/>
          <p:cNvSpPr/>
          <p:nvPr/>
        </p:nvSpPr>
        <p:spPr>
          <a:xfrm>
            <a:off x="685800" y="2331720"/>
            <a:ext cx="3383280" cy="1143000"/>
          </a:xfrm>
          <a:prstGeom prst="roundRect">
            <a:avLst>
              <a:gd name="adj" fmla="val 6400"/>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7" name="Shape 5"/>
          <p:cNvSpPr/>
          <p:nvPr/>
        </p:nvSpPr>
        <p:spPr>
          <a:xfrm>
            <a:off x="832104" y="2487168"/>
            <a:ext cx="329184" cy="329184"/>
          </a:xfrm>
          <a:prstGeom prst="ellipse">
            <a:avLst/>
          </a:prstGeom>
          <a:solidFill>
            <a:srgbClr val="197A5D"/>
          </a:solidFill>
          <a:ln w="12700">
            <a:solidFill>
              <a:srgbClr val="197A5D"/>
            </a:solidFill>
            <a:prstDash val="solid"/>
          </a:ln>
        </p:spPr>
      </p:sp>
      <p:sp>
        <p:nvSpPr>
          <p:cNvPr id="8" name="Text 6"/>
          <p:cNvSpPr/>
          <p:nvPr/>
        </p:nvSpPr>
        <p:spPr>
          <a:xfrm>
            <a:off x="832104" y="2555748"/>
            <a:ext cx="329184" cy="91440"/>
          </a:xfrm>
          <a:prstGeom prst="rect">
            <a:avLst/>
          </a:prstGeom>
          <a:noFill/>
          <a:ln/>
        </p:spPr>
        <p:txBody>
          <a:bodyPr wrap="square" lIns="0" tIns="0" rIns="0" bIns="0" rtlCol="0" anchor="ctr"/>
          <a:lstStyle/>
          <a:p>
            <a:pPr algn="ctr" indent="0" marL="0">
              <a:buNone/>
            </a:pPr>
            <a:r>
              <a:rPr lang="en-US" sz="820" b="1" dirty="0">
                <a:solidFill>
                  <a:srgbClr val="FFFFFF"/>
                </a:solidFill>
                <a:latin typeface="Aptos" pitchFamily="34" charset="0"/>
                <a:ea typeface="Aptos" pitchFamily="34" charset="-122"/>
                <a:cs typeface="Aptos" pitchFamily="34" charset="-120"/>
              </a:rPr>
              <a:t>1</a:t>
            </a:r>
            <a:endParaRPr lang="en-US" sz="820" dirty="0"/>
          </a:p>
        </p:txBody>
      </p:sp>
      <p:sp>
        <p:nvSpPr>
          <p:cNvPr id="9" name="Text 7"/>
          <p:cNvSpPr/>
          <p:nvPr/>
        </p:nvSpPr>
        <p:spPr>
          <a:xfrm>
            <a:off x="1252728" y="2468880"/>
            <a:ext cx="2670048" cy="237744"/>
          </a:xfrm>
          <a:prstGeom prst="rect">
            <a:avLst/>
          </a:prstGeom>
          <a:noFill/>
          <a:ln/>
        </p:spPr>
        <p:txBody>
          <a:bodyPr wrap="square" lIns="0" tIns="0" rIns="0" bIns="0" rtlCol="0" anchor="ctr">
            <a:normAutofit/>
          </a:bodyPr>
          <a:lstStyle/>
          <a:p>
            <a:pPr indent="0" marL="0">
              <a:buNone/>
            </a:pPr>
            <a:r>
              <a:rPr lang="en-US" sz="1010" b="1" dirty="0">
                <a:solidFill>
                  <a:srgbClr val="14342C"/>
                </a:solidFill>
                <a:latin typeface="Aptos" pitchFamily="34" charset="0"/>
                <a:ea typeface="Aptos" pitchFamily="34" charset="-122"/>
                <a:cs typeface="Aptos" pitchFamily="34" charset="-120"/>
              </a:rPr>
              <a:t>Kebutuhan analisis</a:t>
            </a:r>
            <a:endParaRPr lang="en-US" sz="1010" dirty="0"/>
          </a:p>
        </p:txBody>
      </p:sp>
      <p:sp>
        <p:nvSpPr>
          <p:cNvPr id="10" name="Text 8"/>
          <p:cNvSpPr/>
          <p:nvPr/>
        </p:nvSpPr>
        <p:spPr>
          <a:xfrm>
            <a:off x="1252728" y="2779776"/>
            <a:ext cx="2670048" cy="612648"/>
          </a:xfrm>
          <a:prstGeom prst="rect">
            <a:avLst/>
          </a:prstGeom>
          <a:noFill/>
          <a:ln/>
        </p:spPr>
        <p:txBody>
          <a:bodyPr wrap="square" lIns="254" tIns="254" rIns="254" bIns="254" rtlCol="0" anchor="ctr">
            <a:normAutofit/>
          </a:bodyPr>
          <a:lstStyle/>
          <a:p>
            <a:pPr indent="0" marL="0">
              <a:buNone/>
            </a:pPr>
            <a:r>
              <a:rPr lang="en-US" sz="820" dirty="0">
                <a:solidFill>
                  <a:srgbClr val="58706A"/>
                </a:solidFill>
                <a:latin typeface="Aptos" pitchFamily="34" charset="0"/>
                <a:ea typeface="Aptos" pitchFamily="34" charset="-122"/>
                <a:cs typeface="Aptos" pitchFamily="34" charset="-120"/>
              </a:rPr>
              <a:t>Mengetahui kondisi umum kualitas udara, lokasi prioritas, periode risiko, dan pencemar dominan berdasarkan data dashboard.</a:t>
            </a:r>
            <a:endParaRPr lang="en-US" sz="820" dirty="0"/>
          </a:p>
        </p:txBody>
      </p:sp>
      <p:sp>
        <p:nvSpPr>
          <p:cNvPr id="11" name="Shape 9"/>
          <p:cNvSpPr/>
          <p:nvPr/>
        </p:nvSpPr>
        <p:spPr>
          <a:xfrm>
            <a:off x="4434840" y="2331720"/>
            <a:ext cx="3383280" cy="1143000"/>
          </a:xfrm>
          <a:prstGeom prst="roundRect">
            <a:avLst>
              <a:gd name="adj" fmla="val 6400"/>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12" name="Shape 10"/>
          <p:cNvSpPr/>
          <p:nvPr/>
        </p:nvSpPr>
        <p:spPr>
          <a:xfrm>
            <a:off x="4581144" y="2487168"/>
            <a:ext cx="329184" cy="329184"/>
          </a:xfrm>
          <a:prstGeom prst="ellipse">
            <a:avLst/>
          </a:prstGeom>
          <a:solidFill>
            <a:srgbClr val="2B6CB0"/>
          </a:solidFill>
          <a:ln w="12700">
            <a:solidFill>
              <a:srgbClr val="2B6CB0"/>
            </a:solidFill>
            <a:prstDash val="solid"/>
          </a:ln>
        </p:spPr>
      </p:sp>
      <p:sp>
        <p:nvSpPr>
          <p:cNvPr id="13" name="Text 11"/>
          <p:cNvSpPr/>
          <p:nvPr/>
        </p:nvSpPr>
        <p:spPr>
          <a:xfrm>
            <a:off x="4581144" y="2555748"/>
            <a:ext cx="329184" cy="91440"/>
          </a:xfrm>
          <a:prstGeom prst="rect">
            <a:avLst/>
          </a:prstGeom>
          <a:noFill/>
          <a:ln/>
        </p:spPr>
        <p:txBody>
          <a:bodyPr wrap="square" lIns="0" tIns="0" rIns="0" bIns="0" rtlCol="0" anchor="ctr"/>
          <a:lstStyle/>
          <a:p>
            <a:pPr algn="ctr" indent="0" marL="0">
              <a:buNone/>
            </a:pPr>
            <a:r>
              <a:rPr lang="en-US" sz="820" b="1" dirty="0">
                <a:solidFill>
                  <a:srgbClr val="FFFFFF"/>
                </a:solidFill>
                <a:latin typeface="Aptos" pitchFamily="34" charset="0"/>
                <a:ea typeface="Aptos" pitchFamily="34" charset="-122"/>
                <a:cs typeface="Aptos" pitchFamily="34" charset="-120"/>
              </a:rPr>
              <a:t>2</a:t>
            </a:r>
            <a:endParaRPr lang="en-US" sz="820" dirty="0"/>
          </a:p>
        </p:txBody>
      </p:sp>
      <p:sp>
        <p:nvSpPr>
          <p:cNvPr id="14" name="Text 12"/>
          <p:cNvSpPr/>
          <p:nvPr/>
        </p:nvSpPr>
        <p:spPr>
          <a:xfrm>
            <a:off x="5001768" y="2468880"/>
            <a:ext cx="2670048" cy="237744"/>
          </a:xfrm>
          <a:prstGeom prst="rect">
            <a:avLst/>
          </a:prstGeom>
          <a:noFill/>
          <a:ln/>
        </p:spPr>
        <p:txBody>
          <a:bodyPr wrap="square" lIns="0" tIns="0" rIns="0" bIns="0" rtlCol="0" anchor="ctr">
            <a:normAutofit/>
          </a:bodyPr>
          <a:lstStyle/>
          <a:p>
            <a:pPr indent="0" marL="0">
              <a:buNone/>
            </a:pPr>
            <a:r>
              <a:rPr lang="en-US" sz="1010" b="1" dirty="0">
                <a:solidFill>
                  <a:srgbClr val="14342C"/>
                </a:solidFill>
                <a:latin typeface="Aptos" pitchFamily="34" charset="0"/>
                <a:ea typeface="Aptos" pitchFamily="34" charset="-122"/>
                <a:cs typeface="Aptos" pitchFamily="34" charset="-120"/>
              </a:rPr>
              <a:t>Pertanyaan bisnis</a:t>
            </a:r>
            <a:endParaRPr lang="en-US" sz="1010" dirty="0"/>
          </a:p>
        </p:txBody>
      </p:sp>
      <p:sp>
        <p:nvSpPr>
          <p:cNvPr id="15" name="Text 13"/>
          <p:cNvSpPr/>
          <p:nvPr/>
        </p:nvSpPr>
        <p:spPr>
          <a:xfrm>
            <a:off x="5001768" y="2779776"/>
            <a:ext cx="2670048" cy="612648"/>
          </a:xfrm>
          <a:prstGeom prst="rect">
            <a:avLst/>
          </a:prstGeom>
          <a:noFill/>
          <a:ln/>
        </p:spPr>
        <p:txBody>
          <a:bodyPr wrap="square" lIns="254" tIns="254" rIns="254" bIns="254" rtlCol="0" anchor="ctr">
            <a:normAutofit/>
          </a:bodyPr>
          <a:lstStyle/>
          <a:p>
            <a:pPr indent="0" marL="0">
              <a:buNone/>
            </a:pPr>
            <a:r>
              <a:rPr lang="en-US" sz="820" dirty="0">
                <a:solidFill>
                  <a:srgbClr val="58706A"/>
                </a:solidFill>
                <a:latin typeface="Aptos" pitchFamily="34" charset="0"/>
                <a:ea typeface="Aptos" pitchFamily="34" charset="-122"/>
                <a:cs typeface="Aptos" pitchFamily="34" charset="-120"/>
              </a:rPr>
              <a:t>Apa status kualitas udara? Stasiun mana paling berisiko? Kapan polusi meningkat? Parameter apa yang dominan?</a:t>
            </a:r>
            <a:endParaRPr lang="en-US" sz="820" dirty="0"/>
          </a:p>
        </p:txBody>
      </p:sp>
      <p:sp>
        <p:nvSpPr>
          <p:cNvPr id="16" name="Shape 14"/>
          <p:cNvSpPr/>
          <p:nvPr/>
        </p:nvSpPr>
        <p:spPr>
          <a:xfrm>
            <a:off x="8183880" y="2331720"/>
            <a:ext cx="3383280" cy="1143000"/>
          </a:xfrm>
          <a:prstGeom prst="roundRect">
            <a:avLst>
              <a:gd name="adj" fmla="val 6400"/>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17" name="Shape 15"/>
          <p:cNvSpPr/>
          <p:nvPr/>
        </p:nvSpPr>
        <p:spPr>
          <a:xfrm>
            <a:off x="8330184" y="2487168"/>
            <a:ext cx="329184" cy="329184"/>
          </a:xfrm>
          <a:prstGeom prst="ellipse">
            <a:avLst/>
          </a:prstGeom>
          <a:solidFill>
            <a:srgbClr val="D68A00"/>
          </a:solidFill>
          <a:ln w="12700">
            <a:solidFill>
              <a:srgbClr val="D68A00"/>
            </a:solidFill>
            <a:prstDash val="solid"/>
          </a:ln>
        </p:spPr>
      </p:sp>
      <p:sp>
        <p:nvSpPr>
          <p:cNvPr id="18" name="Text 16"/>
          <p:cNvSpPr/>
          <p:nvPr/>
        </p:nvSpPr>
        <p:spPr>
          <a:xfrm>
            <a:off x="8330184" y="2555748"/>
            <a:ext cx="329184" cy="91440"/>
          </a:xfrm>
          <a:prstGeom prst="rect">
            <a:avLst/>
          </a:prstGeom>
          <a:noFill/>
          <a:ln/>
        </p:spPr>
        <p:txBody>
          <a:bodyPr wrap="square" lIns="0" tIns="0" rIns="0" bIns="0" rtlCol="0" anchor="ctr"/>
          <a:lstStyle/>
          <a:p>
            <a:pPr algn="ctr" indent="0" marL="0">
              <a:buNone/>
            </a:pPr>
            <a:r>
              <a:rPr lang="en-US" sz="820" b="1" dirty="0">
                <a:solidFill>
                  <a:srgbClr val="FFFFFF"/>
                </a:solidFill>
                <a:latin typeface="Aptos" pitchFamily="34" charset="0"/>
                <a:ea typeface="Aptos" pitchFamily="34" charset="-122"/>
                <a:cs typeface="Aptos" pitchFamily="34" charset="-120"/>
              </a:rPr>
              <a:t>3</a:t>
            </a:r>
            <a:endParaRPr lang="en-US" sz="820" dirty="0"/>
          </a:p>
        </p:txBody>
      </p:sp>
      <p:sp>
        <p:nvSpPr>
          <p:cNvPr id="19" name="Text 17"/>
          <p:cNvSpPr/>
          <p:nvPr/>
        </p:nvSpPr>
        <p:spPr>
          <a:xfrm>
            <a:off x="8750808" y="2468880"/>
            <a:ext cx="2670048" cy="237744"/>
          </a:xfrm>
          <a:prstGeom prst="rect">
            <a:avLst/>
          </a:prstGeom>
          <a:noFill/>
          <a:ln/>
        </p:spPr>
        <p:txBody>
          <a:bodyPr wrap="square" lIns="0" tIns="0" rIns="0" bIns="0" rtlCol="0" anchor="ctr">
            <a:normAutofit/>
          </a:bodyPr>
          <a:lstStyle/>
          <a:p>
            <a:pPr indent="0" marL="0">
              <a:buNone/>
            </a:pPr>
            <a:r>
              <a:rPr lang="en-US" sz="1010" b="1" dirty="0">
                <a:solidFill>
                  <a:srgbClr val="14342C"/>
                </a:solidFill>
                <a:latin typeface="Aptos" pitchFamily="34" charset="0"/>
                <a:ea typeface="Aptos" pitchFamily="34" charset="-122"/>
                <a:cs typeface="Aptos" pitchFamily="34" charset="-120"/>
              </a:rPr>
              <a:t>Pengguna hasil</a:t>
            </a:r>
            <a:endParaRPr lang="en-US" sz="1010" dirty="0"/>
          </a:p>
        </p:txBody>
      </p:sp>
      <p:sp>
        <p:nvSpPr>
          <p:cNvPr id="20" name="Text 18"/>
          <p:cNvSpPr/>
          <p:nvPr/>
        </p:nvSpPr>
        <p:spPr>
          <a:xfrm>
            <a:off x="8750808" y="2779776"/>
            <a:ext cx="2670048" cy="612648"/>
          </a:xfrm>
          <a:prstGeom prst="rect">
            <a:avLst/>
          </a:prstGeom>
          <a:noFill/>
          <a:ln/>
        </p:spPr>
        <p:txBody>
          <a:bodyPr wrap="square" lIns="254" tIns="254" rIns="254" bIns="254" rtlCol="0" anchor="ctr">
            <a:normAutofit/>
          </a:bodyPr>
          <a:lstStyle/>
          <a:p>
            <a:pPr indent="0" marL="0">
              <a:buNone/>
            </a:pPr>
            <a:r>
              <a:rPr lang="en-US" sz="820" dirty="0">
                <a:solidFill>
                  <a:srgbClr val="58706A"/>
                </a:solidFill>
                <a:latin typeface="Aptos" pitchFamily="34" charset="0"/>
                <a:ea typeface="Aptos" pitchFamily="34" charset="-122"/>
                <a:cs typeface="Aptos" pitchFamily="34" charset="-120"/>
              </a:rPr>
              <a:t>Kepala Dinas LH DKI Jakarta, bidang pengendalian pencemaran udara, pengelola SPKU, serta unit data/dashboard.</a:t>
            </a:r>
            <a:endParaRPr lang="en-US" sz="820" dirty="0"/>
          </a:p>
        </p:txBody>
      </p:sp>
      <p:sp>
        <p:nvSpPr>
          <p:cNvPr id="21" name="Text 19"/>
          <p:cNvSpPr/>
          <p:nvPr/>
        </p:nvSpPr>
        <p:spPr>
          <a:xfrm>
            <a:off x="713232" y="3886200"/>
            <a:ext cx="1828800" cy="164592"/>
          </a:xfrm>
          <a:prstGeom prst="rect">
            <a:avLst/>
          </a:prstGeom>
          <a:noFill/>
          <a:ln/>
        </p:spPr>
        <p:txBody>
          <a:bodyPr wrap="square" lIns="0" tIns="0" rIns="0" bIns="0" rtlCol="0" anchor="ctr">
            <a:normAutofit/>
          </a:bodyPr>
          <a:lstStyle/>
          <a:p>
            <a:pPr indent="0" marL="0">
              <a:buNone/>
            </a:pPr>
            <a:r>
              <a:rPr lang="en-US" sz="720" b="1" dirty="0">
                <a:solidFill>
                  <a:srgbClr val="197A5D"/>
                </a:solidFill>
                <a:latin typeface="Aptos" pitchFamily="34" charset="0"/>
                <a:ea typeface="Aptos" pitchFamily="34" charset="-122"/>
                <a:cs typeface="Aptos" pitchFamily="34" charset="-120"/>
              </a:rPr>
              <a:t>TUJUAN ANALISIS</a:t>
            </a:r>
            <a:endParaRPr lang="en-US" sz="720" dirty="0"/>
          </a:p>
        </p:txBody>
      </p:sp>
      <p:sp>
        <p:nvSpPr>
          <p:cNvPr id="22" name="Text 20"/>
          <p:cNvSpPr/>
          <p:nvPr/>
        </p:nvSpPr>
        <p:spPr>
          <a:xfrm>
            <a:off x="777240" y="4224528"/>
            <a:ext cx="5349240" cy="1417320"/>
          </a:xfrm>
          <a:prstGeom prst="rect">
            <a:avLst/>
          </a:prstGeom>
          <a:noFill/>
          <a:ln/>
        </p:spPr>
        <p:txBody>
          <a:bodyPr wrap="square" lIns="254" tIns="254" rIns="254" bIns="254" rtlCol="0" anchor="ctr">
            <a:normAutofit/>
          </a:bodyPr>
          <a:lstStyle/>
          <a:p>
            <a:r>
              <a:rPr lang="en-US" sz="1010" dirty="0">
                <a:solidFill>
                  <a:srgbClr val="14342C"/>
                </a:solidFill>
                <a:latin typeface="Aptos" pitchFamily="34" charset="0"/>
                <a:ea typeface="Aptos" pitchFamily="34" charset="-122"/>
                <a:cs typeface="Aptos" pitchFamily="34" charset="-120"/>
              </a:rPr>
              <a:t>Menyajikan KPI utama kualitas udara dan kondisi terkini per stasiun.</a:t>
            </a:r>
            <a:endParaRPr lang="en-US" sz="1010" dirty="0"/>
          </a:p>
          <a:p>
            <a:r>
              <a:rPr lang="en-US" sz="1010" dirty="0">
                <a:solidFill>
                  <a:srgbClr val="14342C"/>
                </a:solidFill>
                <a:latin typeface="Aptos" pitchFamily="34" charset="0"/>
                <a:ea typeface="Aptos" pitchFamily="34" charset="-122"/>
                <a:cs typeface="Aptos" pitchFamily="34" charset="-120"/>
              </a:rPr>
              <a:t>Menganalisis tren temporal harian, bulanan, dan tahunan.</a:t>
            </a:r>
            <a:endParaRPr lang="en-US" sz="1010" dirty="0"/>
          </a:p>
          <a:p>
            <a:r>
              <a:rPr lang="en-US" sz="1010" dirty="0">
                <a:solidFill>
                  <a:srgbClr val="14342C"/>
                </a:solidFill>
                <a:latin typeface="Aptos" pitchFamily="34" charset="0"/>
                <a:ea typeface="Aptos" pitchFamily="34" charset="-122"/>
                <a:cs typeface="Aptos" pitchFamily="34" charset="-120"/>
              </a:rPr>
              <a:t>Membandingkan kinerja kualitas udara antar 5 SPKU.</a:t>
            </a:r>
            <a:endParaRPr lang="en-US" sz="1010" dirty="0"/>
          </a:p>
          <a:p>
            <a:r>
              <a:rPr lang="en-US" sz="1010" dirty="0">
                <a:solidFill>
                  <a:srgbClr val="14342C"/>
                </a:solidFill>
                <a:latin typeface="Aptos" pitchFamily="34" charset="0"/>
                <a:ea typeface="Aptos" pitchFamily="34" charset="-122"/>
                <a:cs typeface="Aptos" pitchFamily="34" charset="-120"/>
              </a:rPr>
              <a:t>Mengidentifikasi parameter pencemar dominan dan keterbatasan data PM2.5.</a:t>
            </a:r>
            <a:endParaRPr lang="en-US" sz="1010" dirty="0"/>
          </a:p>
          <a:p>
            <a:r>
              <a:rPr lang="en-US" sz="1010" dirty="0">
                <a:solidFill>
                  <a:srgbClr val="14342C"/>
                </a:solidFill>
                <a:latin typeface="Aptos" pitchFamily="34" charset="0"/>
                <a:ea typeface="Aptos" pitchFamily="34" charset="-122"/>
                <a:cs typeface="Aptos" pitchFamily="34" charset="-120"/>
              </a:rPr>
              <a:t>Menemukan pola musiman untuk kalender intervensi.</a:t>
            </a:r>
            <a:endParaRPr lang="en-US" sz="1010" dirty="0"/>
          </a:p>
        </p:txBody>
      </p:sp>
      <p:sp>
        <p:nvSpPr>
          <p:cNvPr id="23" name="Shape 21"/>
          <p:cNvSpPr/>
          <p:nvPr/>
        </p:nvSpPr>
        <p:spPr>
          <a:xfrm>
            <a:off x="6400800" y="4096512"/>
            <a:ext cx="4983480" cy="1143000"/>
          </a:xfrm>
          <a:prstGeom prst="roundRect">
            <a:avLst>
              <a:gd name="adj" fmla="val 6400"/>
            </a:avLst>
          </a:prstGeom>
          <a:solidFill>
            <a:srgbClr val="F0F7F4"/>
          </a:solidFill>
          <a:ln w="10160">
            <a:solidFill>
              <a:srgbClr val="CBE4D7"/>
            </a:solidFill>
            <a:prstDash val="solid"/>
          </a:ln>
        </p:spPr>
      </p:sp>
      <p:sp>
        <p:nvSpPr>
          <p:cNvPr id="24" name="Text 22"/>
          <p:cNvSpPr/>
          <p:nvPr/>
        </p:nvSpPr>
        <p:spPr>
          <a:xfrm>
            <a:off x="6547104" y="4197096"/>
            <a:ext cx="4690872" cy="201168"/>
          </a:xfrm>
          <a:prstGeom prst="rect">
            <a:avLst/>
          </a:prstGeom>
          <a:noFill/>
          <a:ln/>
        </p:spPr>
        <p:txBody>
          <a:bodyPr wrap="square" lIns="0" tIns="0" rIns="0" bIns="0" rtlCol="0" anchor="ctr">
            <a:normAutofit/>
          </a:bodyPr>
          <a:lstStyle/>
          <a:p>
            <a:pPr indent="0" marL="0">
              <a:buNone/>
            </a:pPr>
            <a:r>
              <a:rPr lang="en-US" sz="880" b="1" dirty="0">
                <a:solidFill>
                  <a:srgbClr val="197A5D"/>
                </a:solidFill>
                <a:latin typeface="Aptos" pitchFamily="34" charset="0"/>
                <a:ea typeface="Aptos" pitchFamily="34" charset="-122"/>
                <a:cs typeface="Aptos" pitchFamily="34" charset="-120"/>
              </a:rPr>
              <a:t>Output yang diharapkan</a:t>
            </a:r>
            <a:endParaRPr lang="en-US" sz="880" dirty="0"/>
          </a:p>
        </p:txBody>
      </p:sp>
      <p:sp>
        <p:nvSpPr>
          <p:cNvPr id="25" name="Text 23"/>
          <p:cNvSpPr/>
          <p:nvPr/>
        </p:nvSpPr>
        <p:spPr>
          <a:xfrm>
            <a:off x="6547104" y="4453128"/>
            <a:ext cx="4690872" cy="7040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Dashboard BI interaktif dan rekomendasi kebijakan yang konkret, terukur, serta dapat ditindaklanjuti oleh Kepala Dinas Lingkungan Hidup DKI Jakarta.</a:t>
            </a:r>
            <a:endParaRPr lang="en-US" sz="980" dirty="0"/>
          </a:p>
        </p:txBody>
      </p:sp>
      <p:sp>
        <p:nvSpPr>
          <p:cNvPr id="26" name="Shape 24"/>
          <p:cNvSpPr/>
          <p:nvPr/>
        </p:nvSpPr>
        <p:spPr>
          <a:xfrm>
            <a:off x="6400800" y="5376672"/>
            <a:ext cx="4983480" cy="658368"/>
          </a:xfrm>
          <a:prstGeom prst="roundRect">
            <a:avLst>
              <a:gd name="adj" fmla="val 11111"/>
            </a:avLst>
          </a:prstGeom>
          <a:solidFill>
            <a:srgbClr val="FDF1EF"/>
          </a:solidFill>
          <a:ln w="10160">
            <a:solidFill>
              <a:srgbClr val="CBE4D7"/>
            </a:solidFill>
            <a:prstDash val="solid"/>
          </a:ln>
        </p:spPr>
      </p:sp>
      <p:sp>
        <p:nvSpPr>
          <p:cNvPr id="27" name="Text 25"/>
          <p:cNvSpPr/>
          <p:nvPr/>
        </p:nvSpPr>
        <p:spPr>
          <a:xfrm>
            <a:off x="6547104" y="5477256"/>
            <a:ext cx="4690872" cy="201168"/>
          </a:xfrm>
          <a:prstGeom prst="rect">
            <a:avLst/>
          </a:prstGeom>
          <a:noFill/>
          <a:ln/>
        </p:spPr>
        <p:txBody>
          <a:bodyPr wrap="square" lIns="0" tIns="0" rIns="0" bIns="0" rtlCol="0" anchor="ctr">
            <a:normAutofit/>
          </a:bodyPr>
          <a:lstStyle/>
          <a:p>
            <a:pPr indent="0" marL="0">
              <a:buNone/>
            </a:pPr>
            <a:r>
              <a:rPr lang="en-US" sz="880" b="1" dirty="0">
                <a:solidFill>
                  <a:srgbClr val="C34632"/>
                </a:solidFill>
                <a:latin typeface="Aptos" pitchFamily="34" charset="0"/>
                <a:ea typeface="Aptos" pitchFamily="34" charset="-122"/>
                <a:cs typeface="Aptos" pitchFamily="34" charset="-120"/>
              </a:rPr>
              <a:t>Arah keputusan</a:t>
            </a:r>
            <a:endParaRPr lang="en-US" sz="880" dirty="0"/>
          </a:p>
        </p:txBody>
      </p:sp>
      <p:sp>
        <p:nvSpPr>
          <p:cNvPr id="28" name="Text 26"/>
          <p:cNvSpPr/>
          <p:nvPr/>
        </p:nvSpPr>
        <p:spPr>
          <a:xfrm>
            <a:off x="6547104" y="5733288"/>
            <a:ext cx="4690872" cy="219456"/>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Intervensi berbasis risiko: lokasi, waktu, parameter dominan, dan mutu data — bukan keputusan umum tanpa prioritas.</a:t>
            </a:r>
            <a:endParaRPr lang="en-US" sz="98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3</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Metodologi: alur analisis, tools, dan pembersihan data</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Shape 3"/>
          <p:cNvSpPr/>
          <p:nvPr/>
        </p:nvSpPr>
        <p:spPr>
          <a:xfrm>
            <a:off x="685800" y="1417320"/>
            <a:ext cx="2606040" cy="1234440"/>
          </a:xfrm>
          <a:prstGeom prst="roundRect">
            <a:avLst>
              <a:gd name="adj" fmla="val 5926"/>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6" name="Shape 4"/>
          <p:cNvSpPr/>
          <p:nvPr/>
        </p:nvSpPr>
        <p:spPr>
          <a:xfrm>
            <a:off x="832104" y="1572768"/>
            <a:ext cx="329184" cy="329184"/>
          </a:xfrm>
          <a:prstGeom prst="ellipse">
            <a:avLst/>
          </a:prstGeom>
          <a:solidFill>
            <a:srgbClr val="197A5D"/>
          </a:solidFill>
          <a:ln w="12700">
            <a:solidFill>
              <a:srgbClr val="197A5D"/>
            </a:solidFill>
            <a:prstDash val="solid"/>
          </a:ln>
        </p:spPr>
      </p:sp>
      <p:sp>
        <p:nvSpPr>
          <p:cNvPr id="7" name="Text 5"/>
          <p:cNvSpPr/>
          <p:nvPr/>
        </p:nvSpPr>
        <p:spPr>
          <a:xfrm>
            <a:off x="832104" y="1641348"/>
            <a:ext cx="329184" cy="91440"/>
          </a:xfrm>
          <a:prstGeom prst="rect">
            <a:avLst/>
          </a:prstGeom>
          <a:noFill/>
          <a:ln/>
        </p:spPr>
        <p:txBody>
          <a:bodyPr wrap="square" lIns="0" tIns="0" rIns="0" bIns="0" rtlCol="0" anchor="ctr"/>
          <a:lstStyle/>
          <a:p>
            <a:pPr algn="ctr" indent="0" marL="0">
              <a:buNone/>
            </a:pPr>
            <a:r>
              <a:rPr lang="en-US" sz="820" b="1" dirty="0">
                <a:solidFill>
                  <a:srgbClr val="FFFFFF"/>
                </a:solidFill>
                <a:latin typeface="Aptos" pitchFamily="34" charset="0"/>
                <a:ea typeface="Aptos" pitchFamily="34" charset="-122"/>
                <a:cs typeface="Aptos" pitchFamily="34" charset="-120"/>
              </a:rPr>
              <a:t>1</a:t>
            </a:r>
            <a:endParaRPr lang="en-US" sz="820" dirty="0"/>
          </a:p>
        </p:txBody>
      </p:sp>
      <p:sp>
        <p:nvSpPr>
          <p:cNvPr id="8" name="Text 6"/>
          <p:cNvSpPr/>
          <p:nvPr/>
        </p:nvSpPr>
        <p:spPr>
          <a:xfrm>
            <a:off x="1252728" y="1554480"/>
            <a:ext cx="1892808" cy="237744"/>
          </a:xfrm>
          <a:prstGeom prst="rect">
            <a:avLst/>
          </a:prstGeom>
          <a:noFill/>
          <a:ln/>
        </p:spPr>
        <p:txBody>
          <a:bodyPr wrap="square" lIns="0" tIns="0" rIns="0" bIns="0" rtlCol="0" anchor="ctr">
            <a:normAutofit/>
          </a:bodyPr>
          <a:lstStyle/>
          <a:p>
            <a:pPr indent="0" marL="0">
              <a:buNone/>
            </a:pPr>
            <a:r>
              <a:rPr lang="en-US" sz="1010" b="1" dirty="0">
                <a:solidFill>
                  <a:srgbClr val="14342C"/>
                </a:solidFill>
                <a:latin typeface="Aptos" pitchFamily="34" charset="0"/>
                <a:ea typeface="Aptos" pitchFamily="34" charset="-122"/>
                <a:cs typeface="Aptos" pitchFamily="34" charset="-120"/>
              </a:rPr>
              <a:t>Sumber &amp; unduh data</a:t>
            </a:r>
            <a:endParaRPr lang="en-US" sz="1010" dirty="0"/>
          </a:p>
        </p:txBody>
      </p:sp>
      <p:sp>
        <p:nvSpPr>
          <p:cNvPr id="9" name="Text 7"/>
          <p:cNvSpPr/>
          <p:nvPr/>
        </p:nvSpPr>
        <p:spPr>
          <a:xfrm>
            <a:off x="1252728" y="1865376"/>
            <a:ext cx="1892808" cy="704088"/>
          </a:xfrm>
          <a:prstGeom prst="rect">
            <a:avLst/>
          </a:prstGeom>
          <a:noFill/>
          <a:ln/>
        </p:spPr>
        <p:txBody>
          <a:bodyPr wrap="square" lIns="254" tIns="254" rIns="254" bIns="254" rtlCol="0" anchor="ctr">
            <a:normAutofit/>
          </a:bodyPr>
          <a:lstStyle/>
          <a:p>
            <a:pPr indent="0" marL="0">
              <a:buNone/>
            </a:pPr>
            <a:r>
              <a:rPr lang="en-US" sz="820" dirty="0">
                <a:solidFill>
                  <a:srgbClr val="58706A"/>
                </a:solidFill>
                <a:latin typeface="Aptos" pitchFamily="34" charset="0"/>
                <a:ea typeface="Aptos" pitchFamily="34" charset="-122"/>
                <a:cs typeface="Aptos" pitchFamily="34" charset="-120"/>
              </a:rPr>
              <a:t>Dataset ISPU DKI Jakarta diperoleh dari portal data terbuka pemerintah. File diunduh per tahun dalam format CSV/XLSX, lalu dikonsolidasikan.</a:t>
            </a:r>
            <a:endParaRPr lang="en-US" sz="820" dirty="0"/>
          </a:p>
        </p:txBody>
      </p:sp>
      <p:sp>
        <p:nvSpPr>
          <p:cNvPr id="10" name="Shape 8"/>
          <p:cNvSpPr/>
          <p:nvPr/>
        </p:nvSpPr>
        <p:spPr>
          <a:xfrm>
            <a:off x="3566160" y="1417320"/>
            <a:ext cx="2606040" cy="1234440"/>
          </a:xfrm>
          <a:prstGeom prst="roundRect">
            <a:avLst>
              <a:gd name="adj" fmla="val 5926"/>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11" name="Shape 9"/>
          <p:cNvSpPr/>
          <p:nvPr/>
        </p:nvSpPr>
        <p:spPr>
          <a:xfrm>
            <a:off x="3712464" y="1572768"/>
            <a:ext cx="329184" cy="329184"/>
          </a:xfrm>
          <a:prstGeom prst="ellipse">
            <a:avLst/>
          </a:prstGeom>
          <a:solidFill>
            <a:srgbClr val="2B6CB0"/>
          </a:solidFill>
          <a:ln w="12700">
            <a:solidFill>
              <a:srgbClr val="2B6CB0"/>
            </a:solidFill>
            <a:prstDash val="solid"/>
          </a:ln>
        </p:spPr>
      </p:sp>
      <p:sp>
        <p:nvSpPr>
          <p:cNvPr id="12" name="Text 10"/>
          <p:cNvSpPr/>
          <p:nvPr/>
        </p:nvSpPr>
        <p:spPr>
          <a:xfrm>
            <a:off x="3712464" y="1641348"/>
            <a:ext cx="329184" cy="91440"/>
          </a:xfrm>
          <a:prstGeom prst="rect">
            <a:avLst/>
          </a:prstGeom>
          <a:noFill/>
          <a:ln/>
        </p:spPr>
        <p:txBody>
          <a:bodyPr wrap="square" lIns="0" tIns="0" rIns="0" bIns="0" rtlCol="0" anchor="ctr"/>
          <a:lstStyle/>
          <a:p>
            <a:pPr algn="ctr" indent="0" marL="0">
              <a:buNone/>
            </a:pPr>
            <a:r>
              <a:rPr lang="en-US" sz="820" b="1" dirty="0">
                <a:solidFill>
                  <a:srgbClr val="FFFFFF"/>
                </a:solidFill>
                <a:latin typeface="Aptos" pitchFamily="34" charset="0"/>
                <a:ea typeface="Aptos" pitchFamily="34" charset="-122"/>
                <a:cs typeface="Aptos" pitchFamily="34" charset="-120"/>
              </a:rPr>
              <a:t>2</a:t>
            </a:r>
            <a:endParaRPr lang="en-US" sz="820" dirty="0"/>
          </a:p>
        </p:txBody>
      </p:sp>
      <p:sp>
        <p:nvSpPr>
          <p:cNvPr id="13" name="Text 11"/>
          <p:cNvSpPr/>
          <p:nvPr/>
        </p:nvSpPr>
        <p:spPr>
          <a:xfrm>
            <a:off x="4133088" y="1554480"/>
            <a:ext cx="1892808" cy="237744"/>
          </a:xfrm>
          <a:prstGeom prst="rect">
            <a:avLst/>
          </a:prstGeom>
          <a:noFill/>
          <a:ln/>
        </p:spPr>
        <p:txBody>
          <a:bodyPr wrap="square" lIns="0" tIns="0" rIns="0" bIns="0" rtlCol="0" anchor="ctr">
            <a:normAutofit/>
          </a:bodyPr>
          <a:lstStyle/>
          <a:p>
            <a:pPr indent="0" marL="0">
              <a:buNone/>
            </a:pPr>
            <a:r>
              <a:rPr lang="en-US" sz="1010" b="1" dirty="0">
                <a:solidFill>
                  <a:srgbClr val="14342C"/>
                </a:solidFill>
                <a:latin typeface="Aptos" pitchFamily="34" charset="0"/>
                <a:ea typeface="Aptos" pitchFamily="34" charset="-122"/>
                <a:cs typeface="Aptos" pitchFamily="34" charset="-120"/>
              </a:rPr>
              <a:t>Pembacaan data</a:t>
            </a:r>
            <a:endParaRPr lang="en-US" sz="1010" dirty="0"/>
          </a:p>
        </p:txBody>
      </p:sp>
      <p:sp>
        <p:nvSpPr>
          <p:cNvPr id="14" name="Text 12"/>
          <p:cNvSpPr/>
          <p:nvPr/>
        </p:nvSpPr>
        <p:spPr>
          <a:xfrm>
            <a:off x="4133088" y="1865376"/>
            <a:ext cx="1892808" cy="704088"/>
          </a:xfrm>
          <a:prstGeom prst="rect">
            <a:avLst/>
          </a:prstGeom>
          <a:noFill/>
          <a:ln/>
        </p:spPr>
        <p:txBody>
          <a:bodyPr wrap="square" lIns="254" tIns="254" rIns="254" bIns="254" rtlCol="0" anchor="ctr">
            <a:normAutofit/>
          </a:bodyPr>
          <a:lstStyle/>
          <a:p>
            <a:pPr indent="0" marL="0">
              <a:buNone/>
            </a:pPr>
            <a:r>
              <a:rPr lang="en-US" sz="820" dirty="0">
                <a:solidFill>
                  <a:srgbClr val="58706A"/>
                </a:solidFill>
                <a:latin typeface="Aptos" pitchFamily="34" charset="0"/>
                <a:ea typeface="Aptos" pitchFamily="34" charset="-122"/>
                <a:cs typeface="Aptos" pitchFamily="34" charset="-120"/>
              </a:rPr>
              <a:t>Data dibaca ke Python menggunakan pandas, tanggal diparsing, kolom numerik dikonversi, dan fitur tahun/bulan dibuat untuk analisis.</a:t>
            </a:r>
            <a:endParaRPr lang="en-US" sz="820" dirty="0"/>
          </a:p>
        </p:txBody>
      </p:sp>
      <p:sp>
        <p:nvSpPr>
          <p:cNvPr id="15" name="Shape 13"/>
          <p:cNvSpPr/>
          <p:nvPr/>
        </p:nvSpPr>
        <p:spPr>
          <a:xfrm>
            <a:off x="6446520" y="1417320"/>
            <a:ext cx="2606040" cy="1234440"/>
          </a:xfrm>
          <a:prstGeom prst="roundRect">
            <a:avLst>
              <a:gd name="adj" fmla="val 5926"/>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16" name="Shape 14"/>
          <p:cNvSpPr/>
          <p:nvPr/>
        </p:nvSpPr>
        <p:spPr>
          <a:xfrm>
            <a:off x="6592824" y="1572768"/>
            <a:ext cx="329184" cy="329184"/>
          </a:xfrm>
          <a:prstGeom prst="ellipse">
            <a:avLst/>
          </a:prstGeom>
          <a:solidFill>
            <a:srgbClr val="D68A00"/>
          </a:solidFill>
          <a:ln w="12700">
            <a:solidFill>
              <a:srgbClr val="D68A00"/>
            </a:solidFill>
            <a:prstDash val="solid"/>
          </a:ln>
        </p:spPr>
      </p:sp>
      <p:sp>
        <p:nvSpPr>
          <p:cNvPr id="17" name="Text 15"/>
          <p:cNvSpPr/>
          <p:nvPr/>
        </p:nvSpPr>
        <p:spPr>
          <a:xfrm>
            <a:off x="6592824" y="1641348"/>
            <a:ext cx="329184" cy="91440"/>
          </a:xfrm>
          <a:prstGeom prst="rect">
            <a:avLst/>
          </a:prstGeom>
          <a:noFill/>
          <a:ln/>
        </p:spPr>
        <p:txBody>
          <a:bodyPr wrap="square" lIns="0" tIns="0" rIns="0" bIns="0" rtlCol="0" anchor="ctr"/>
          <a:lstStyle/>
          <a:p>
            <a:pPr algn="ctr" indent="0" marL="0">
              <a:buNone/>
            </a:pPr>
            <a:r>
              <a:rPr lang="en-US" sz="820" b="1" dirty="0">
                <a:solidFill>
                  <a:srgbClr val="FFFFFF"/>
                </a:solidFill>
                <a:latin typeface="Aptos" pitchFamily="34" charset="0"/>
                <a:ea typeface="Aptos" pitchFamily="34" charset="-122"/>
                <a:cs typeface="Aptos" pitchFamily="34" charset="-120"/>
              </a:rPr>
              <a:t>3</a:t>
            </a:r>
            <a:endParaRPr lang="en-US" sz="820" dirty="0"/>
          </a:p>
        </p:txBody>
      </p:sp>
      <p:sp>
        <p:nvSpPr>
          <p:cNvPr id="18" name="Text 16"/>
          <p:cNvSpPr/>
          <p:nvPr/>
        </p:nvSpPr>
        <p:spPr>
          <a:xfrm>
            <a:off x="7013448" y="1554480"/>
            <a:ext cx="1892808" cy="237744"/>
          </a:xfrm>
          <a:prstGeom prst="rect">
            <a:avLst/>
          </a:prstGeom>
          <a:noFill/>
          <a:ln/>
        </p:spPr>
        <p:txBody>
          <a:bodyPr wrap="square" lIns="0" tIns="0" rIns="0" bIns="0" rtlCol="0" anchor="ctr">
            <a:normAutofit/>
          </a:bodyPr>
          <a:lstStyle/>
          <a:p>
            <a:pPr indent="0" marL="0">
              <a:buNone/>
            </a:pPr>
            <a:r>
              <a:rPr lang="en-US" sz="1010" b="1" dirty="0">
                <a:solidFill>
                  <a:srgbClr val="14342C"/>
                </a:solidFill>
                <a:latin typeface="Aptos" pitchFamily="34" charset="0"/>
                <a:ea typeface="Aptos" pitchFamily="34" charset="-122"/>
                <a:cs typeface="Aptos" pitchFamily="34" charset="-120"/>
              </a:rPr>
              <a:t>EDA &amp; validasi</a:t>
            </a:r>
            <a:endParaRPr lang="en-US" sz="1010" dirty="0"/>
          </a:p>
        </p:txBody>
      </p:sp>
      <p:sp>
        <p:nvSpPr>
          <p:cNvPr id="19" name="Text 17"/>
          <p:cNvSpPr/>
          <p:nvPr/>
        </p:nvSpPr>
        <p:spPr>
          <a:xfrm>
            <a:off x="7013448" y="1865376"/>
            <a:ext cx="1892808" cy="704088"/>
          </a:xfrm>
          <a:prstGeom prst="rect">
            <a:avLst/>
          </a:prstGeom>
          <a:noFill/>
          <a:ln/>
        </p:spPr>
        <p:txBody>
          <a:bodyPr wrap="square" lIns="254" tIns="254" rIns="254" bIns="254" rtlCol="0" anchor="ctr">
            <a:normAutofit/>
          </a:bodyPr>
          <a:lstStyle/>
          <a:p>
            <a:pPr indent="0" marL="0">
              <a:buNone/>
            </a:pPr>
            <a:r>
              <a:rPr lang="en-US" sz="820" dirty="0">
                <a:solidFill>
                  <a:srgbClr val="58706A"/>
                </a:solidFill>
                <a:latin typeface="Aptos" pitchFamily="34" charset="0"/>
                <a:ea typeface="Aptos" pitchFamily="34" charset="-122"/>
                <a:cs typeface="Aptos" pitchFamily="34" charset="-120"/>
              </a:rPr>
              <a:t>Dilakukan statistik deskriptif, distribusi kategori, nilai unik kategorik, serta validasi konsistensi tanggal, periode, max, critical, dan kategori.</a:t>
            </a:r>
            <a:endParaRPr lang="en-US" sz="820" dirty="0"/>
          </a:p>
        </p:txBody>
      </p:sp>
      <p:sp>
        <p:nvSpPr>
          <p:cNvPr id="20" name="Shape 18"/>
          <p:cNvSpPr/>
          <p:nvPr/>
        </p:nvSpPr>
        <p:spPr>
          <a:xfrm>
            <a:off x="9326880" y="1417320"/>
            <a:ext cx="2606040" cy="1234440"/>
          </a:xfrm>
          <a:prstGeom prst="roundRect">
            <a:avLst>
              <a:gd name="adj" fmla="val 5926"/>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21" name="Shape 19"/>
          <p:cNvSpPr/>
          <p:nvPr/>
        </p:nvSpPr>
        <p:spPr>
          <a:xfrm>
            <a:off x="9473184" y="1572768"/>
            <a:ext cx="329184" cy="329184"/>
          </a:xfrm>
          <a:prstGeom prst="ellipse">
            <a:avLst/>
          </a:prstGeom>
          <a:solidFill>
            <a:srgbClr val="C34632"/>
          </a:solidFill>
          <a:ln w="12700">
            <a:solidFill>
              <a:srgbClr val="C34632"/>
            </a:solidFill>
            <a:prstDash val="solid"/>
          </a:ln>
        </p:spPr>
      </p:sp>
      <p:sp>
        <p:nvSpPr>
          <p:cNvPr id="22" name="Text 20"/>
          <p:cNvSpPr/>
          <p:nvPr/>
        </p:nvSpPr>
        <p:spPr>
          <a:xfrm>
            <a:off x="9473184" y="1641348"/>
            <a:ext cx="329184" cy="91440"/>
          </a:xfrm>
          <a:prstGeom prst="rect">
            <a:avLst/>
          </a:prstGeom>
          <a:noFill/>
          <a:ln/>
        </p:spPr>
        <p:txBody>
          <a:bodyPr wrap="square" lIns="0" tIns="0" rIns="0" bIns="0" rtlCol="0" anchor="ctr"/>
          <a:lstStyle/>
          <a:p>
            <a:pPr algn="ctr" indent="0" marL="0">
              <a:buNone/>
            </a:pPr>
            <a:r>
              <a:rPr lang="en-US" sz="820" b="1" dirty="0">
                <a:solidFill>
                  <a:srgbClr val="FFFFFF"/>
                </a:solidFill>
                <a:latin typeface="Aptos" pitchFamily="34" charset="0"/>
                <a:ea typeface="Aptos" pitchFamily="34" charset="-122"/>
                <a:cs typeface="Aptos" pitchFamily="34" charset="-120"/>
              </a:rPr>
              <a:t>4</a:t>
            </a:r>
            <a:endParaRPr lang="en-US" sz="820" dirty="0"/>
          </a:p>
        </p:txBody>
      </p:sp>
      <p:sp>
        <p:nvSpPr>
          <p:cNvPr id="23" name="Text 21"/>
          <p:cNvSpPr/>
          <p:nvPr/>
        </p:nvSpPr>
        <p:spPr>
          <a:xfrm>
            <a:off x="9893808" y="1554480"/>
            <a:ext cx="1892808" cy="237744"/>
          </a:xfrm>
          <a:prstGeom prst="rect">
            <a:avLst/>
          </a:prstGeom>
          <a:noFill/>
          <a:ln/>
        </p:spPr>
        <p:txBody>
          <a:bodyPr wrap="square" lIns="0" tIns="0" rIns="0" bIns="0" rtlCol="0" anchor="ctr">
            <a:normAutofit/>
          </a:bodyPr>
          <a:lstStyle/>
          <a:p>
            <a:pPr indent="0" marL="0">
              <a:buNone/>
            </a:pPr>
            <a:r>
              <a:rPr lang="en-US" sz="1010" b="1" dirty="0">
                <a:solidFill>
                  <a:srgbClr val="14342C"/>
                </a:solidFill>
                <a:latin typeface="Aptos" pitchFamily="34" charset="0"/>
                <a:ea typeface="Aptos" pitchFamily="34" charset="-122"/>
                <a:cs typeface="Aptos" pitchFamily="34" charset="-120"/>
              </a:rPr>
              <a:t>Dashboard &amp; rekomendasi</a:t>
            </a:r>
            <a:endParaRPr lang="en-US" sz="1010" dirty="0"/>
          </a:p>
        </p:txBody>
      </p:sp>
      <p:sp>
        <p:nvSpPr>
          <p:cNvPr id="24" name="Text 22"/>
          <p:cNvSpPr/>
          <p:nvPr/>
        </p:nvSpPr>
        <p:spPr>
          <a:xfrm>
            <a:off x="9893808" y="1865376"/>
            <a:ext cx="1892808" cy="704088"/>
          </a:xfrm>
          <a:prstGeom prst="rect">
            <a:avLst/>
          </a:prstGeom>
          <a:noFill/>
          <a:ln/>
        </p:spPr>
        <p:txBody>
          <a:bodyPr wrap="square" lIns="254" tIns="254" rIns="254" bIns="254" rtlCol="0" anchor="ctr">
            <a:normAutofit/>
          </a:bodyPr>
          <a:lstStyle/>
          <a:p>
            <a:pPr indent="0" marL="0">
              <a:buNone/>
            </a:pPr>
            <a:r>
              <a:rPr lang="en-US" sz="820" dirty="0">
                <a:solidFill>
                  <a:srgbClr val="58706A"/>
                </a:solidFill>
                <a:latin typeface="Aptos" pitchFamily="34" charset="0"/>
                <a:ea typeface="Aptos" pitchFamily="34" charset="-122"/>
                <a:cs typeface="Aptos" pitchFamily="34" charset="-120"/>
              </a:rPr>
              <a:t>Data bersih diekspor sebagai ispu_jakarta_analysis.csv dan digunakan pada dashboard Streamlit serta slide paparan.</a:t>
            </a:r>
            <a:endParaRPr lang="en-US" sz="820" dirty="0"/>
          </a:p>
        </p:txBody>
      </p:sp>
      <p:sp>
        <p:nvSpPr>
          <p:cNvPr id="25" name="Text 23"/>
          <p:cNvSpPr/>
          <p:nvPr/>
        </p:nvSpPr>
        <p:spPr>
          <a:xfrm>
            <a:off x="713232" y="3154680"/>
            <a:ext cx="2011680" cy="164592"/>
          </a:xfrm>
          <a:prstGeom prst="rect">
            <a:avLst/>
          </a:prstGeom>
          <a:noFill/>
          <a:ln/>
        </p:spPr>
        <p:txBody>
          <a:bodyPr wrap="square" lIns="0" tIns="0" rIns="0" bIns="0" rtlCol="0" anchor="ctr">
            <a:normAutofit/>
          </a:bodyPr>
          <a:lstStyle/>
          <a:p>
            <a:pPr indent="0" marL="0">
              <a:buNone/>
            </a:pPr>
            <a:r>
              <a:rPr lang="en-US" sz="720" b="1" dirty="0">
                <a:solidFill>
                  <a:srgbClr val="197A5D"/>
                </a:solidFill>
                <a:latin typeface="Aptos" pitchFamily="34" charset="0"/>
                <a:ea typeface="Aptos" pitchFamily="34" charset="-122"/>
                <a:cs typeface="Aptos" pitchFamily="34" charset="-120"/>
              </a:rPr>
              <a:t>TOOLS YANG DIGUNAKAN</a:t>
            </a:r>
            <a:endParaRPr lang="en-US" sz="720" dirty="0"/>
          </a:p>
        </p:txBody>
      </p:sp>
      <p:sp>
        <p:nvSpPr>
          <p:cNvPr id="26" name="Shape 24"/>
          <p:cNvSpPr/>
          <p:nvPr/>
        </p:nvSpPr>
        <p:spPr>
          <a:xfrm>
            <a:off x="777240" y="3493008"/>
            <a:ext cx="2148840" cy="960120"/>
          </a:xfrm>
          <a:prstGeom prst="roundRect">
            <a:avLst>
              <a:gd name="adj" fmla="val 7619"/>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27" name="Text 25"/>
          <p:cNvSpPr/>
          <p:nvPr/>
        </p:nvSpPr>
        <p:spPr>
          <a:xfrm>
            <a:off x="923544" y="3602736"/>
            <a:ext cx="1856232" cy="384048"/>
          </a:xfrm>
          <a:prstGeom prst="rect">
            <a:avLst/>
          </a:prstGeom>
          <a:noFill/>
          <a:ln/>
        </p:spPr>
        <p:txBody>
          <a:bodyPr wrap="square" lIns="0" tIns="0" rIns="0" bIns="0" rtlCol="0" anchor="ctr">
            <a:normAutofit/>
          </a:bodyPr>
          <a:lstStyle/>
          <a:p>
            <a:pPr indent="0" marL="0">
              <a:buNone/>
            </a:pPr>
            <a:r>
              <a:rPr lang="en-US" sz="2100" b="1" dirty="0">
                <a:solidFill>
                  <a:srgbClr val="2B6CB0"/>
                </a:solidFill>
                <a:latin typeface="Aptos Display" pitchFamily="34" charset="0"/>
                <a:ea typeface="Aptos Display" pitchFamily="34" charset="-122"/>
                <a:cs typeface="Aptos Display" pitchFamily="34" charset="-120"/>
              </a:rPr>
              <a:t>Python</a:t>
            </a:r>
            <a:endParaRPr lang="en-US" sz="2100" dirty="0"/>
          </a:p>
        </p:txBody>
      </p:sp>
      <p:sp>
        <p:nvSpPr>
          <p:cNvPr id="28" name="Text 26"/>
          <p:cNvSpPr/>
          <p:nvPr/>
        </p:nvSpPr>
        <p:spPr>
          <a:xfrm>
            <a:off x="923544" y="4014216"/>
            <a:ext cx="185623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pandas, numpy, plotly</a:t>
            </a:r>
            <a:endParaRPr lang="en-US" sz="870" dirty="0"/>
          </a:p>
        </p:txBody>
      </p:sp>
      <p:sp>
        <p:nvSpPr>
          <p:cNvPr id="29" name="Shape 27"/>
          <p:cNvSpPr/>
          <p:nvPr/>
        </p:nvSpPr>
        <p:spPr>
          <a:xfrm>
            <a:off x="3154680" y="3493008"/>
            <a:ext cx="2148840" cy="960120"/>
          </a:xfrm>
          <a:prstGeom prst="roundRect">
            <a:avLst>
              <a:gd name="adj" fmla="val 7619"/>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30" name="Text 28"/>
          <p:cNvSpPr/>
          <p:nvPr/>
        </p:nvSpPr>
        <p:spPr>
          <a:xfrm>
            <a:off x="3300984" y="3602736"/>
            <a:ext cx="1856232" cy="384048"/>
          </a:xfrm>
          <a:prstGeom prst="rect">
            <a:avLst/>
          </a:prstGeom>
          <a:noFill/>
          <a:ln/>
        </p:spPr>
        <p:txBody>
          <a:bodyPr wrap="square" lIns="0" tIns="0" rIns="0" bIns="0" rtlCol="0" anchor="ctr">
            <a:normAutofit/>
          </a:bodyPr>
          <a:lstStyle/>
          <a:p>
            <a:pPr indent="0" marL="0">
              <a:buNone/>
            </a:pPr>
            <a:r>
              <a:rPr lang="en-US" sz="2100" b="1" dirty="0">
                <a:solidFill>
                  <a:srgbClr val="197A5D"/>
                </a:solidFill>
                <a:latin typeface="Aptos Display" pitchFamily="34" charset="0"/>
                <a:ea typeface="Aptos Display" pitchFamily="34" charset="-122"/>
                <a:cs typeface="Aptos Display" pitchFamily="34" charset="-120"/>
              </a:rPr>
              <a:t>Streamlit</a:t>
            </a:r>
            <a:endParaRPr lang="en-US" sz="2100" dirty="0"/>
          </a:p>
        </p:txBody>
      </p:sp>
      <p:sp>
        <p:nvSpPr>
          <p:cNvPr id="31" name="Text 29"/>
          <p:cNvSpPr/>
          <p:nvPr/>
        </p:nvSpPr>
        <p:spPr>
          <a:xfrm>
            <a:off x="3300984" y="4014216"/>
            <a:ext cx="185623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dashboard BI interaktif</a:t>
            </a:r>
            <a:endParaRPr lang="en-US" sz="870" dirty="0"/>
          </a:p>
        </p:txBody>
      </p:sp>
      <p:sp>
        <p:nvSpPr>
          <p:cNvPr id="32" name="Shape 30"/>
          <p:cNvSpPr/>
          <p:nvPr/>
        </p:nvSpPr>
        <p:spPr>
          <a:xfrm>
            <a:off x="5532120" y="3493008"/>
            <a:ext cx="2148840" cy="960120"/>
          </a:xfrm>
          <a:prstGeom prst="roundRect">
            <a:avLst>
              <a:gd name="adj" fmla="val 7619"/>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33" name="Text 31"/>
          <p:cNvSpPr/>
          <p:nvPr/>
        </p:nvSpPr>
        <p:spPr>
          <a:xfrm>
            <a:off x="5678424" y="3602736"/>
            <a:ext cx="1856232" cy="384048"/>
          </a:xfrm>
          <a:prstGeom prst="rect">
            <a:avLst/>
          </a:prstGeom>
          <a:noFill/>
          <a:ln/>
        </p:spPr>
        <p:txBody>
          <a:bodyPr wrap="square" lIns="0" tIns="0" rIns="0" bIns="0" rtlCol="0" anchor="ctr">
            <a:normAutofit/>
          </a:bodyPr>
          <a:lstStyle/>
          <a:p>
            <a:pPr indent="0" marL="0">
              <a:buNone/>
            </a:pPr>
            <a:r>
              <a:rPr lang="en-US" sz="2100" b="1" dirty="0">
                <a:solidFill>
                  <a:srgbClr val="D68A00"/>
                </a:solidFill>
                <a:latin typeface="Aptos Display" pitchFamily="34" charset="0"/>
                <a:ea typeface="Aptos Display" pitchFamily="34" charset="-122"/>
                <a:cs typeface="Aptos Display" pitchFamily="34" charset="-120"/>
              </a:rPr>
              <a:t>PowerPoint</a:t>
            </a:r>
            <a:endParaRPr lang="en-US" sz="2100" dirty="0"/>
          </a:p>
        </p:txBody>
      </p:sp>
      <p:sp>
        <p:nvSpPr>
          <p:cNvPr id="34" name="Text 32"/>
          <p:cNvSpPr/>
          <p:nvPr/>
        </p:nvSpPr>
        <p:spPr>
          <a:xfrm>
            <a:off x="5678424" y="4014216"/>
            <a:ext cx="185623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paparan stakeholder</a:t>
            </a:r>
            <a:endParaRPr lang="en-US" sz="870" dirty="0"/>
          </a:p>
        </p:txBody>
      </p:sp>
      <p:sp>
        <p:nvSpPr>
          <p:cNvPr id="35" name="Shape 33"/>
          <p:cNvSpPr/>
          <p:nvPr/>
        </p:nvSpPr>
        <p:spPr>
          <a:xfrm>
            <a:off x="7909560" y="3493008"/>
            <a:ext cx="2148840" cy="960120"/>
          </a:xfrm>
          <a:prstGeom prst="roundRect">
            <a:avLst>
              <a:gd name="adj" fmla="val 7619"/>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36" name="Text 34"/>
          <p:cNvSpPr/>
          <p:nvPr/>
        </p:nvSpPr>
        <p:spPr>
          <a:xfrm>
            <a:off x="8055864" y="3602736"/>
            <a:ext cx="1856232" cy="384048"/>
          </a:xfrm>
          <a:prstGeom prst="rect">
            <a:avLst/>
          </a:prstGeom>
          <a:noFill/>
          <a:ln/>
        </p:spPr>
        <p:txBody>
          <a:bodyPr wrap="square" lIns="0" tIns="0" rIns="0" bIns="0" rtlCol="0" anchor="ctr">
            <a:normAutofit/>
          </a:bodyPr>
          <a:lstStyle/>
          <a:p>
            <a:pPr indent="0" marL="0">
              <a:buNone/>
            </a:pPr>
            <a:r>
              <a:rPr lang="en-US" sz="2100" b="1" dirty="0">
                <a:solidFill>
                  <a:srgbClr val="C34632"/>
                </a:solidFill>
                <a:latin typeface="Aptos Display" pitchFamily="34" charset="0"/>
                <a:ea typeface="Aptos Display" pitchFamily="34" charset="-122"/>
                <a:cs typeface="Aptos Display" pitchFamily="34" charset="-120"/>
              </a:rPr>
              <a:t>CSV</a:t>
            </a:r>
            <a:endParaRPr lang="en-US" sz="2100" dirty="0"/>
          </a:p>
        </p:txBody>
      </p:sp>
      <p:sp>
        <p:nvSpPr>
          <p:cNvPr id="37" name="Text 35"/>
          <p:cNvSpPr/>
          <p:nvPr/>
        </p:nvSpPr>
        <p:spPr>
          <a:xfrm>
            <a:off x="8055864" y="4014216"/>
            <a:ext cx="185623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data bersih siap analisis</a:t>
            </a:r>
            <a:endParaRPr lang="en-US" sz="870" dirty="0"/>
          </a:p>
        </p:txBody>
      </p:sp>
      <p:sp>
        <p:nvSpPr>
          <p:cNvPr id="38" name="Shape 36"/>
          <p:cNvSpPr/>
          <p:nvPr/>
        </p:nvSpPr>
        <p:spPr>
          <a:xfrm>
            <a:off x="777240" y="4892040"/>
            <a:ext cx="10241280" cy="768096"/>
          </a:xfrm>
          <a:prstGeom prst="roundRect">
            <a:avLst>
              <a:gd name="adj" fmla="val 9524"/>
            </a:avLst>
          </a:prstGeom>
          <a:solidFill>
            <a:srgbClr val="102D26"/>
          </a:solidFill>
          <a:ln w="10160">
            <a:solidFill>
              <a:srgbClr val="102D26"/>
            </a:solidFill>
            <a:prstDash val="solid"/>
          </a:ln>
        </p:spPr>
      </p:sp>
      <p:sp>
        <p:nvSpPr>
          <p:cNvPr id="39" name="Text 37"/>
          <p:cNvSpPr/>
          <p:nvPr/>
        </p:nvSpPr>
        <p:spPr>
          <a:xfrm>
            <a:off x="1024128" y="5065776"/>
            <a:ext cx="9692640" cy="384048"/>
          </a:xfrm>
          <a:prstGeom prst="rect">
            <a:avLst/>
          </a:prstGeom>
          <a:noFill/>
          <a:ln/>
        </p:spPr>
        <p:txBody>
          <a:bodyPr wrap="square" lIns="254" tIns="254" rIns="254" bIns="254" rtlCol="0" anchor="t">
            <a:normAutofit/>
          </a:bodyPr>
          <a:lstStyle/>
          <a:p>
            <a:pPr algn="l" indent="0" marL="0">
              <a:buNone/>
            </a:pPr>
            <a:r>
              <a:rPr lang="en-US" sz="980" dirty="0">
                <a:solidFill>
                  <a:srgbClr val="E6FFF4"/>
                </a:solidFill>
                <a:latin typeface="Consolas" pitchFamily="34" charset="0"/>
                <a:ea typeface="Consolas" pitchFamily="34" charset="-122"/>
                <a:cs typeface="Consolas" pitchFamily="34" charset="-120"/>
              </a:rPr>
              <a:t>import pandas as pd</a:t>
            </a:r>
            <a:endParaRPr lang="en-US" sz="980" dirty="0"/>
          </a:p>
          <a:p>
            <a:pPr algn="l" indent="0" marL="0">
              <a:buNone/>
            </a:pPr>
            <a:r>
              <a:rPr lang="en-US" sz="980" dirty="0">
                <a:solidFill>
                  <a:srgbClr val="E6FFF4"/>
                </a:solidFill>
                <a:latin typeface="Consolas" pitchFamily="34" charset="0"/>
                <a:ea typeface="Consolas" pitchFamily="34" charset="-122"/>
                <a:cs typeface="Consolas" pitchFamily="34" charset="-120"/>
              </a:rPr>
              <a:t>df = pd.read_csv("ispu_jakarta_analysis.csv", parse_dates=["tanggal_validated"])</a:t>
            </a:r>
            <a:endParaRPr lang="en-US" sz="980" dirty="0"/>
          </a:p>
          <a:p>
            <a:pPr algn="l" indent="0" marL="0">
              <a:buNone/>
            </a:pPr>
            <a:r>
              <a:rPr lang="en-US" sz="980" dirty="0">
                <a:solidFill>
                  <a:srgbClr val="E6FFF4"/>
                </a:solidFill>
                <a:latin typeface="Consolas" pitchFamily="34" charset="0"/>
                <a:ea typeface="Consolas" pitchFamily="34" charset="-122"/>
                <a:cs typeface="Consolas" pitchFamily="34" charset="-120"/>
              </a:rPr>
              <a:t>df["ispu_dashboard"] = df["max_recomputed"]</a:t>
            </a:r>
            <a:endParaRPr lang="en-US" sz="980" dirty="0"/>
          </a:p>
        </p:txBody>
      </p:sp>
      <p:sp>
        <p:nvSpPr>
          <p:cNvPr id="40" name="Shape 38"/>
          <p:cNvSpPr/>
          <p:nvPr/>
        </p:nvSpPr>
        <p:spPr>
          <a:xfrm>
            <a:off x="777240" y="5806440"/>
            <a:ext cx="10241280" cy="502920"/>
          </a:xfrm>
          <a:prstGeom prst="roundRect">
            <a:avLst>
              <a:gd name="adj" fmla="val 14545"/>
            </a:avLst>
          </a:prstGeom>
          <a:solidFill>
            <a:srgbClr val="F0F7F4"/>
          </a:solidFill>
          <a:ln w="10160">
            <a:solidFill>
              <a:srgbClr val="CBE4D7"/>
            </a:solidFill>
            <a:prstDash val="solid"/>
          </a:ln>
        </p:spPr>
      </p:sp>
      <p:sp>
        <p:nvSpPr>
          <p:cNvPr id="41" name="Text 39"/>
          <p:cNvSpPr/>
          <p:nvPr/>
        </p:nvSpPr>
        <p:spPr>
          <a:xfrm>
            <a:off x="923544" y="5907024"/>
            <a:ext cx="9948672" cy="201168"/>
          </a:xfrm>
          <a:prstGeom prst="rect">
            <a:avLst/>
          </a:prstGeom>
          <a:noFill/>
          <a:ln/>
        </p:spPr>
        <p:txBody>
          <a:bodyPr wrap="square" lIns="0" tIns="0" rIns="0" bIns="0" rtlCol="0" anchor="ctr">
            <a:normAutofit/>
          </a:bodyPr>
          <a:lstStyle/>
          <a:p>
            <a:pPr indent="0" marL="0">
              <a:buNone/>
            </a:pPr>
            <a:r>
              <a:rPr lang="en-US" sz="880" b="1" dirty="0">
                <a:solidFill>
                  <a:srgbClr val="197A5D"/>
                </a:solidFill>
                <a:latin typeface="Aptos" pitchFamily="34" charset="0"/>
                <a:ea typeface="Aptos" pitchFamily="34" charset="-122"/>
                <a:cs typeface="Aptos" pitchFamily="34" charset="-120"/>
              </a:rPr>
              <a:t>Pendekatan pembersihan data</a:t>
            </a:r>
            <a:endParaRPr lang="en-US" sz="880" dirty="0"/>
          </a:p>
        </p:txBody>
      </p:sp>
      <p:sp>
        <p:nvSpPr>
          <p:cNvPr id="42" name="Text 40"/>
          <p:cNvSpPr/>
          <p:nvPr/>
        </p:nvSpPr>
        <p:spPr>
          <a:xfrm>
            <a:off x="923544" y="6163056"/>
            <a:ext cx="9948672" cy="6400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Data tidak langsung dihapus. Nilai original disimpan untuk audit, nilai tervalidasi digunakan untuk analisis, dan missing PM2.5 dipertahankan sebagai missing struktural historis.</a:t>
            </a:r>
            <a:endParaRPr lang="en-US" sz="98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4</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Temuan Validasi Data &amp; Strategi Penanganan</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Shape 3"/>
          <p:cNvSpPr/>
          <p:nvPr/>
        </p:nvSpPr>
        <p:spPr>
          <a:xfrm>
            <a:off x="685800" y="1353312"/>
            <a:ext cx="2571293" cy="464820"/>
          </a:xfrm>
          <a:prstGeom prst="rect">
            <a:avLst/>
          </a:prstGeom>
          <a:solidFill>
            <a:srgbClr val="E7F4EE"/>
          </a:solidFill>
          <a:ln w="6350">
            <a:solidFill>
              <a:srgbClr val="DCE7E1"/>
            </a:solidFill>
            <a:prstDash val="solid"/>
          </a:ln>
        </p:spPr>
      </p:sp>
      <p:sp>
        <p:nvSpPr>
          <p:cNvPr id="6" name="Text 4"/>
          <p:cNvSpPr/>
          <p:nvPr/>
        </p:nvSpPr>
        <p:spPr>
          <a:xfrm>
            <a:off x="722376" y="1426464"/>
            <a:ext cx="2498141" cy="355092"/>
          </a:xfrm>
          <a:prstGeom prst="rect">
            <a:avLst/>
          </a:prstGeom>
          <a:noFill/>
          <a:ln/>
        </p:spPr>
        <p:txBody>
          <a:bodyPr wrap="square" lIns="0" tIns="0" rIns="0" bIns="0" rtlCol="0" anchor="ctr">
            <a:normAutofit/>
          </a:bodyPr>
          <a:lstStyle/>
          <a:p>
            <a:pPr indent="0" marL="0">
              <a:buNone/>
            </a:pPr>
            <a:r>
              <a:rPr lang="en-US" sz="720" b="1" dirty="0">
                <a:solidFill>
                  <a:srgbClr val="14342C"/>
                </a:solidFill>
                <a:latin typeface="Aptos" pitchFamily="34" charset="0"/>
                <a:ea typeface="Aptos" pitchFamily="34" charset="-122"/>
                <a:cs typeface="Aptos" pitchFamily="34" charset="-120"/>
              </a:rPr>
              <a:t>Masalah kualitas data</a:t>
            </a:r>
            <a:endParaRPr lang="en-US" sz="720" dirty="0"/>
          </a:p>
        </p:txBody>
      </p:sp>
      <p:sp>
        <p:nvSpPr>
          <p:cNvPr id="7" name="Shape 5"/>
          <p:cNvSpPr/>
          <p:nvPr/>
        </p:nvSpPr>
        <p:spPr>
          <a:xfrm>
            <a:off x="3257093" y="1353312"/>
            <a:ext cx="1217981" cy="464820"/>
          </a:xfrm>
          <a:prstGeom prst="rect">
            <a:avLst/>
          </a:prstGeom>
          <a:solidFill>
            <a:srgbClr val="E7F4EE"/>
          </a:solidFill>
          <a:ln w="6350">
            <a:solidFill>
              <a:srgbClr val="DCE7E1"/>
            </a:solidFill>
            <a:prstDash val="solid"/>
          </a:ln>
        </p:spPr>
      </p:sp>
      <p:sp>
        <p:nvSpPr>
          <p:cNvPr id="8" name="Text 6"/>
          <p:cNvSpPr/>
          <p:nvPr/>
        </p:nvSpPr>
        <p:spPr>
          <a:xfrm>
            <a:off x="3293669" y="1426464"/>
            <a:ext cx="1144829" cy="355092"/>
          </a:xfrm>
          <a:prstGeom prst="rect">
            <a:avLst/>
          </a:prstGeom>
          <a:noFill/>
          <a:ln/>
        </p:spPr>
        <p:txBody>
          <a:bodyPr wrap="square" lIns="0" tIns="0" rIns="0" bIns="0" rtlCol="0" anchor="ctr">
            <a:normAutofit/>
          </a:bodyPr>
          <a:lstStyle/>
          <a:p>
            <a:pPr indent="0" marL="0">
              <a:buNone/>
            </a:pPr>
            <a:r>
              <a:rPr lang="en-US" sz="720" b="1" dirty="0">
                <a:solidFill>
                  <a:srgbClr val="14342C"/>
                </a:solidFill>
                <a:latin typeface="Aptos" pitchFamily="34" charset="0"/>
                <a:ea typeface="Aptos" pitchFamily="34" charset="-122"/>
                <a:cs typeface="Aptos" pitchFamily="34" charset="-120"/>
              </a:rPr>
              <a:t>Jumlah terdampak</a:t>
            </a:r>
            <a:endParaRPr lang="en-US" sz="720" dirty="0"/>
          </a:p>
        </p:txBody>
      </p:sp>
      <p:sp>
        <p:nvSpPr>
          <p:cNvPr id="9" name="Shape 7"/>
          <p:cNvSpPr/>
          <p:nvPr/>
        </p:nvSpPr>
        <p:spPr>
          <a:xfrm>
            <a:off x="4475074" y="1353312"/>
            <a:ext cx="2977286" cy="464820"/>
          </a:xfrm>
          <a:prstGeom prst="rect">
            <a:avLst/>
          </a:prstGeom>
          <a:solidFill>
            <a:srgbClr val="E7F4EE"/>
          </a:solidFill>
          <a:ln w="6350">
            <a:solidFill>
              <a:srgbClr val="DCE7E1"/>
            </a:solidFill>
            <a:prstDash val="solid"/>
          </a:ln>
        </p:spPr>
      </p:sp>
      <p:sp>
        <p:nvSpPr>
          <p:cNvPr id="10" name="Text 8"/>
          <p:cNvSpPr/>
          <p:nvPr/>
        </p:nvSpPr>
        <p:spPr>
          <a:xfrm>
            <a:off x="4511650" y="1426464"/>
            <a:ext cx="2904134" cy="355092"/>
          </a:xfrm>
          <a:prstGeom prst="rect">
            <a:avLst/>
          </a:prstGeom>
          <a:noFill/>
          <a:ln/>
        </p:spPr>
        <p:txBody>
          <a:bodyPr wrap="square" lIns="0" tIns="0" rIns="0" bIns="0" rtlCol="0" anchor="ctr">
            <a:normAutofit/>
          </a:bodyPr>
          <a:lstStyle/>
          <a:p>
            <a:pPr indent="0" marL="0">
              <a:buNone/>
            </a:pPr>
            <a:r>
              <a:rPr lang="en-US" sz="720" b="1" dirty="0">
                <a:solidFill>
                  <a:srgbClr val="14342C"/>
                </a:solidFill>
                <a:latin typeface="Aptos" pitchFamily="34" charset="0"/>
                <a:ea typeface="Aptos" pitchFamily="34" charset="-122"/>
                <a:cs typeface="Aptos" pitchFamily="34" charset="-120"/>
              </a:rPr>
              <a:t>Strategi penanganan</a:t>
            </a:r>
            <a:endParaRPr lang="en-US" sz="720" dirty="0"/>
          </a:p>
        </p:txBody>
      </p:sp>
      <p:sp>
        <p:nvSpPr>
          <p:cNvPr id="11" name="Shape 9"/>
          <p:cNvSpPr/>
          <p:nvPr/>
        </p:nvSpPr>
        <p:spPr>
          <a:xfrm>
            <a:off x="685800" y="1818132"/>
            <a:ext cx="2571293" cy="464820"/>
          </a:xfrm>
          <a:prstGeom prst="rect">
            <a:avLst/>
          </a:prstGeom>
          <a:solidFill>
            <a:srgbClr val="FFFFFF"/>
          </a:solidFill>
          <a:ln w="5080">
            <a:solidFill>
              <a:srgbClr val="DCE7E1"/>
            </a:solidFill>
            <a:prstDash val="solid"/>
          </a:ln>
        </p:spPr>
      </p:sp>
      <p:sp>
        <p:nvSpPr>
          <p:cNvPr id="12" name="Text 10"/>
          <p:cNvSpPr/>
          <p:nvPr/>
        </p:nvSpPr>
        <p:spPr>
          <a:xfrm>
            <a:off x="722376" y="1872996"/>
            <a:ext cx="2498141"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PM2.5 missing</a:t>
            </a:r>
            <a:endParaRPr lang="en-US" sz="720" dirty="0"/>
          </a:p>
        </p:txBody>
      </p:sp>
      <p:sp>
        <p:nvSpPr>
          <p:cNvPr id="13" name="Shape 11"/>
          <p:cNvSpPr/>
          <p:nvPr/>
        </p:nvSpPr>
        <p:spPr>
          <a:xfrm>
            <a:off x="3257093" y="1818132"/>
            <a:ext cx="1217981" cy="464820"/>
          </a:xfrm>
          <a:prstGeom prst="rect">
            <a:avLst/>
          </a:prstGeom>
          <a:solidFill>
            <a:srgbClr val="FFFFFF"/>
          </a:solidFill>
          <a:ln w="5080">
            <a:solidFill>
              <a:srgbClr val="DCE7E1"/>
            </a:solidFill>
            <a:prstDash val="solid"/>
          </a:ln>
        </p:spPr>
      </p:sp>
      <p:sp>
        <p:nvSpPr>
          <p:cNvPr id="14" name="Text 12"/>
          <p:cNvSpPr/>
          <p:nvPr/>
        </p:nvSpPr>
        <p:spPr>
          <a:xfrm>
            <a:off x="3293669" y="1872996"/>
            <a:ext cx="1144829"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9.059</a:t>
            </a:r>
            <a:endParaRPr lang="en-US" sz="720" dirty="0"/>
          </a:p>
        </p:txBody>
      </p:sp>
      <p:sp>
        <p:nvSpPr>
          <p:cNvPr id="15" name="Shape 13"/>
          <p:cNvSpPr/>
          <p:nvPr/>
        </p:nvSpPr>
        <p:spPr>
          <a:xfrm>
            <a:off x="4475074" y="1818132"/>
            <a:ext cx="2977286" cy="464820"/>
          </a:xfrm>
          <a:prstGeom prst="rect">
            <a:avLst/>
          </a:prstGeom>
          <a:solidFill>
            <a:srgbClr val="FFFFFF"/>
          </a:solidFill>
          <a:ln w="5080">
            <a:solidFill>
              <a:srgbClr val="DCE7E1"/>
            </a:solidFill>
            <a:prstDash val="solid"/>
          </a:ln>
        </p:spPr>
      </p:sp>
      <p:sp>
        <p:nvSpPr>
          <p:cNvPr id="16" name="Text 14"/>
          <p:cNvSpPr/>
          <p:nvPr/>
        </p:nvSpPr>
        <p:spPr>
          <a:xfrm>
            <a:off x="4511650" y="1872996"/>
            <a:ext cx="2904134"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Tidak diimputasi; analisis PM2.5 hanya pada data tersedia</a:t>
            </a:r>
            <a:endParaRPr lang="en-US" sz="720" dirty="0"/>
          </a:p>
        </p:txBody>
      </p:sp>
      <p:sp>
        <p:nvSpPr>
          <p:cNvPr id="17" name="Shape 15"/>
          <p:cNvSpPr/>
          <p:nvPr/>
        </p:nvSpPr>
        <p:spPr>
          <a:xfrm>
            <a:off x="685800" y="2282952"/>
            <a:ext cx="2571293" cy="464820"/>
          </a:xfrm>
          <a:prstGeom prst="rect">
            <a:avLst/>
          </a:prstGeom>
          <a:solidFill>
            <a:srgbClr val="F8FBF9"/>
          </a:solidFill>
          <a:ln w="5080">
            <a:solidFill>
              <a:srgbClr val="DCE7E1"/>
            </a:solidFill>
            <a:prstDash val="solid"/>
          </a:ln>
        </p:spPr>
      </p:sp>
      <p:sp>
        <p:nvSpPr>
          <p:cNvPr id="18" name="Text 16"/>
          <p:cNvSpPr/>
          <p:nvPr/>
        </p:nvSpPr>
        <p:spPr>
          <a:xfrm>
            <a:off x="722376" y="2337816"/>
            <a:ext cx="2498141"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Max mismatch</a:t>
            </a:r>
            <a:endParaRPr lang="en-US" sz="720" dirty="0"/>
          </a:p>
        </p:txBody>
      </p:sp>
      <p:sp>
        <p:nvSpPr>
          <p:cNvPr id="19" name="Shape 17"/>
          <p:cNvSpPr/>
          <p:nvPr/>
        </p:nvSpPr>
        <p:spPr>
          <a:xfrm>
            <a:off x="3257093" y="2282952"/>
            <a:ext cx="1217981" cy="464820"/>
          </a:xfrm>
          <a:prstGeom prst="rect">
            <a:avLst/>
          </a:prstGeom>
          <a:solidFill>
            <a:srgbClr val="F8FBF9"/>
          </a:solidFill>
          <a:ln w="5080">
            <a:solidFill>
              <a:srgbClr val="DCE7E1"/>
            </a:solidFill>
            <a:prstDash val="solid"/>
          </a:ln>
        </p:spPr>
      </p:sp>
      <p:sp>
        <p:nvSpPr>
          <p:cNvPr id="20" name="Text 18"/>
          <p:cNvSpPr/>
          <p:nvPr/>
        </p:nvSpPr>
        <p:spPr>
          <a:xfrm>
            <a:off x="3293669" y="2337816"/>
            <a:ext cx="1144829"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1.378</a:t>
            </a:r>
            <a:endParaRPr lang="en-US" sz="720" dirty="0"/>
          </a:p>
        </p:txBody>
      </p:sp>
      <p:sp>
        <p:nvSpPr>
          <p:cNvPr id="21" name="Shape 19"/>
          <p:cNvSpPr/>
          <p:nvPr/>
        </p:nvSpPr>
        <p:spPr>
          <a:xfrm>
            <a:off x="4475074" y="2282952"/>
            <a:ext cx="2977286" cy="464820"/>
          </a:xfrm>
          <a:prstGeom prst="rect">
            <a:avLst/>
          </a:prstGeom>
          <a:solidFill>
            <a:srgbClr val="F8FBF9"/>
          </a:solidFill>
          <a:ln w="5080">
            <a:solidFill>
              <a:srgbClr val="DCE7E1"/>
            </a:solidFill>
            <a:prstDash val="solid"/>
          </a:ln>
        </p:spPr>
      </p:sp>
      <p:sp>
        <p:nvSpPr>
          <p:cNvPr id="22" name="Text 20"/>
          <p:cNvSpPr/>
          <p:nvPr/>
        </p:nvSpPr>
        <p:spPr>
          <a:xfrm>
            <a:off x="4511650" y="2337816"/>
            <a:ext cx="2904134"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Gunakan max_recomputed sebagai ISPU tervalidasi</a:t>
            </a:r>
            <a:endParaRPr lang="en-US" sz="720" dirty="0"/>
          </a:p>
        </p:txBody>
      </p:sp>
      <p:sp>
        <p:nvSpPr>
          <p:cNvPr id="23" name="Shape 21"/>
          <p:cNvSpPr/>
          <p:nvPr/>
        </p:nvSpPr>
        <p:spPr>
          <a:xfrm>
            <a:off x="685800" y="2747772"/>
            <a:ext cx="2571293" cy="464820"/>
          </a:xfrm>
          <a:prstGeom prst="rect">
            <a:avLst/>
          </a:prstGeom>
          <a:solidFill>
            <a:srgbClr val="FFFFFF"/>
          </a:solidFill>
          <a:ln w="5080">
            <a:solidFill>
              <a:srgbClr val="DCE7E1"/>
            </a:solidFill>
            <a:prstDash val="solid"/>
          </a:ln>
        </p:spPr>
      </p:sp>
      <p:sp>
        <p:nvSpPr>
          <p:cNvPr id="24" name="Text 22"/>
          <p:cNvSpPr/>
          <p:nvPr/>
        </p:nvSpPr>
        <p:spPr>
          <a:xfrm>
            <a:off x="722376" y="2802636"/>
            <a:ext cx="2498141"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Critical mismatch</a:t>
            </a:r>
            <a:endParaRPr lang="en-US" sz="720" dirty="0"/>
          </a:p>
        </p:txBody>
      </p:sp>
      <p:sp>
        <p:nvSpPr>
          <p:cNvPr id="25" name="Shape 23"/>
          <p:cNvSpPr/>
          <p:nvPr/>
        </p:nvSpPr>
        <p:spPr>
          <a:xfrm>
            <a:off x="3257093" y="2747772"/>
            <a:ext cx="1217981" cy="464820"/>
          </a:xfrm>
          <a:prstGeom prst="rect">
            <a:avLst/>
          </a:prstGeom>
          <a:solidFill>
            <a:srgbClr val="FFFFFF"/>
          </a:solidFill>
          <a:ln w="5080">
            <a:solidFill>
              <a:srgbClr val="DCE7E1"/>
            </a:solidFill>
            <a:prstDash val="solid"/>
          </a:ln>
        </p:spPr>
      </p:sp>
      <p:sp>
        <p:nvSpPr>
          <p:cNvPr id="26" name="Text 24"/>
          <p:cNvSpPr/>
          <p:nvPr/>
        </p:nvSpPr>
        <p:spPr>
          <a:xfrm>
            <a:off x="3293669" y="2802636"/>
            <a:ext cx="1144829"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1.246</a:t>
            </a:r>
            <a:endParaRPr lang="en-US" sz="720" dirty="0"/>
          </a:p>
        </p:txBody>
      </p:sp>
      <p:sp>
        <p:nvSpPr>
          <p:cNvPr id="27" name="Shape 25"/>
          <p:cNvSpPr/>
          <p:nvPr/>
        </p:nvSpPr>
        <p:spPr>
          <a:xfrm>
            <a:off x="4475074" y="2747772"/>
            <a:ext cx="2977286" cy="464820"/>
          </a:xfrm>
          <a:prstGeom prst="rect">
            <a:avLst/>
          </a:prstGeom>
          <a:solidFill>
            <a:srgbClr val="FFFFFF"/>
          </a:solidFill>
          <a:ln w="5080">
            <a:solidFill>
              <a:srgbClr val="DCE7E1"/>
            </a:solidFill>
            <a:prstDash val="solid"/>
          </a:ln>
        </p:spPr>
      </p:sp>
      <p:sp>
        <p:nvSpPr>
          <p:cNvPr id="28" name="Text 26"/>
          <p:cNvSpPr/>
          <p:nvPr/>
        </p:nvSpPr>
        <p:spPr>
          <a:xfrm>
            <a:off x="4511650" y="2802636"/>
            <a:ext cx="2904134"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Gunakan critical_recomputed sebagai pencemar dominan</a:t>
            </a:r>
            <a:endParaRPr lang="en-US" sz="720" dirty="0"/>
          </a:p>
        </p:txBody>
      </p:sp>
      <p:sp>
        <p:nvSpPr>
          <p:cNvPr id="29" name="Shape 27"/>
          <p:cNvSpPr/>
          <p:nvPr/>
        </p:nvSpPr>
        <p:spPr>
          <a:xfrm>
            <a:off x="685800" y="3212592"/>
            <a:ext cx="2571293" cy="464820"/>
          </a:xfrm>
          <a:prstGeom prst="rect">
            <a:avLst/>
          </a:prstGeom>
          <a:solidFill>
            <a:srgbClr val="F8FBF9"/>
          </a:solidFill>
          <a:ln w="5080">
            <a:solidFill>
              <a:srgbClr val="DCE7E1"/>
            </a:solidFill>
            <a:prstDash val="solid"/>
          </a:ln>
        </p:spPr>
      </p:sp>
      <p:sp>
        <p:nvSpPr>
          <p:cNvPr id="30" name="Text 28"/>
          <p:cNvSpPr/>
          <p:nvPr/>
        </p:nvSpPr>
        <p:spPr>
          <a:xfrm>
            <a:off x="722376" y="3267456"/>
            <a:ext cx="2498141"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Tanggal-periode mismatch</a:t>
            </a:r>
            <a:endParaRPr lang="en-US" sz="720" dirty="0"/>
          </a:p>
        </p:txBody>
      </p:sp>
      <p:sp>
        <p:nvSpPr>
          <p:cNvPr id="31" name="Shape 29"/>
          <p:cNvSpPr/>
          <p:nvPr/>
        </p:nvSpPr>
        <p:spPr>
          <a:xfrm>
            <a:off x="3257093" y="3212592"/>
            <a:ext cx="1217981" cy="464820"/>
          </a:xfrm>
          <a:prstGeom prst="rect">
            <a:avLst/>
          </a:prstGeom>
          <a:solidFill>
            <a:srgbClr val="F8FBF9"/>
          </a:solidFill>
          <a:ln w="5080">
            <a:solidFill>
              <a:srgbClr val="DCE7E1"/>
            </a:solidFill>
            <a:prstDash val="solid"/>
          </a:ln>
        </p:spPr>
      </p:sp>
      <p:sp>
        <p:nvSpPr>
          <p:cNvPr id="32" name="Text 30"/>
          <p:cNvSpPr/>
          <p:nvPr/>
        </p:nvSpPr>
        <p:spPr>
          <a:xfrm>
            <a:off x="3293669" y="3267456"/>
            <a:ext cx="1144829"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172</a:t>
            </a:r>
            <a:endParaRPr lang="en-US" sz="720" dirty="0"/>
          </a:p>
        </p:txBody>
      </p:sp>
      <p:sp>
        <p:nvSpPr>
          <p:cNvPr id="33" name="Shape 31"/>
          <p:cNvSpPr/>
          <p:nvPr/>
        </p:nvSpPr>
        <p:spPr>
          <a:xfrm>
            <a:off x="4475074" y="3212592"/>
            <a:ext cx="2977286" cy="464820"/>
          </a:xfrm>
          <a:prstGeom prst="rect">
            <a:avLst/>
          </a:prstGeom>
          <a:solidFill>
            <a:srgbClr val="F8FBF9"/>
          </a:solidFill>
          <a:ln w="5080">
            <a:solidFill>
              <a:srgbClr val="DCE7E1"/>
            </a:solidFill>
            <a:prstDash val="solid"/>
          </a:ln>
        </p:spPr>
      </p:sp>
      <p:sp>
        <p:nvSpPr>
          <p:cNvPr id="34" name="Text 32"/>
          <p:cNvSpPr/>
          <p:nvPr/>
        </p:nvSpPr>
        <p:spPr>
          <a:xfrm>
            <a:off x="4511650" y="3267456"/>
            <a:ext cx="2904134"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Koreksi deterministik/flag audit</a:t>
            </a:r>
            <a:endParaRPr lang="en-US" sz="720" dirty="0"/>
          </a:p>
        </p:txBody>
      </p:sp>
      <p:sp>
        <p:nvSpPr>
          <p:cNvPr id="35" name="Shape 33"/>
          <p:cNvSpPr/>
          <p:nvPr/>
        </p:nvSpPr>
        <p:spPr>
          <a:xfrm>
            <a:off x="685800" y="3677412"/>
            <a:ext cx="2571293" cy="464820"/>
          </a:xfrm>
          <a:prstGeom prst="rect">
            <a:avLst/>
          </a:prstGeom>
          <a:solidFill>
            <a:srgbClr val="FFFFFF"/>
          </a:solidFill>
          <a:ln w="5080">
            <a:solidFill>
              <a:srgbClr val="DCE7E1"/>
            </a:solidFill>
            <a:prstDash val="solid"/>
          </a:ln>
        </p:spPr>
      </p:sp>
      <p:sp>
        <p:nvSpPr>
          <p:cNvPr id="36" name="Text 34"/>
          <p:cNvSpPr/>
          <p:nvPr/>
        </p:nvSpPr>
        <p:spPr>
          <a:xfrm>
            <a:off x="722376" y="3732276"/>
            <a:ext cx="2498141"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Duplikat kunci harian-stasiun</a:t>
            </a:r>
            <a:endParaRPr lang="en-US" sz="720" dirty="0"/>
          </a:p>
        </p:txBody>
      </p:sp>
      <p:sp>
        <p:nvSpPr>
          <p:cNvPr id="37" name="Shape 35"/>
          <p:cNvSpPr/>
          <p:nvPr/>
        </p:nvSpPr>
        <p:spPr>
          <a:xfrm>
            <a:off x="3257093" y="3677412"/>
            <a:ext cx="1217981" cy="464820"/>
          </a:xfrm>
          <a:prstGeom prst="rect">
            <a:avLst/>
          </a:prstGeom>
          <a:solidFill>
            <a:srgbClr val="FFFFFF"/>
          </a:solidFill>
          <a:ln w="5080">
            <a:solidFill>
              <a:srgbClr val="DCE7E1"/>
            </a:solidFill>
            <a:prstDash val="solid"/>
          </a:ln>
        </p:spPr>
      </p:sp>
      <p:sp>
        <p:nvSpPr>
          <p:cNvPr id="38" name="Text 36"/>
          <p:cNvSpPr/>
          <p:nvPr/>
        </p:nvSpPr>
        <p:spPr>
          <a:xfrm>
            <a:off x="3293669" y="3732276"/>
            <a:ext cx="1144829"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640</a:t>
            </a:r>
            <a:endParaRPr lang="en-US" sz="720" dirty="0"/>
          </a:p>
        </p:txBody>
      </p:sp>
      <p:sp>
        <p:nvSpPr>
          <p:cNvPr id="39" name="Shape 37"/>
          <p:cNvSpPr/>
          <p:nvPr/>
        </p:nvSpPr>
        <p:spPr>
          <a:xfrm>
            <a:off x="4475074" y="3677412"/>
            <a:ext cx="2977286" cy="464820"/>
          </a:xfrm>
          <a:prstGeom prst="rect">
            <a:avLst/>
          </a:prstGeom>
          <a:solidFill>
            <a:srgbClr val="FFFFFF"/>
          </a:solidFill>
          <a:ln w="5080">
            <a:solidFill>
              <a:srgbClr val="DCE7E1"/>
            </a:solidFill>
            <a:prstDash val="solid"/>
          </a:ln>
        </p:spPr>
      </p:sp>
      <p:sp>
        <p:nvSpPr>
          <p:cNvPr id="40" name="Text 38"/>
          <p:cNvSpPr/>
          <p:nvPr/>
        </p:nvSpPr>
        <p:spPr>
          <a:xfrm>
            <a:off x="4511650" y="3732276"/>
            <a:ext cx="2904134" cy="373380"/>
          </a:xfrm>
          <a:prstGeom prst="rect">
            <a:avLst/>
          </a:prstGeom>
          <a:noFill/>
          <a:ln/>
        </p:spPr>
        <p:txBody>
          <a:bodyPr wrap="square" lIns="0" tIns="0" rIns="0" bIns="0" rtlCol="0" anchor="ctr">
            <a:normAutofit/>
          </a:bodyPr>
          <a:lstStyle/>
          <a:p>
            <a:pPr indent="0" marL="0">
              <a:buNone/>
            </a:pPr>
            <a:r>
              <a:rPr lang="en-US" sz="720" dirty="0">
                <a:solidFill>
                  <a:srgbClr val="14342C"/>
                </a:solidFill>
                <a:latin typeface="Aptos" pitchFamily="34" charset="0"/>
                <a:ea typeface="Aptos" pitchFamily="34" charset="-122"/>
                <a:cs typeface="Aptos" pitchFamily="34" charset="-120"/>
              </a:rPr>
              <a:t>Flag, tidak digabung otomatis</a:t>
            </a:r>
            <a:endParaRPr lang="en-US" sz="720" dirty="0"/>
          </a:p>
        </p:txBody>
      </p:sp>
      <p:graphicFrame>
        <p:nvGraphicFramePr>
          <p:cNvPr id="41" name="Chart 0" descr=""/>
          <p:cNvGraphicFramePr/>
          <p:nvPr/>
        </p:nvGraphicFramePr>
        <p:xfrm>
          <a:off x="7818120" y="1371600"/>
          <a:ext cx="3429000" cy="2331720"/>
        </p:xfrm>
        <a:graphic xmlns:a="http://schemas.openxmlformats.org/drawingml/2006/main">
          <a:graphicData uri="http://schemas.openxmlformats.org/drawingml/2006/chart">
            <c:chart xmlns:c="http://schemas.openxmlformats.org/drawingml/2006/chart" r:id="rId1"/>
          </a:graphicData>
        </a:graphic>
      </p:graphicFrame>
      <p:sp>
        <p:nvSpPr>
          <p:cNvPr id="42" name="Shape 39"/>
          <p:cNvSpPr/>
          <p:nvPr/>
        </p:nvSpPr>
        <p:spPr>
          <a:xfrm>
            <a:off x="749808" y="4526280"/>
            <a:ext cx="5212080" cy="914400"/>
          </a:xfrm>
          <a:prstGeom prst="roundRect">
            <a:avLst>
              <a:gd name="adj" fmla="val 8000"/>
            </a:avLst>
          </a:prstGeom>
          <a:solidFill>
            <a:srgbClr val="F0F7F4"/>
          </a:solidFill>
          <a:ln w="10160">
            <a:solidFill>
              <a:srgbClr val="CBE4D7"/>
            </a:solidFill>
            <a:prstDash val="solid"/>
          </a:ln>
        </p:spPr>
      </p:sp>
      <p:sp>
        <p:nvSpPr>
          <p:cNvPr id="43" name="Text 40"/>
          <p:cNvSpPr/>
          <p:nvPr/>
        </p:nvSpPr>
        <p:spPr>
          <a:xfrm>
            <a:off x="896112" y="4626864"/>
            <a:ext cx="4919472" cy="201168"/>
          </a:xfrm>
          <a:prstGeom prst="rect">
            <a:avLst/>
          </a:prstGeom>
          <a:noFill/>
          <a:ln/>
        </p:spPr>
        <p:txBody>
          <a:bodyPr wrap="square" lIns="0" tIns="0" rIns="0" bIns="0" rtlCol="0" anchor="ctr">
            <a:normAutofit/>
          </a:bodyPr>
          <a:lstStyle/>
          <a:p>
            <a:pPr indent="0" marL="0">
              <a:buNone/>
            </a:pPr>
            <a:r>
              <a:rPr lang="en-US" sz="880" b="1" dirty="0">
                <a:solidFill>
                  <a:srgbClr val="197A5D"/>
                </a:solidFill>
                <a:latin typeface="Aptos" pitchFamily="34" charset="0"/>
                <a:ea typeface="Aptos" pitchFamily="34" charset="-122"/>
                <a:cs typeface="Aptos" pitchFamily="34" charset="-120"/>
              </a:rPr>
              <a:t>Validasi konsistensi antar kolom</a:t>
            </a:r>
            <a:endParaRPr lang="en-US" sz="880" dirty="0"/>
          </a:p>
        </p:txBody>
      </p:sp>
      <p:sp>
        <p:nvSpPr>
          <p:cNvPr id="44" name="Text 41"/>
          <p:cNvSpPr/>
          <p:nvPr/>
        </p:nvSpPr>
        <p:spPr>
          <a:xfrm>
            <a:off x="896112" y="4882896"/>
            <a:ext cx="4919472" cy="4754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Max divalidasi ulang menjadi max_recomputed; critical divalidasi menjadi critical_recomputed; periode_data diperiksa terhadap tanggal_validated; duplikasi kunci tanggal-stasiun diberi flag audit.</a:t>
            </a:r>
            <a:endParaRPr lang="en-US" sz="980" dirty="0"/>
          </a:p>
        </p:txBody>
      </p:sp>
      <p:sp>
        <p:nvSpPr>
          <p:cNvPr id="45" name="Shape 42"/>
          <p:cNvSpPr/>
          <p:nvPr/>
        </p:nvSpPr>
        <p:spPr>
          <a:xfrm>
            <a:off x="6172200" y="4526280"/>
            <a:ext cx="5120640" cy="914400"/>
          </a:xfrm>
          <a:prstGeom prst="roundRect">
            <a:avLst>
              <a:gd name="adj" fmla="val 8000"/>
            </a:avLst>
          </a:prstGeom>
          <a:solidFill>
            <a:srgbClr val="FFF6E7"/>
          </a:solidFill>
          <a:ln w="10160">
            <a:solidFill>
              <a:srgbClr val="CBE4D7"/>
            </a:solidFill>
            <a:prstDash val="solid"/>
          </a:ln>
        </p:spPr>
      </p:sp>
      <p:sp>
        <p:nvSpPr>
          <p:cNvPr id="46" name="Text 43"/>
          <p:cNvSpPr/>
          <p:nvPr/>
        </p:nvSpPr>
        <p:spPr>
          <a:xfrm>
            <a:off x="6318504" y="4626864"/>
            <a:ext cx="4828032" cy="201168"/>
          </a:xfrm>
          <a:prstGeom prst="rect">
            <a:avLst/>
          </a:prstGeom>
          <a:noFill/>
          <a:ln/>
        </p:spPr>
        <p:txBody>
          <a:bodyPr wrap="square" lIns="0" tIns="0" rIns="0" bIns="0" rtlCol="0" anchor="ctr">
            <a:normAutofit/>
          </a:bodyPr>
          <a:lstStyle/>
          <a:p>
            <a:pPr indent="0" marL="0">
              <a:buNone/>
            </a:pPr>
            <a:r>
              <a:rPr lang="en-US" sz="880" b="1" dirty="0">
                <a:solidFill>
                  <a:srgbClr val="D68A00"/>
                </a:solidFill>
                <a:latin typeface="Aptos" pitchFamily="34" charset="0"/>
                <a:ea typeface="Aptos" pitchFamily="34" charset="-122"/>
                <a:cs typeface="Aptos" pitchFamily="34" charset="-120"/>
              </a:rPr>
              <a:t>Keputusan PM2.5</a:t>
            </a:r>
            <a:endParaRPr lang="en-US" sz="880" dirty="0"/>
          </a:p>
        </p:txBody>
      </p:sp>
      <p:sp>
        <p:nvSpPr>
          <p:cNvPr id="47" name="Text 44"/>
          <p:cNvSpPr/>
          <p:nvPr/>
        </p:nvSpPr>
        <p:spPr>
          <a:xfrm>
            <a:off x="6318504" y="4882896"/>
            <a:ext cx="4828032" cy="4754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PM2.5 missing 9.059 baris (62.2%). Tidak diimputasi; analisis PM2.5 dibatasi pada 2020-02-01 s.d. 2023-11-30 ketika data tersedia.</a:t>
            </a:r>
            <a:endParaRPr lang="en-US" sz="980" dirty="0"/>
          </a:p>
        </p:txBody>
      </p:sp>
      <p:sp>
        <p:nvSpPr>
          <p:cNvPr id="48" name="Shape 45"/>
          <p:cNvSpPr/>
          <p:nvPr/>
        </p:nvSpPr>
        <p:spPr>
          <a:xfrm>
            <a:off x="749808" y="5605272"/>
            <a:ext cx="10561320" cy="530352"/>
          </a:xfrm>
          <a:prstGeom prst="roundRect">
            <a:avLst>
              <a:gd name="adj" fmla="val 13793"/>
            </a:avLst>
          </a:prstGeom>
          <a:solidFill>
            <a:srgbClr val="EAF2FF"/>
          </a:solidFill>
          <a:ln w="10160">
            <a:solidFill>
              <a:srgbClr val="CBE4D7"/>
            </a:solidFill>
            <a:prstDash val="solid"/>
          </a:ln>
        </p:spPr>
      </p:sp>
      <p:sp>
        <p:nvSpPr>
          <p:cNvPr id="49" name="Text 46"/>
          <p:cNvSpPr/>
          <p:nvPr/>
        </p:nvSpPr>
        <p:spPr>
          <a:xfrm>
            <a:off x="896112" y="5705856"/>
            <a:ext cx="10268712" cy="201168"/>
          </a:xfrm>
          <a:prstGeom prst="rect">
            <a:avLst/>
          </a:prstGeom>
          <a:noFill/>
          <a:ln/>
        </p:spPr>
        <p:txBody>
          <a:bodyPr wrap="square" lIns="0" tIns="0" rIns="0" bIns="0" rtlCol="0" anchor="ctr">
            <a:normAutofit/>
          </a:bodyPr>
          <a:lstStyle/>
          <a:p>
            <a:pPr indent="0" marL="0">
              <a:buNone/>
            </a:pPr>
            <a:r>
              <a:rPr lang="en-US" sz="880" b="1" dirty="0">
                <a:solidFill>
                  <a:srgbClr val="2B6CB0"/>
                </a:solidFill>
                <a:latin typeface="Aptos" pitchFamily="34" charset="0"/>
                <a:ea typeface="Aptos" pitchFamily="34" charset="-122"/>
                <a:cs typeface="Aptos" pitchFamily="34" charset="-120"/>
              </a:rPr>
              <a:t>Hasil data bersih</a:t>
            </a:r>
            <a:endParaRPr lang="en-US" sz="880" dirty="0"/>
          </a:p>
        </p:txBody>
      </p:sp>
      <p:sp>
        <p:nvSpPr>
          <p:cNvPr id="50" name="Text 47"/>
          <p:cNvSpPr/>
          <p:nvPr/>
        </p:nvSpPr>
        <p:spPr>
          <a:xfrm>
            <a:off x="896112" y="5961888"/>
            <a:ext cx="10268712" cy="91440"/>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14.576 baris dan 28 kolom siap digunakan; kategori udara mengikuti kolom categori dari dataset, bukan dihitung ulang dari nilai ISPU.</a:t>
            </a:r>
            <a:endParaRPr lang="en-US" sz="98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5 — TEMUAN DASHBOARD</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Dashboard 1 — Overview Kualitas Udara</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Text 3"/>
          <p:cNvSpPr/>
          <p:nvPr/>
        </p:nvSpPr>
        <p:spPr>
          <a:xfrm>
            <a:off x="658368" y="1261872"/>
            <a:ext cx="2194560" cy="164592"/>
          </a:xfrm>
          <a:prstGeom prst="rect">
            <a:avLst/>
          </a:prstGeom>
          <a:noFill/>
          <a:ln/>
        </p:spPr>
        <p:txBody>
          <a:bodyPr wrap="square" lIns="0" tIns="0" rIns="0" bIns="0" rtlCol="0" anchor="ctr">
            <a:normAutofit/>
          </a:bodyPr>
          <a:lstStyle/>
          <a:p>
            <a:pPr indent="0" marL="0">
              <a:buNone/>
            </a:pPr>
            <a:r>
              <a:rPr lang="en-US" sz="720" b="1" dirty="0">
                <a:solidFill>
                  <a:srgbClr val="197A5D"/>
                </a:solidFill>
                <a:latin typeface="Aptos" pitchFamily="34" charset="0"/>
                <a:ea typeface="Aptos" pitchFamily="34" charset="-122"/>
                <a:cs typeface="Aptos" pitchFamily="34" charset="-120"/>
              </a:rPr>
              <a:t>TANGKAPAN LAYAR DASHBOARD</a:t>
            </a:r>
            <a:endParaRPr lang="en-US" sz="720" dirty="0"/>
          </a:p>
        </p:txBody>
      </p:sp>
      <p:sp>
        <p:nvSpPr>
          <p:cNvPr id="6" name="Shape 4"/>
          <p:cNvSpPr/>
          <p:nvPr/>
        </p:nvSpPr>
        <p:spPr>
          <a:xfrm>
            <a:off x="612648" y="1444752"/>
            <a:ext cx="7543800" cy="4279392"/>
          </a:xfrm>
          <a:prstGeom prst="roundRect">
            <a:avLst>
              <a:gd name="adj" fmla="val 1709"/>
            </a:avLst>
          </a:prstGeom>
          <a:solidFill>
            <a:srgbClr val="FFFFFF"/>
          </a:solidFill>
          <a:ln w="10160">
            <a:solidFill>
              <a:srgbClr val="C8D8D1"/>
            </a:solidFill>
            <a:prstDash val="solid"/>
          </a:ln>
          <a:effectLst>
            <a:outerShdw sx="100000" sy="100000" kx="0" ky="0" algn="bl" rotWithShape="0" blurRad="12700" dist="12700" dir="2700000">
              <a:srgbClr val="86958E">
                <a:alpha val="10000"/>
              </a:srgbClr>
            </a:outerShdw>
          </a:effectLst>
        </p:spPr>
      </p:sp>
      <p:pic>
        <p:nvPicPr>
          <p:cNvPr id="7" name="Image 0" descr="/mnt/data/rendered_final/slide-7.png">    </p:cNvPr>
          <p:cNvPicPr>
            <a:picLocks noChangeAspect="1"/>
          </p:cNvPicPr>
          <p:nvPr/>
        </p:nvPicPr>
        <p:blipFill>
          <a:blip r:embed="rId1"/>
          <a:stretch>
            <a:fillRect/>
          </a:stretch>
        </p:blipFill>
        <p:spPr>
          <a:xfrm>
            <a:off x="661924" y="1490472"/>
            <a:ext cx="7445248" cy="4187952"/>
          </a:xfrm>
          <a:prstGeom prst="rect">
            <a:avLst/>
          </a:prstGeom>
        </p:spPr>
      </p:pic>
      <p:sp>
        <p:nvSpPr>
          <p:cNvPr id="8" name="Shape 5"/>
          <p:cNvSpPr/>
          <p:nvPr/>
        </p:nvSpPr>
        <p:spPr>
          <a:xfrm>
            <a:off x="8412480" y="1490472"/>
            <a:ext cx="3063240" cy="1874520"/>
          </a:xfrm>
          <a:prstGeom prst="roundRect">
            <a:avLst>
              <a:gd name="adj" fmla="val 3902"/>
            </a:avLst>
          </a:prstGeom>
          <a:solidFill>
            <a:srgbClr val="F0F7F4"/>
          </a:solidFill>
          <a:ln w="10160">
            <a:solidFill>
              <a:srgbClr val="CBE4D7"/>
            </a:solidFill>
            <a:prstDash val="solid"/>
          </a:ln>
        </p:spPr>
      </p:sp>
      <p:sp>
        <p:nvSpPr>
          <p:cNvPr id="9" name="Text 6"/>
          <p:cNvSpPr/>
          <p:nvPr/>
        </p:nvSpPr>
        <p:spPr>
          <a:xfrm>
            <a:off x="8558784" y="1591056"/>
            <a:ext cx="2770632" cy="201168"/>
          </a:xfrm>
          <a:prstGeom prst="rect">
            <a:avLst/>
          </a:prstGeom>
          <a:noFill/>
          <a:ln/>
        </p:spPr>
        <p:txBody>
          <a:bodyPr wrap="square" lIns="0" tIns="0" rIns="0" bIns="0" rtlCol="0" anchor="ctr">
            <a:normAutofit/>
          </a:bodyPr>
          <a:lstStyle/>
          <a:p>
            <a:pPr indent="0" marL="0">
              <a:buNone/>
            </a:pPr>
            <a:r>
              <a:rPr lang="en-US" sz="880" b="1" dirty="0">
                <a:solidFill>
                  <a:srgbClr val="197A5D"/>
                </a:solidFill>
                <a:latin typeface="Aptos" pitchFamily="34" charset="0"/>
                <a:ea typeface="Aptos" pitchFamily="34" charset="-122"/>
                <a:cs typeface="Aptos" pitchFamily="34" charset="-120"/>
              </a:rPr>
              <a:t>Analisis utama</a:t>
            </a:r>
            <a:endParaRPr lang="en-US" sz="880" dirty="0"/>
          </a:p>
        </p:txBody>
      </p:sp>
      <p:sp>
        <p:nvSpPr>
          <p:cNvPr id="10" name="Text 7"/>
          <p:cNvSpPr/>
          <p:nvPr/>
        </p:nvSpPr>
        <p:spPr>
          <a:xfrm>
            <a:off x="8558784" y="1847088"/>
            <a:ext cx="2770632" cy="143560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Rata-rata ISPU seluruh data adalah 79.2, dengan 17.6% hari masuk TIDAK SEHAT atau lebih buruk. Parameter pencemar dominan terbanyak adalah O3 (44.3%).</a:t>
            </a:r>
            <a:endParaRPr lang="en-US" sz="980" dirty="0"/>
          </a:p>
        </p:txBody>
      </p:sp>
      <p:sp>
        <p:nvSpPr>
          <p:cNvPr id="11" name="Shape 8"/>
          <p:cNvSpPr/>
          <p:nvPr/>
        </p:nvSpPr>
        <p:spPr>
          <a:xfrm>
            <a:off x="8412480" y="3611880"/>
            <a:ext cx="3063240" cy="2057400"/>
          </a:xfrm>
          <a:prstGeom prst="roundRect">
            <a:avLst>
              <a:gd name="adj" fmla="val 3556"/>
            </a:avLst>
          </a:prstGeom>
          <a:solidFill>
            <a:srgbClr val="FDF1EF"/>
          </a:solidFill>
          <a:ln w="10160">
            <a:solidFill>
              <a:srgbClr val="CBE4D7"/>
            </a:solidFill>
            <a:prstDash val="solid"/>
          </a:ln>
        </p:spPr>
      </p:sp>
      <p:sp>
        <p:nvSpPr>
          <p:cNvPr id="12" name="Text 9"/>
          <p:cNvSpPr/>
          <p:nvPr/>
        </p:nvSpPr>
        <p:spPr>
          <a:xfrm>
            <a:off x="8558784" y="3712464"/>
            <a:ext cx="2770632" cy="201168"/>
          </a:xfrm>
          <a:prstGeom prst="rect">
            <a:avLst/>
          </a:prstGeom>
          <a:noFill/>
          <a:ln/>
        </p:spPr>
        <p:txBody>
          <a:bodyPr wrap="square" lIns="0" tIns="0" rIns="0" bIns="0" rtlCol="0" anchor="ctr">
            <a:normAutofit/>
          </a:bodyPr>
          <a:lstStyle/>
          <a:p>
            <a:pPr indent="0" marL="0">
              <a:buNone/>
            </a:pPr>
            <a:r>
              <a:rPr lang="en-US" sz="880" b="1" dirty="0">
                <a:solidFill>
                  <a:srgbClr val="C34632"/>
                </a:solidFill>
                <a:latin typeface="Aptos" pitchFamily="34" charset="0"/>
                <a:ea typeface="Aptos" pitchFamily="34" charset="-122"/>
                <a:cs typeface="Aptos" pitchFamily="34" charset="-120"/>
              </a:rPr>
              <a:t>Insight yang dihasilkan</a:t>
            </a:r>
            <a:endParaRPr lang="en-US" sz="880" dirty="0"/>
          </a:p>
        </p:txBody>
      </p:sp>
      <p:sp>
        <p:nvSpPr>
          <p:cNvPr id="13" name="Text 10"/>
          <p:cNvSpPr/>
          <p:nvPr/>
        </p:nvSpPr>
        <p:spPr>
          <a:xfrm>
            <a:off x="8558784" y="3968496"/>
            <a:ext cx="2770632" cy="16184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Kepala Dinas dapat menetapkan pemantauan harian berbasis alert ketika kategori naik ke TIDAK SEHAT, terutama pada stasiun dengan nilai terkini tertinggi.</a:t>
            </a:r>
            <a:endParaRPr lang="en-US" sz="980" dirty="0"/>
          </a:p>
        </p:txBody>
      </p:sp>
      <p:sp>
        <p:nvSpPr>
          <p:cNvPr id="14" name="Text 11"/>
          <p:cNvSpPr/>
          <p:nvPr/>
        </p:nvSpPr>
        <p:spPr>
          <a:xfrm>
            <a:off x="685800" y="5852160"/>
            <a:ext cx="7223760" cy="256032"/>
          </a:xfrm>
          <a:prstGeom prst="rect">
            <a:avLst/>
          </a:prstGeom>
          <a:noFill/>
          <a:ln/>
        </p:spPr>
        <p:txBody>
          <a:bodyPr wrap="square" lIns="254" tIns="254" rIns="254" bIns="254" rtlCol="0" anchor="t">
            <a:normAutofit/>
          </a:bodyPr>
          <a:lstStyle/>
          <a:p>
            <a:pPr algn="l" indent="0" marL="0">
              <a:buNone/>
            </a:pPr>
            <a:r>
              <a:rPr lang="en-US" sz="740" dirty="0">
                <a:solidFill>
                  <a:srgbClr val="58706A"/>
                </a:solidFill>
                <a:latin typeface="Aptos" pitchFamily="34" charset="0"/>
                <a:ea typeface="Aptos" pitchFamily="34" charset="-122"/>
                <a:cs typeface="Aptos" pitchFamily="34" charset="-120"/>
              </a:rPr>
              <a:t>Catatan: visualisasi di atas merepresentasikan dashboard interaktif; filter dashboard dapat disesuaikan menurut tanggal, stasiun, kategori, dan parameter pencemar.</a:t>
            </a:r>
            <a:endParaRPr lang="en-US" sz="74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6 — TEMUAN DASHBOARD</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Dashboard 2 — Tren Temporal</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Text 3"/>
          <p:cNvSpPr/>
          <p:nvPr/>
        </p:nvSpPr>
        <p:spPr>
          <a:xfrm>
            <a:off x="658368" y="1261872"/>
            <a:ext cx="2194560" cy="164592"/>
          </a:xfrm>
          <a:prstGeom prst="rect">
            <a:avLst/>
          </a:prstGeom>
          <a:noFill/>
          <a:ln/>
        </p:spPr>
        <p:txBody>
          <a:bodyPr wrap="square" lIns="0" tIns="0" rIns="0" bIns="0" rtlCol="0" anchor="ctr">
            <a:normAutofit/>
          </a:bodyPr>
          <a:lstStyle/>
          <a:p>
            <a:pPr indent="0" marL="0">
              <a:buNone/>
            </a:pPr>
            <a:r>
              <a:rPr lang="en-US" sz="720" b="1" dirty="0">
                <a:solidFill>
                  <a:srgbClr val="2B6CB0"/>
                </a:solidFill>
                <a:latin typeface="Aptos" pitchFamily="34" charset="0"/>
                <a:ea typeface="Aptos" pitchFamily="34" charset="-122"/>
                <a:cs typeface="Aptos" pitchFamily="34" charset="-120"/>
              </a:rPr>
              <a:t>TANGKAPAN LAYAR DASHBOARD</a:t>
            </a:r>
            <a:endParaRPr lang="en-US" sz="720" dirty="0"/>
          </a:p>
        </p:txBody>
      </p:sp>
      <p:sp>
        <p:nvSpPr>
          <p:cNvPr id="6" name="Shape 4"/>
          <p:cNvSpPr/>
          <p:nvPr/>
        </p:nvSpPr>
        <p:spPr>
          <a:xfrm>
            <a:off x="612648" y="1444752"/>
            <a:ext cx="7543800" cy="4279392"/>
          </a:xfrm>
          <a:prstGeom prst="roundRect">
            <a:avLst>
              <a:gd name="adj" fmla="val 1709"/>
            </a:avLst>
          </a:prstGeom>
          <a:solidFill>
            <a:srgbClr val="FFFFFF"/>
          </a:solidFill>
          <a:ln w="10160">
            <a:solidFill>
              <a:srgbClr val="C8D8D1"/>
            </a:solidFill>
            <a:prstDash val="solid"/>
          </a:ln>
          <a:effectLst>
            <a:outerShdw sx="100000" sy="100000" kx="0" ky="0" algn="bl" rotWithShape="0" blurRad="12700" dist="12700" dir="2700000">
              <a:srgbClr val="86958E">
                <a:alpha val="10000"/>
              </a:srgbClr>
            </a:outerShdw>
          </a:effectLst>
        </p:spPr>
      </p:sp>
      <p:pic>
        <p:nvPicPr>
          <p:cNvPr id="7" name="Image 0" descr="/mnt/data/rendered_final/slide-8.png">    </p:cNvPr>
          <p:cNvPicPr>
            <a:picLocks noChangeAspect="1"/>
          </p:cNvPicPr>
          <p:nvPr/>
        </p:nvPicPr>
        <p:blipFill>
          <a:blip r:embed="rId1"/>
          <a:stretch>
            <a:fillRect/>
          </a:stretch>
        </p:blipFill>
        <p:spPr>
          <a:xfrm>
            <a:off x="661924" y="1490472"/>
            <a:ext cx="7445248" cy="4187952"/>
          </a:xfrm>
          <a:prstGeom prst="rect">
            <a:avLst/>
          </a:prstGeom>
        </p:spPr>
      </p:pic>
      <p:sp>
        <p:nvSpPr>
          <p:cNvPr id="8" name="Shape 5"/>
          <p:cNvSpPr/>
          <p:nvPr/>
        </p:nvSpPr>
        <p:spPr>
          <a:xfrm>
            <a:off x="8412480" y="1490472"/>
            <a:ext cx="3063240" cy="1874520"/>
          </a:xfrm>
          <a:prstGeom prst="roundRect">
            <a:avLst>
              <a:gd name="adj" fmla="val 3902"/>
            </a:avLst>
          </a:prstGeom>
          <a:solidFill>
            <a:srgbClr val="F0F7F4"/>
          </a:solidFill>
          <a:ln w="10160">
            <a:solidFill>
              <a:srgbClr val="CBE4D7"/>
            </a:solidFill>
            <a:prstDash val="solid"/>
          </a:ln>
        </p:spPr>
      </p:sp>
      <p:sp>
        <p:nvSpPr>
          <p:cNvPr id="9" name="Text 6"/>
          <p:cNvSpPr/>
          <p:nvPr/>
        </p:nvSpPr>
        <p:spPr>
          <a:xfrm>
            <a:off x="8558784" y="1591056"/>
            <a:ext cx="2770632" cy="201168"/>
          </a:xfrm>
          <a:prstGeom prst="rect">
            <a:avLst/>
          </a:prstGeom>
          <a:noFill/>
          <a:ln/>
        </p:spPr>
        <p:txBody>
          <a:bodyPr wrap="square" lIns="0" tIns="0" rIns="0" bIns="0" rtlCol="0" anchor="ctr">
            <a:normAutofit/>
          </a:bodyPr>
          <a:lstStyle/>
          <a:p>
            <a:pPr indent="0" marL="0">
              <a:buNone/>
            </a:pPr>
            <a:r>
              <a:rPr lang="en-US" sz="880" b="1" dirty="0">
                <a:solidFill>
                  <a:srgbClr val="2B6CB0"/>
                </a:solidFill>
                <a:latin typeface="Aptos" pitchFamily="34" charset="0"/>
                <a:ea typeface="Aptos" pitchFamily="34" charset="-122"/>
                <a:cs typeface="Aptos" pitchFamily="34" charset="-120"/>
              </a:rPr>
              <a:t>Analisis utama</a:t>
            </a:r>
            <a:endParaRPr lang="en-US" sz="880" dirty="0"/>
          </a:p>
        </p:txBody>
      </p:sp>
      <p:sp>
        <p:nvSpPr>
          <p:cNvPr id="10" name="Text 7"/>
          <p:cNvSpPr/>
          <p:nvPr/>
        </p:nvSpPr>
        <p:spPr>
          <a:xfrm>
            <a:off x="8558784" y="1847088"/>
            <a:ext cx="2770632" cy="143560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Tahun terbaik adalah 2010 dengan rata-rata ISPU 60.8; tahun terburuk adalah 2018 dengan rata-rata ISPU 120.4. Tren menunjukkan fluktuasi antar tahun sehingga evaluasi perlu memperhatikan konteks data dan jumlah observasi.</a:t>
            </a:r>
            <a:endParaRPr lang="en-US" sz="980" dirty="0"/>
          </a:p>
        </p:txBody>
      </p:sp>
      <p:sp>
        <p:nvSpPr>
          <p:cNvPr id="11" name="Shape 8"/>
          <p:cNvSpPr/>
          <p:nvPr/>
        </p:nvSpPr>
        <p:spPr>
          <a:xfrm>
            <a:off x="8412480" y="3611880"/>
            <a:ext cx="3063240" cy="2057400"/>
          </a:xfrm>
          <a:prstGeom prst="roundRect">
            <a:avLst>
              <a:gd name="adj" fmla="val 3556"/>
            </a:avLst>
          </a:prstGeom>
          <a:solidFill>
            <a:srgbClr val="FDF1EF"/>
          </a:solidFill>
          <a:ln w="10160">
            <a:solidFill>
              <a:srgbClr val="CBE4D7"/>
            </a:solidFill>
            <a:prstDash val="solid"/>
          </a:ln>
        </p:spPr>
      </p:sp>
      <p:sp>
        <p:nvSpPr>
          <p:cNvPr id="12" name="Text 9"/>
          <p:cNvSpPr/>
          <p:nvPr/>
        </p:nvSpPr>
        <p:spPr>
          <a:xfrm>
            <a:off x="8558784" y="3712464"/>
            <a:ext cx="2770632" cy="201168"/>
          </a:xfrm>
          <a:prstGeom prst="rect">
            <a:avLst/>
          </a:prstGeom>
          <a:noFill/>
          <a:ln/>
        </p:spPr>
        <p:txBody>
          <a:bodyPr wrap="square" lIns="0" tIns="0" rIns="0" bIns="0" rtlCol="0" anchor="ctr">
            <a:normAutofit/>
          </a:bodyPr>
          <a:lstStyle/>
          <a:p>
            <a:pPr indent="0" marL="0">
              <a:buNone/>
            </a:pPr>
            <a:r>
              <a:rPr lang="en-US" sz="880" b="1" dirty="0">
                <a:solidFill>
                  <a:srgbClr val="C34632"/>
                </a:solidFill>
                <a:latin typeface="Aptos" pitchFamily="34" charset="0"/>
                <a:ea typeface="Aptos" pitchFamily="34" charset="-122"/>
                <a:cs typeface="Aptos" pitchFamily="34" charset="-120"/>
              </a:rPr>
              <a:t>Insight yang dihasilkan</a:t>
            </a:r>
            <a:endParaRPr lang="en-US" sz="880" dirty="0"/>
          </a:p>
        </p:txBody>
      </p:sp>
      <p:sp>
        <p:nvSpPr>
          <p:cNvPr id="13" name="Text 10"/>
          <p:cNvSpPr/>
          <p:nvPr/>
        </p:nvSpPr>
        <p:spPr>
          <a:xfrm>
            <a:off x="8558784" y="3968496"/>
            <a:ext cx="2770632" cy="16184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Gunakan tren bulanan/tahunan sebagai trigger evaluasi program: ketika rata-rata tahunan dan % hari tidak sehat naik, aktifkan audit sumber emisi dan komunikasi risiko.</a:t>
            </a:r>
            <a:endParaRPr lang="en-US" sz="980" dirty="0"/>
          </a:p>
        </p:txBody>
      </p:sp>
      <p:sp>
        <p:nvSpPr>
          <p:cNvPr id="14" name="Text 11"/>
          <p:cNvSpPr/>
          <p:nvPr/>
        </p:nvSpPr>
        <p:spPr>
          <a:xfrm>
            <a:off x="685800" y="5852160"/>
            <a:ext cx="7223760" cy="256032"/>
          </a:xfrm>
          <a:prstGeom prst="rect">
            <a:avLst/>
          </a:prstGeom>
          <a:noFill/>
          <a:ln/>
        </p:spPr>
        <p:txBody>
          <a:bodyPr wrap="square" lIns="254" tIns="254" rIns="254" bIns="254" rtlCol="0" anchor="t">
            <a:normAutofit/>
          </a:bodyPr>
          <a:lstStyle/>
          <a:p>
            <a:pPr algn="l" indent="0" marL="0">
              <a:buNone/>
            </a:pPr>
            <a:r>
              <a:rPr lang="en-US" sz="740" dirty="0">
                <a:solidFill>
                  <a:srgbClr val="58706A"/>
                </a:solidFill>
                <a:latin typeface="Aptos" pitchFamily="34" charset="0"/>
                <a:ea typeface="Aptos" pitchFamily="34" charset="-122"/>
                <a:cs typeface="Aptos" pitchFamily="34" charset="-120"/>
              </a:rPr>
              <a:t>Catatan: visualisasi di atas merepresentasikan dashboard interaktif; filter dashboard dapat disesuaikan menurut tanggal, stasiun, kategori, dan parameter pencemar.</a:t>
            </a:r>
            <a:endParaRPr lang="en-US" sz="74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7 — TEMUAN DASHBOARD</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Dashboard 3 — Perbandingan Antar Stasiun</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Text 3"/>
          <p:cNvSpPr/>
          <p:nvPr/>
        </p:nvSpPr>
        <p:spPr>
          <a:xfrm>
            <a:off x="658368" y="1261872"/>
            <a:ext cx="2194560" cy="164592"/>
          </a:xfrm>
          <a:prstGeom prst="rect">
            <a:avLst/>
          </a:prstGeom>
          <a:noFill/>
          <a:ln/>
        </p:spPr>
        <p:txBody>
          <a:bodyPr wrap="square" lIns="0" tIns="0" rIns="0" bIns="0" rtlCol="0" anchor="ctr">
            <a:normAutofit/>
          </a:bodyPr>
          <a:lstStyle/>
          <a:p>
            <a:pPr indent="0" marL="0">
              <a:buNone/>
            </a:pPr>
            <a:r>
              <a:rPr lang="en-US" sz="720" b="1" dirty="0">
                <a:solidFill>
                  <a:srgbClr val="D68A00"/>
                </a:solidFill>
                <a:latin typeface="Aptos" pitchFamily="34" charset="0"/>
                <a:ea typeface="Aptos" pitchFamily="34" charset="-122"/>
                <a:cs typeface="Aptos" pitchFamily="34" charset="-120"/>
              </a:rPr>
              <a:t>TANGKAPAN LAYAR DASHBOARD</a:t>
            </a:r>
            <a:endParaRPr lang="en-US" sz="720" dirty="0"/>
          </a:p>
        </p:txBody>
      </p:sp>
      <p:sp>
        <p:nvSpPr>
          <p:cNvPr id="6" name="Shape 4"/>
          <p:cNvSpPr/>
          <p:nvPr/>
        </p:nvSpPr>
        <p:spPr>
          <a:xfrm>
            <a:off x="612648" y="1444752"/>
            <a:ext cx="7543800" cy="4279392"/>
          </a:xfrm>
          <a:prstGeom prst="roundRect">
            <a:avLst>
              <a:gd name="adj" fmla="val 1709"/>
            </a:avLst>
          </a:prstGeom>
          <a:solidFill>
            <a:srgbClr val="FFFFFF"/>
          </a:solidFill>
          <a:ln w="10160">
            <a:solidFill>
              <a:srgbClr val="C8D8D1"/>
            </a:solidFill>
            <a:prstDash val="solid"/>
          </a:ln>
          <a:effectLst>
            <a:outerShdw sx="100000" sy="100000" kx="0" ky="0" algn="bl" rotWithShape="0" blurRad="12700" dist="12700" dir="2700000">
              <a:srgbClr val="86958E">
                <a:alpha val="10000"/>
              </a:srgbClr>
            </a:outerShdw>
          </a:effectLst>
        </p:spPr>
      </p:sp>
      <p:pic>
        <p:nvPicPr>
          <p:cNvPr id="7" name="Image 0" descr="/mnt/data/rendered_final/slide-9.png">    </p:cNvPr>
          <p:cNvPicPr>
            <a:picLocks noChangeAspect="1"/>
          </p:cNvPicPr>
          <p:nvPr/>
        </p:nvPicPr>
        <p:blipFill>
          <a:blip r:embed="rId1"/>
          <a:stretch>
            <a:fillRect/>
          </a:stretch>
        </p:blipFill>
        <p:spPr>
          <a:xfrm>
            <a:off x="661924" y="1490472"/>
            <a:ext cx="7445248" cy="4187952"/>
          </a:xfrm>
          <a:prstGeom prst="rect">
            <a:avLst/>
          </a:prstGeom>
        </p:spPr>
      </p:pic>
      <p:sp>
        <p:nvSpPr>
          <p:cNvPr id="8" name="Shape 5"/>
          <p:cNvSpPr/>
          <p:nvPr/>
        </p:nvSpPr>
        <p:spPr>
          <a:xfrm>
            <a:off x="8412480" y="1490472"/>
            <a:ext cx="3063240" cy="1874520"/>
          </a:xfrm>
          <a:prstGeom prst="roundRect">
            <a:avLst>
              <a:gd name="adj" fmla="val 3902"/>
            </a:avLst>
          </a:prstGeom>
          <a:solidFill>
            <a:srgbClr val="F0F7F4"/>
          </a:solidFill>
          <a:ln w="10160">
            <a:solidFill>
              <a:srgbClr val="CBE4D7"/>
            </a:solidFill>
            <a:prstDash val="solid"/>
          </a:ln>
        </p:spPr>
      </p:sp>
      <p:sp>
        <p:nvSpPr>
          <p:cNvPr id="9" name="Text 6"/>
          <p:cNvSpPr/>
          <p:nvPr/>
        </p:nvSpPr>
        <p:spPr>
          <a:xfrm>
            <a:off x="8558784" y="1591056"/>
            <a:ext cx="2770632" cy="201168"/>
          </a:xfrm>
          <a:prstGeom prst="rect">
            <a:avLst/>
          </a:prstGeom>
          <a:noFill/>
          <a:ln/>
        </p:spPr>
        <p:txBody>
          <a:bodyPr wrap="square" lIns="0" tIns="0" rIns="0" bIns="0" rtlCol="0" anchor="ctr">
            <a:normAutofit/>
          </a:bodyPr>
          <a:lstStyle/>
          <a:p>
            <a:pPr indent="0" marL="0">
              <a:buNone/>
            </a:pPr>
            <a:r>
              <a:rPr lang="en-US" sz="880" b="1" dirty="0">
                <a:solidFill>
                  <a:srgbClr val="D68A00"/>
                </a:solidFill>
                <a:latin typeface="Aptos" pitchFamily="34" charset="0"/>
                <a:ea typeface="Aptos" pitchFamily="34" charset="-122"/>
                <a:cs typeface="Aptos" pitchFamily="34" charset="-120"/>
              </a:rPr>
              <a:t>Analisis utama</a:t>
            </a:r>
            <a:endParaRPr lang="en-US" sz="880" dirty="0"/>
          </a:p>
        </p:txBody>
      </p:sp>
      <p:sp>
        <p:nvSpPr>
          <p:cNvPr id="10" name="Text 7"/>
          <p:cNvSpPr/>
          <p:nvPr/>
        </p:nvSpPr>
        <p:spPr>
          <a:xfrm>
            <a:off x="8558784" y="1847088"/>
            <a:ext cx="2770632" cy="143560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Stasiun dengan rata-rata ISPU tertinggi adalah DKI2 Kelapa Gading (88.2), sedangkan terendah DKI1 Bunderan HI (65). DKI4 Lubang Buaya memiliki proporsi hari tidak sehat tertinggi (23.1%).</a:t>
            </a:r>
            <a:endParaRPr lang="en-US" sz="980" dirty="0"/>
          </a:p>
        </p:txBody>
      </p:sp>
      <p:sp>
        <p:nvSpPr>
          <p:cNvPr id="11" name="Shape 8"/>
          <p:cNvSpPr/>
          <p:nvPr/>
        </p:nvSpPr>
        <p:spPr>
          <a:xfrm>
            <a:off x="8412480" y="3611880"/>
            <a:ext cx="3063240" cy="2057400"/>
          </a:xfrm>
          <a:prstGeom prst="roundRect">
            <a:avLst>
              <a:gd name="adj" fmla="val 3556"/>
            </a:avLst>
          </a:prstGeom>
          <a:solidFill>
            <a:srgbClr val="FDF1EF"/>
          </a:solidFill>
          <a:ln w="10160">
            <a:solidFill>
              <a:srgbClr val="CBE4D7"/>
            </a:solidFill>
            <a:prstDash val="solid"/>
          </a:ln>
        </p:spPr>
      </p:sp>
      <p:sp>
        <p:nvSpPr>
          <p:cNvPr id="12" name="Text 9"/>
          <p:cNvSpPr/>
          <p:nvPr/>
        </p:nvSpPr>
        <p:spPr>
          <a:xfrm>
            <a:off x="8558784" y="3712464"/>
            <a:ext cx="2770632" cy="201168"/>
          </a:xfrm>
          <a:prstGeom prst="rect">
            <a:avLst/>
          </a:prstGeom>
          <a:noFill/>
          <a:ln/>
        </p:spPr>
        <p:txBody>
          <a:bodyPr wrap="square" lIns="0" tIns="0" rIns="0" bIns="0" rtlCol="0" anchor="ctr">
            <a:normAutofit/>
          </a:bodyPr>
          <a:lstStyle/>
          <a:p>
            <a:pPr indent="0" marL="0">
              <a:buNone/>
            </a:pPr>
            <a:r>
              <a:rPr lang="en-US" sz="880" b="1" dirty="0">
                <a:solidFill>
                  <a:srgbClr val="C34632"/>
                </a:solidFill>
                <a:latin typeface="Aptos" pitchFamily="34" charset="0"/>
                <a:ea typeface="Aptos" pitchFamily="34" charset="-122"/>
                <a:cs typeface="Aptos" pitchFamily="34" charset="-120"/>
              </a:rPr>
              <a:t>Insight yang dihasilkan</a:t>
            </a:r>
            <a:endParaRPr lang="en-US" sz="880" dirty="0"/>
          </a:p>
        </p:txBody>
      </p:sp>
      <p:sp>
        <p:nvSpPr>
          <p:cNvPr id="13" name="Text 10"/>
          <p:cNvSpPr/>
          <p:nvPr/>
        </p:nvSpPr>
        <p:spPr>
          <a:xfrm>
            <a:off x="8558784" y="3968496"/>
            <a:ext cx="2770632" cy="16184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Prioritaskan inspeksi dan pengendalian sumber pencemar pada area yang direpresentasikan stasiun dengan rata-rata ISPU dan proporsi hari tidak sehat tertinggi.</a:t>
            </a:r>
            <a:endParaRPr lang="en-US" sz="980" dirty="0"/>
          </a:p>
        </p:txBody>
      </p:sp>
      <p:sp>
        <p:nvSpPr>
          <p:cNvPr id="14" name="Text 11"/>
          <p:cNvSpPr/>
          <p:nvPr/>
        </p:nvSpPr>
        <p:spPr>
          <a:xfrm>
            <a:off x="685800" y="5852160"/>
            <a:ext cx="7223760" cy="256032"/>
          </a:xfrm>
          <a:prstGeom prst="rect">
            <a:avLst/>
          </a:prstGeom>
          <a:noFill/>
          <a:ln/>
        </p:spPr>
        <p:txBody>
          <a:bodyPr wrap="square" lIns="254" tIns="254" rIns="254" bIns="254" rtlCol="0" anchor="t">
            <a:normAutofit/>
          </a:bodyPr>
          <a:lstStyle/>
          <a:p>
            <a:pPr algn="l" indent="0" marL="0">
              <a:buNone/>
            </a:pPr>
            <a:r>
              <a:rPr lang="en-US" sz="740" dirty="0">
                <a:solidFill>
                  <a:srgbClr val="58706A"/>
                </a:solidFill>
                <a:latin typeface="Aptos" pitchFamily="34" charset="0"/>
                <a:ea typeface="Aptos" pitchFamily="34" charset="-122"/>
                <a:cs typeface="Aptos" pitchFamily="34" charset="-120"/>
              </a:rPr>
              <a:t>Catatan: visualisasi di atas merepresentasikan dashboard interaktif; filter dashboard dapat disesuaikan menurut tanggal, stasiun, kategori, dan parameter pencemar.</a:t>
            </a:r>
            <a:endParaRPr lang="en-US" sz="74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8 — TEMUAN DASHBOARD</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Dashboard 4 — Parameter Pencemar Kritis</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Text 3"/>
          <p:cNvSpPr/>
          <p:nvPr/>
        </p:nvSpPr>
        <p:spPr>
          <a:xfrm>
            <a:off x="658368" y="1261872"/>
            <a:ext cx="2194560" cy="164592"/>
          </a:xfrm>
          <a:prstGeom prst="rect">
            <a:avLst/>
          </a:prstGeom>
          <a:noFill/>
          <a:ln/>
        </p:spPr>
        <p:txBody>
          <a:bodyPr wrap="square" lIns="0" tIns="0" rIns="0" bIns="0" rtlCol="0" anchor="ctr">
            <a:normAutofit/>
          </a:bodyPr>
          <a:lstStyle/>
          <a:p>
            <a:pPr indent="0" marL="0">
              <a:buNone/>
            </a:pPr>
            <a:r>
              <a:rPr lang="en-US" sz="720" b="1" dirty="0">
                <a:solidFill>
                  <a:srgbClr val="C34632"/>
                </a:solidFill>
                <a:latin typeface="Aptos" pitchFamily="34" charset="0"/>
                <a:ea typeface="Aptos" pitchFamily="34" charset="-122"/>
                <a:cs typeface="Aptos" pitchFamily="34" charset="-120"/>
              </a:rPr>
              <a:t>TANGKAPAN LAYAR DASHBOARD</a:t>
            </a:r>
            <a:endParaRPr lang="en-US" sz="720" dirty="0"/>
          </a:p>
        </p:txBody>
      </p:sp>
      <p:sp>
        <p:nvSpPr>
          <p:cNvPr id="6" name="Shape 4"/>
          <p:cNvSpPr/>
          <p:nvPr/>
        </p:nvSpPr>
        <p:spPr>
          <a:xfrm>
            <a:off x="612648" y="1444752"/>
            <a:ext cx="7543800" cy="4279392"/>
          </a:xfrm>
          <a:prstGeom prst="roundRect">
            <a:avLst>
              <a:gd name="adj" fmla="val 1709"/>
            </a:avLst>
          </a:prstGeom>
          <a:solidFill>
            <a:srgbClr val="FFFFFF"/>
          </a:solidFill>
          <a:ln w="10160">
            <a:solidFill>
              <a:srgbClr val="C8D8D1"/>
            </a:solidFill>
            <a:prstDash val="solid"/>
          </a:ln>
          <a:effectLst>
            <a:outerShdw sx="100000" sy="100000" kx="0" ky="0" algn="bl" rotWithShape="0" blurRad="12700" dist="12700" dir="2700000">
              <a:srgbClr val="86958E">
                <a:alpha val="10000"/>
              </a:srgbClr>
            </a:outerShdw>
          </a:effectLst>
        </p:spPr>
      </p:sp>
      <p:pic>
        <p:nvPicPr>
          <p:cNvPr id="7" name="Image 0" descr="/mnt/data/rendered_final/slide-10.png">    </p:cNvPr>
          <p:cNvPicPr>
            <a:picLocks noChangeAspect="1"/>
          </p:cNvPicPr>
          <p:nvPr/>
        </p:nvPicPr>
        <p:blipFill>
          <a:blip r:embed="rId1"/>
          <a:stretch>
            <a:fillRect/>
          </a:stretch>
        </p:blipFill>
        <p:spPr>
          <a:xfrm>
            <a:off x="661924" y="1490472"/>
            <a:ext cx="7445248" cy="4187952"/>
          </a:xfrm>
          <a:prstGeom prst="rect">
            <a:avLst/>
          </a:prstGeom>
        </p:spPr>
      </p:pic>
      <p:sp>
        <p:nvSpPr>
          <p:cNvPr id="8" name="Shape 5"/>
          <p:cNvSpPr/>
          <p:nvPr/>
        </p:nvSpPr>
        <p:spPr>
          <a:xfrm>
            <a:off x="8412480" y="1490472"/>
            <a:ext cx="3063240" cy="1874520"/>
          </a:xfrm>
          <a:prstGeom prst="roundRect">
            <a:avLst>
              <a:gd name="adj" fmla="val 3902"/>
            </a:avLst>
          </a:prstGeom>
          <a:solidFill>
            <a:srgbClr val="F0F7F4"/>
          </a:solidFill>
          <a:ln w="10160">
            <a:solidFill>
              <a:srgbClr val="CBE4D7"/>
            </a:solidFill>
            <a:prstDash val="solid"/>
          </a:ln>
        </p:spPr>
      </p:sp>
      <p:sp>
        <p:nvSpPr>
          <p:cNvPr id="9" name="Text 6"/>
          <p:cNvSpPr/>
          <p:nvPr/>
        </p:nvSpPr>
        <p:spPr>
          <a:xfrm>
            <a:off x="8558784" y="1591056"/>
            <a:ext cx="2770632" cy="201168"/>
          </a:xfrm>
          <a:prstGeom prst="rect">
            <a:avLst/>
          </a:prstGeom>
          <a:noFill/>
          <a:ln/>
        </p:spPr>
        <p:txBody>
          <a:bodyPr wrap="square" lIns="0" tIns="0" rIns="0" bIns="0" rtlCol="0" anchor="ctr">
            <a:normAutofit/>
          </a:bodyPr>
          <a:lstStyle/>
          <a:p>
            <a:pPr indent="0" marL="0">
              <a:buNone/>
            </a:pPr>
            <a:r>
              <a:rPr lang="en-US" sz="880" b="1" dirty="0">
                <a:solidFill>
                  <a:srgbClr val="C34632"/>
                </a:solidFill>
                <a:latin typeface="Aptos" pitchFamily="34" charset="0"/>
                <a:ea typeface="Aptos" pitchFamily="34" charset="-122"/>
                <a:cs typeface="Aptos" pitchFamily="34" charset="-120"/>
              </a:rPr>
              <a:t>Analisis utama</a:t>
            </a:r>
            <a:endParaRPr lang="en-US" sz="880" dirty="0"/>
          </a:p>
        </p:txBody>
      </p:sp>
      <p:sp>
        <p:nvSpPr>
          <p:cNvPr id="10" name="Text 7"/>
          <p:cNvSpPr/>
          <p:nvPr/>
        </p:nvSpPr>
        <p:spPr>
          <a:xfrm>
            <a:off x="8558784" y="1847088"/>
            <a:ext cx="2770632" cy="143560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O3 paling sering menjadi pencemar dominan (44.3%), diikuti PM2.5 (29.3%) dan PM10 (22.7%). Namun PM2.5 harus dibaca bersama coverage karena 62.2% datanya missing.</a:t>
            </a:r>
            <a:endParaRPr lang="en-US" sz="980" dirty="0"/>
          </a:p>
        </p:txBody>
      </p:sp>
      <p:sp>
        <p:nvSpPr>
          <p:cNvPr id="11" name="Shape 8"/>
          <p:cNvSpPr/>
          <p:nvPr/>
        </p:nvSpPr>
        <p:spPr>
          <a:xfrm>
            <a:off x="8412480" y="3611880"/>
            <a:ext cx="3063240" cy="2057400"/>
          </a:xfrm>
          <a:prstGeom prst="roundRect">
            <a:avLst>
              <a:gd name="adj" fmla="val 3556"/>
            </a:avLst>
          </a:prstGeom>
          <a:solidFill>
            <a:srgbClr val="FDF1EF"/>
          </a:solidFill>
          <a:ln w="10160">
            <a:solidFill>
              <a:srgbClr val="CBE4D7"/>
            </a:solidFill>
            <a:prstDash val="solid"/>
          </a:ln>
        </p:spPr>
      </p:sp>
      <p:sp>
        <p:nvSpPr>
          <p:cNvPr id="12" name="Text 9"/>
          <p:cNvSpPr/>
          <p:nvPr/>
        </p:nvSpPr>
        <p:spPr>
          <a:xfrm>
            <a:off x="8558784" y="3712464"/>
            <a:ext cx="2770632" cy="201168"/>
          </a:xfrm>
          <a:prstGeom prst="rect">
            <a:avLst/>
          </a:prstGeom>
          <a:noFill/>
          <a:ln/>
        </p:spPr>
        <p:txBody>
          <a:bodyPr wrap="square" lIns="0" tIns="0" rIns="0" bIns="0" rtlCol="0" anchor="ctr">
            <a:normAutofit/>
          </a:bodyPr>
          <a:lstStyle/>
          <a:p>
            <a:pPr indent="0" marL="0">
              <a:buNone/>
            </a:pPr>
            <a:r>
              <a:rPr lang="en-US" sz="880" b="1" dirty="0">
                <a:solidFill>
                  <a:srgbClr val="C34632"/>
                </a:solidFill>
                <a:latin typeface="Aptos" pitchFamily="34" charset="0"/>
                <a:ea typeface="Aptos" pitchFamily="34" charset="-122"/>
                <a:cs typeface="Aptos" pitchFamily="34" charset="-120"/>
              </a:rPr>
              <a:t>Insight yang dihasilkan</a:t>
            </a:r>
            <a:endParaRPr lang="en-US" sz="880" dirty="0"/>
          </a:p>
        </p:txBody>
      </p:sp>
      <p:sp>
        <p:nvSpPr>
          <p:cNvPr id="13" name="Text 10"/>
          <p:cNvSpPr/>
          <p:nvPr/>
        </p:nvSpPr>
        <p:spPr>
          <a:xfrm>
            <a:off x="8558784" y="3968496"/>
            <a:ext cx="2770632" cy="16184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Intervensi perlu spesifik parameter: O3 memerlukan evaluasi prekursor emisi, sedangkan PM2.5 perlu dibaca pada periode data tersedia dan dilengkapi dengan peningkatan cakupan pengukuran.</a:t>
            </a:r>
            <a:endParaRPr lang="en-US" sz="980" dirty="0"/>
          </a:p>
        </p:txBody>
      </p:sp>
      <p:sp>
        <p:nvSpPr>
          <p:cNvPr id="14" name="Text 11"/>
          <p:cNvSpPr/>
          <p:nvPr/>
        </p:nvSpPr>
        <p:spPr>
          <a:xfrm>
            <a:off x="685800" y="5852160"/>
            <a:ext cx="7223760" cy="256032"/>
          </a:xfrm>
          <a:prstGeom prst="rect">
            <a:avLst/>
          </a:prstGeom>
          <a:noFill/>
          <a:ln/>
        </p:spPr>
        <p:txBody>
          <a:bodyPr wrap="square" lIns="254" tIns="254" rIns="254" bIns="254" rtlCol="0" anchor="t">
            <a:normAutofit/>
          </a:bodyPr>
          <a:lstStyle/>
          <a:p>
            <a:pPr algn="l" indent="0" marL="0">
              <a:buNone/>
            </a:pPr>
            <a:r>
              <a:rPr lang="en-US" sz="740" dirty="0">
                <a:solidFill>
                  <a:srgbClr val="58706A"/>
                </a:solidFill>
                <a:latin typeface="Aptos" pitchFamily="34" charset="0"/>
                <a:ea typeface="Aptos" pitchFamily="34" charset="-122"/>
                <a:cs typeface="Aptos" pitchFamily="34" charset="-120"/>
              </a:rPr>
              <a:t>Catatan: visualisasi di atas merepresentasikan dashboard interaktif; filter dashboard dapat disesuaikan menurut tanggal, stasiun, kategori, dan parameter pencemar.</a:t>
            </a:r>
            <a:endParaRPr lang="en-US" sz="74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9 — TEMUAN DASHBOARD</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Dashboard 5 — Pola Musiman</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Text 3"/>
          <p:cNvSpPr/>
          <p:nvPr/>
        </p:nvSpPr>
        <p:spPr>
          <a:xfrm>
            <a:off x="658368" y="1261872"/>
            <a:ext cx="2194560" cy="164592"/>
          </a:xfrm>
          <a:prstGeom prst="rect">
            <a:avLst/>
          </a:prstGeom>
          <a:noFill/>
          <a:ln/>
        </p:spPr>
        <p:txBody>
          <a:bodyPr wrap="square" lIns="0" tIns="0" rIns="0" bIns="0" rtlCol="0" anchor="ctr">
            <a:normAutofit/>
          </a:bodyPr>
          <a:lstStyle/>
          <a:p>
            <a:pPr indent="0" marL="0">
              <a:buNone/>
            </a:pPr>
            <a:r>
              <a:rPr lang="en-US" sz="720" b="1" dirty="0">
                <a:solidFill>
                  <a:srgbClr val="197A5D"/>
                </a:solidFill>
                <a:latin typeface="Aptos" pitchFamily="34" charset="0"/>
                <a:ea typeface="Aptos" pitchFamily="34" charset="-122"/>
                <a:cs typeface="Aptos" pitchFamily="34" charset="-120"/>
              </a:rPr>
              <a:t>TANGKAPAN LAYAR DASHBOARD</a:t>
            </a:r>
            <a:endParaRPr lang="en-US" sz="720" dirty="0"/>
          </a:p>
        </p:txBody>
      </p:sp>
      <p:sp>
        <p:nvSpPr>
          <p:cNvPr id="6" name="Shape 4"/>
          <p:cNvSpPr/>
          <p:nvPr/>
        </p:nvSpPr>
        <p:spPr>
          <a:xfrm>
            <a:off x="612648" y="1444752"/>
            <a:ext cx="7543800" cy="4279392"/>
          </a:xfrm>
          <a:prstGeom prst="roundRect">
            <a:avLst>
              <a:gd name="adj" fmla="val 1709"/>
            </a:avLst>
          </a:prstGeom>
          <a:solidFill>
            <a:srgbClr val="FFFFFF"/>
          </a:solidFill>
          <a:ln w="10160">
            <a:solidFill>
              <a:srgbClr val="C8D8D1"/>
            </a:solidFill>
            <a:prstDash val="solid"/>
          </a:ln>
          <a:effectLst>
            <a:outerShdw sx="100000" sy="100000" kx="0" ky="0" algn="bl" rotWithShape="0" blurRad="12700" dist="12700" dir="2700000">
              <a:srgbClr val="86958E">
                <a:alpha val="10000"/>
              </a:srgbClr>
            </a:outerShdw>
          </a:effectLst>
        </p:spPr>
      </p:sp>
      <p:pic>
        <p:nvPicPr>
          <p:cNvPr id="7" name="Image 0" descr="/mnt/data/rendered_final/slide-12.png">    </p:cNvPr>
          <p:cNvPicPr>
            <a:picLocks noChangeAspect="1"/>
          </p:cNvPicPr>
          <p:nvPr/>
        </p:nvPicPr>
        <p:blipFill>
          <a:blip r:embed="rId1"/>
          <a:stretch>
            <a:fillRect/>
          </a:stretch>
        </p:blipFill>
        <p:spPr>
          <a:xfrm>
            <a:off x="661924" y="1490472"/>
            <a:ext cx="7445248" cy="4187952"/>
          </a:xfrm>
          <a:prstGeom prst="rect">
            <a:avLst/>
          </a:prstGeom>
        </p:spPr>
      </p:pic>
      <p:sp>
        <p:nvSpPr>
          <p:cNvPr id="8" name="Shape 5"/>
          <p:cNvSpPr/>
          <p:nvPr/>
        </p:nvSpPr>
        <p:spPr>
          <a:xfrm>
            <a:off x="8412480" y="1490472"/>
            <a:ext cx="3063240" cy="1874520"/>
          </a:xfrm>
          <a:prstGeom prst="roundRect">
            <a:avLst>
              <a:gd name="adj" fmla="val 3902"/>
            </a:avLst>
          </a:prstGeom>
          <a:solidFill>
            <a:srgbClr val="F0F7F4"/>
          </a:solidFill>
          <a:ln w="10160">
            <a:solidFill>
              <a:srgbClr val="CBE4D7"/>
            </a:solidFill>
            <a:prstDash val="solid"/>
          </a:ln>
        </p:spPr>
      </p:sp>
      <p:sp>
        <p:nvSpPr>
          <p:cNvPr id="9" name="Text 6"/>
          <p:cNvSpPr/>
          <p:nvPr/>
        </p:nvSpPr>
        <p:spPr>
          <a:xfrm>
            <a:off x="8558784" y="1591056"/>
            <a:ext cx="2770632" cy="201168"/>
          </a:xfrm>
          <a:prstGeom prst="rect">
            <a:avLst/>
          </a:prstGeom>
          <a:noFill/>
          <a:ln/>
        </p:spPr>
        <p:txBody>
          <a:bodyPr wrap="square" lIns="0" tIns="0" rIns="0" bIns="0" rtlCol="0" anchor="ctr">
            <a:normAutofit/>
          </a:bodyPr>
          <a:lstStyle/>
          <a:p>
            <a:pPr indent="0" marL="0">
              <a:buNone/>
            </a:pPr>
            <a:r>
              <a:rPr lang="en-US" sz="880" b="1" dirty="0">
                <a:solidFill>
                  <a:srgbClr val="197A5D"/>
                </a:solidFill>
                <a:latin typeface="Aptos" pitchFamily="34" charset="0"/>
                <a:ea typeface="Aptos" pitchFamily="34" charset="-122"/>
                <a:cs typeface="Aptos" pitchFamily="34" charset="-120"/>
              </a:rPr>
              <a:t>Analisis utama</a:t>
            </a:r>
            <a:endParaRPr lang="en-US" sz="880" dirty="0"/>
          </a:p>
        </p:txBody>
      </p:sp>
      <p:sp>
        <p:nvSpPr>
          <p:cNvPr id="10" name="Text 7"/>
          <p:cNvSpPr/>
          <p:nvPr/>
        </p:nvSpPr>
        <p:spPr>
          <a:xfrm>
            <a:off x="8558784" y="1847088"/>
            <a:ext cx="2770632" cy="143560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Rata-rata ISPU tertinggi terjadi pada bulan Okt (89.7) dengan 25.4% hari tidak sehat. Bulan dengan rata-rata terendah adalah Jan (62.6).</a:t>
            </a:r>
            <a:endParaRPr lang="en-US" sz="980" dirty="0"/>
          </a:p>
        </p:txBody>
      </p:sp>
      <p:sp>
        <p:nvSpPr>
          <p:cNvPr id="11" name="Shape 8"/>
          <p:cNvSpPr/>
          <p:nvPr/>
        </p:nvSpPr>
        <p:spPr>
          <a:xfrm>
            <a:off x="8412480" y="3611880"/>
            <a:ext cx="3063240" cy="2057400"/>
          </a:xfrm>
          <a:prstGeom prst="roundRect">
            <a:avLst>
              <a:gd name="adj" fmla="val 3556"/>
            </a:avLst>
          </a:prstGeom>
          <a:solidFill>
            <a:srgbClr val="FDF1EF"/>
          </a:solidFill>
          <a:ln w="10160">
            <a:solidFill>
              <a:srgbClr val="CBE4D7"/>
            </a:solidFill>
            <a:prstDash val="solid"/>
          </a:ln>
        </p:spPr>
      </p:sp>
      <p:sp>
        <p:nvSpPr>
          <p:cNvPr id="12" name="Text 9"/>
          <p:cNvSpPr/>
          <p:nvPr/>
        </p:nvSpPr>
        <p:spPr>
          <a:xfrm>
            <a:off x="8558784" y="3712464"/>
            <a:ext cx="2770632" cy="201168"/>
          </a:xfrm>
          <a:prstGeom prst="rect">
            <a:avLst/>
          </a:prstGeom>
          <a:noFill/>
          <a:ln/>
        </p:spPr>
        <p:txBody>
          <a:bodyPr wrap="square" lIns="0" tIns="0" rIns="0" bIns="0" rtlCol="0" anchor="ctr">
            <a:normAutofit/>
          </a:bodyPr>
          <a:lstStyle/>
          <a:p>
            <a:pPr indent="0" marL="0">
              <a:buNone/>
            </a:pPr>
            <a:r>
              <a:rPr lang="en-US" sz="880" b="1" dirty="0">
                <a:solidFill>
                  <a:srgbClr val="C34632"/>
                </a:solidFill>
                <a:latin typeface="Aptos" pitchFamily="34" charset="0"/>
                <a:ea typeface="Aptos" pitchFamily="34" charset="-122"/>
                <a:cs typeface="Aptos" pitchFamily="34" charset="-120"/>
              </a:rPr>
              <a:t>Insight yang dihasilkan</a:t>
            </a:r>
            <a:endParaRPr lang="en-US" sz="880" dirty="0"/>
          </a:p>
        </p:txBody>
      </p:sp>
      <p:sp>
        <p:nvSpPr>
          <p:cNvPr id="13" name="Text 10"/>
          <p:cNvSpPr/>
          <p:nvPr/>
        </p:nvSpPr>
        <p:spPr>
          <a:xfrm>
            <a:off x="8558784" y="3968496"/>
            <a:ext cx="2770632" cy="16184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Susun kalender intervensi sebelum periode risiko tinggi, terutama menjelang September–November, melalui inspeksi sumber emisi, pengendalian debu/konstruksi, dan komunikasi risiko kesehatan.</a:t>
            </a:r>
            <a:endParaRPr lang="en-US" sz="980" dirty="0"/>
          </a:p>
        </p:txBody>
      </p:sp>
      <p:sp>
        <p:nvSpPr>
          <p:cNvPr id="14" name="Text 11"/>
          <p:cNvSpPr/>
          <p:nvPr/>
        </p:nvSpPr>
        <p:spPr>
          <a:xfrm>
            <a:off x="685800" y="5852160"/>
            <a:ext cx="7223760" cy="256032"/>
          </a:xfrm>
          <a:prstGeom prst="rect">
            <a:avLst/>
          </a:prstGeom>
          <a:noFill/>
          <a:ln/>
        </p:spPr>
        <p:txBody>
          <a:bodyPr wrap="square" lIns="254" tIns="254" rIns="254" bIns="254" rtlCol="0" anchor="t">
            <a:normAutofit/>
          </a:bodyPr>
          <a:lstStyle/>
          <a:p>
            <a:pPr algn="l" indent="0" marL="0">
              <a:buNone/>
            </a:pPr>
            <a:r>
              <a:rPr lang="en-US" sz="740" dirty="0">
                <a:solidFill>
                  <a:srgbClr val="58706A"/>
                </a:solidFill>
                <a:latin typeface="Aptos" pitchFamily="34" charset="0"/>
                <a:ea typeface="Aptos" pitchFamily="34" charset="-122"/>
                <a:cs typeface="Aptos" pitchFamily="34" charset="-120"/>
              </a:rPr>
              <a:t>Catatan: visualisasi di atas merepresentasikan dashboard interaktif; filter dashboard dapat disesuaikan menurut tanggal, stasiun, kategori, dan parameter pencemar.</a:t>
            </a:r>
            <a:endParaRPr lang="en-US" sz="74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566928" y="301752"/>
            <a:ext cx="4114800" cy="182880"/>
          </a:xfrm>
          <a:prstGeom prst="rect">
            <a:avLst/>
          </a:prstGeom>
          <a:noFill/>
          <a:ln/>
        </p:spPr>
        <p:txBody>
          <a:bodyPr wrap="square" lIns="0" tIns="0" rIns="0" bIns="0" rtlCol="0" anchor="ctr"/>
          <a:lstStyle/>
          <a:p>
            <a:pPr indent="0" marL="0">
              <a:buNone/>
            </a:pPr>
            <a:r>
              <a:rPr lang="en-US" sz="800" b="1" dirty="0">
                <a:solidFill>
                  <a:srgbClr val="197A5D"/>
                </a:solidFill>
                <a:latin typeface="Aptos" pitchFamily="34" charset="0"/>
                <a:ea typeface="Aptos" pitchFamily="34" charset="-122"/>
                <a:cs typeface="Aptos" pitchFamily="34" charset="-120"/>
              </a:rPr>
              <a:t>SLIDE 10</a:t>
            </a:r>
            <a:endParaRPr lang="en-US" sz="800" dirty="0"/>
          </a:p>
        </p:txBody>
      </p:sp>
      <p:sp>
        <p:nvSpPr>
          <p:cNvPr id="3" name="Text 1"/>
          <p:cNvSpPr/>
          <p:nvPr/>
        </p:nvSpPr>
        <p:spPr>
          <a:xfrm>
            <a:off x="548640" y="530352"/>
            <a:ext cx="10972800" cy="502920"/>
          </a:xfrm>
          <a:prstGeom prst="rect">
            <a:avLst/>
          </a:prstGeom>
          <a:noFill/>
          <a:ln/>
        </p:spPr>
        <p:txBody>
          <a:bodyPr wrap="square" lIns="0" tIns="0" rIns="0" bIns="0" rtlCol="0" anchor="ctr">
            <a:normAutofit/>
          </a:bodyPr>
          <a:lstStyle/>
          <a:p>
            <a:pPr indent="0" marL="0">
              <a:buNone/>
            </a:pPr>
            <a:r>
              <a:rPr lang="en-US" sz="2500" b="1" dirty="0">
                <a:solidFill>
                  <a:srgbClr val="14342C"/>
                </a:solidFill>
                <a:latin typeface="Aptos Display" pitchFamily="34" charset="0"/>
                <a:ea typeface="Aptos Display" pitchFamily="34" charset="-122"/>
                <a:cs typeface="Aptos Display" pitchFamily="34" charset="-120"/>
              </a:rPr>
              <a:t>Kesimpulan &amp; Rekomendasi Kebijakan</a:t>
            </a:r>
            <a:endParaRPr lang="en-US" sz="2500" dirty="0"/>
          </a:p>
        </p:txBody>
      </p:sp>
      <p:sp>
        <p:nvSpPr>
          <p:cNvPr id="4" name="Shape 2"/>
          <p:cNvSpPr/>
          <p:nvPr/>
        </p:nvSpPr>
        <p:spPr>
          <a:xfrm>
            <a:off x="548640" y="1106424"/>
            <a:ext cx="11064240" cy="0"/>
          </a:xfrm>
          <a:prstGeom prst="line">
            <a:avLst/>
          </a:prstGeom>
          <a:noFill/>
          <a:ln w="12700">
            <a:solidFill>
              <a:srgbClr val="DCE7E1"/>
            </a:solidFill>
            <a:prstDash val="solid"/>
          </a:ln>
        </p:spPr>
      </p:sp>
      <p:sp>
        <p:nvSpPr>
          <p:cNvPr id="5" name="Text 3"/>
          <p:cNvSpPr/>
          <p:nvPr/>
        </p:nvSpPr>
        <p:spPr>
          <a:xfrm>
            <a:off x="713232" y="1261872"/>
            <a:ext cx="2743200" cy="164592"/>
          </a:xfrm>
          <a:prstGeom prst="rect">
            <a:avLst/>
          </a:prstGeom>
          <a:noFill/>
          <a:ln/>
        </p:spPr>
        <p:txBody>
          <a:bodyPr wrap="square" lIns="0" tIns="0" rIns="0" bIns="0" rtlCol="0" anchor="ctr">
            <a:normAutofit/>
          </a:bodyPr>
          <a:lstStyle/>
          <a:p>
            <a:pPr indent="0" marL="0">
              <a:buNone/>
            </a:pPr>
            <a:r>
              <a:rPr lang="en-US" sz="720" b="1" dirty="0">
                <a:solidFill>
                  <a:srgbClr val="197A5D"/>
                </a:solidFill>
                <a:latin typeface="Aptos" pitchFamily="34" charset="0"/>
                <a:ea typeface="Aptos" pitchFamily="34" charset="-122"/>
                <a:cs typeface="Aptos" pitchFamily="34" charset="-120"/>
              </a:rPr>
              <a:t>INSIGHT UTAMA BERBASIS DATA</a:t>
            </a:r>
            <a:endParaRPr lang="en-US" sz="720" dirty="0"/>
          </a:p>
        </p:txBody>
      </p:sp>
      <p:sp>
        <p:nvSpPr>
          <p:cNvPr id="6" name="Shape 4"/>
          <p:cNvSpPr/>
          <p:nvPr/>
        </p:nvSpPr>
        <p:spPr>
          <a:xfrm>
            <a:off x="749808" y="1609344"/>
            <a:ext cx="1600200" cy="1143000"/>
          </a:xfrm>
          <a:prstGeom prst="roundRect">
            <a:avLst>
              <a:gd name="adj" fmla="val 6400"/>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7" name="Text 5"/>
          <p:cNvSpPr/>
          <p:nvPr/>
        </p:nvSpPr>
        <p:spPr>
          <a:xfrm>
            <a:off x="896112" y="1719072"/>
            <a:ext cx="1307592" cy="384048"/>
          </a:xfrm>
          <a:prstGeom prst="rect">
            <a:avLst/>
          </a:prstGeom>
          <a:noFill/>
          <a:ln/>
        </p:spPr>
        <p:txBody>
          <a:bodyPr wrap="square" lIns="0" tIns="0" rIns="0" bIns="0" rtlCol="0" anchor="ctr">
            <a:normAutofit/>
          </a:bodyPr>
          <a:lstStyle/>
          <a:p>
            <a:pPr indent="0" marL="0">
              <a:buNone/>
            </a:pPr>
            <a:r>
              <a:rPr lang="en-US" sz="2100" b="1" dirty="0">
                <a:solidFill>
                  <a:srgbClr val="C34632"/>
                </a:solidFill>
                <a:latin typeface="Aptos Display" pitchFamily="34" charset="0"/>
                <a:ea typeface="Aptos Display" pitchFamily="34" charset="-122"/>
                <a:cs typeface="Aptos Display" pitchFamily="34" charset="-120"/>
              </a:rPr>
              <a:t>17.6%</a:t>
            </a:r>
            <a:endParaRPr lang="en-US" sz="2100" dirty="0"/>
          </a:p>
        </p:txBody>
      </p:sp>
      <p:sp>
        <p:nvSpPr>
          <p:cNvPr id="8" name="Text 6"/>
          <p:cNvSpPr/>
          <p:nvPr/>
        </p:nvSpPr>
        <p:spPr>
          <a:xfrm>
            <a:off x="896112" y="2130552"/>
            <a:ext cx="130759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hari tidak sehat</a:t>
            </a:r>
            <a:endParaRPr lang="en-US" sz="870" dirty="0"/>
          </a:p>
        </p:txBody>
      </p:sp>
      <p:sp>
        <p:nvSpPr>
          <p:cNvPr id="9" name="Text 7"/>
          <p:cNvSpPr/>
          <p:nvPr/>
        </p:nvSpPr>
        <p:spPr>
          <a:xfrm>
            <a:off x="896112" y="2414016"/>
            <a:ext cx="1307592" cy="164592"/>
          </a:xfrm>
          <a:prstGeom prst="rect">
            <a:avLst/>
          </a:prstGeom>
          <a:noFill/>
          <a:ln/>
        </p:spPr>
        <p:txBody>
          <a:bodyPr wrap="square" lIns="0" tIns="0" rIns="0" bIns="0"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Kategori TIDAK SEHAT atau lebih buruk masih signifikan.</a:t>
            </a:r>
            <a:endParaRPr lang="en-US" sz="680" dirty="0"/>
          </a:p>
        </p:txBody>
      </p:sp>
      <p:sp>
        <p:nvSpPr>
          <p:cNvPr id="10" name="Shape 8"/>
          <p:cNvSpPr/>
          <p:nvPr/>
        </p:nvSpPr>
        <p:spPr>
          <a:xfrm>
            <a:off x="2624328" y="1609344"/>
            <a:ext cx="1600200" cy="1143000"/>
          </a:xfrm>
          <a:prstGeom prst="roundRect">
            <a:avLst>
              <a:gd name="adj" fmla="val 6400"/>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11" name="Text 9"/>
          <p:cNvSpPr/>
          <p:nvPr/>
        </p:nvSpPr>
        <p:spPr>
          <a:xfrm>
            <a:off x="2770632" y="1719072"/>
            <a:ext cx="1307592" cy="384048"/>
          </a:xfrm>
          <a:prstGeom prst="rect">
            <a:avLst/>
          </a:prstGeom>
          <a:noFill/>
          <a:ln/>
        </p:spPr>
        <p:txBody>
          <a:bodyPr wrap="square" lIns="0" tIns="0" rIns="0" bIns="0" rtlCol="0" anchor="ctr">
            <a:normAutofit/>
          </a:bodyPr>
          <a:lstStyle/>
          <a:p>
            <a:pPr indent="0" marL="0">
              <a:buNone/>
            </a:pPr>
            <a:r>
              <a:rPr lang="en-US" sz="2100" b="1" dirty="0">
                <a:solidFill>
                  <a:srgbClr val="197A5D"/>
                </a:solidFill>
                <a:latin typeface="Aptos Display" pitchFamily="34" charset="0"/>
                <a:ea typeface="Aptos Display" pitchFamily="34" charset="-122"/>
                <a:cs typeface="Aptos Display" pitchFamily="34" charset="-120"/>
              </a:rPr>
              <a:t>88.2</a:t>
            </a:r>
            <a:endParaRPr lang="en-US" sz="2100" dirty="0"/>
          </a:p>
        </p:txBody>
      </p:sp>
      <p:sp>
        <p:nvSpPr>
          <p:cNvPr id="12" name="Text 10"/>
          <p:cNvSpPr/>
          <p:nvPr/>
        </p:nvSpPr>
        <p:spPr>
          <a:xfrm>
            <a:off x="2770632" y="2130552"/>
            <a:ext cx="130759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ISPU rata-rata tertinggi</a:t>
            </a:r>
            <a:endParaRPr lang="en-US" sz="870" dirty="0"/>
          </a:p>
        </p:txBody>
      </p:sp>
      <p:sp>
        <p:nvSpPr>
          <p:cNvPr id="13" name="Text 11"/>
          <p:cNvSpPr/>
          <p:nvPr/>
        </p:nvSpPr>
        <p:spPr>
          <a:xfrm>
            <a:off x="2770632" y="2414016"/>
            <a:ext cx="1307592" cy="164592"/>
          </a:xfrm>
          <a:prstGeom prst="rect">
            <a:avLst/>
          </a:prstGeom>
          <a:noFill/>
          <a:ln/>
        </p:spPr>
        <p:txBody>
          <a:bodyPr wrap="square" lIns="0" tIns="0" rIns="0" bIns="0"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DKI2 Kelapa Gading menjadi prioritas lokasi.</a:t>
            </a:r>
            <a:endParaRPr lang="en-US" sz="680" dirty="0"/>
          </a:p>
        </p:txBody>
      </p:sp>
      <p:sp>
        <p:nvSpPr>
          <p:cNvPr id="14" name="Shape 12"/>
          <p:cNvSpPr/>
          <p:nvPr/>
        </p:nvSpPr>
        <p:spPr>
          <a:xfrm>
            <a:off x="4498848" y="1609344"/>
            <a:ext cx="1600200" cy="1143000"/>
          </a:xfrm>
          <a:prstGeom prst="roundRect">
            <a:avLst>
              <a:gd name="adj" fmla="val 6400"/>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15" name="Text 13"/>
          <p:cNvSpPr/>
          <p:nvPr/>
        </p:nvSpPr>
        <p:spPr>
          <a:xfrm>
            <a:off x="4645152" y="1719072"/>
            <a:ext cx="1307592" cy="384048"/>
          </a:xfrm>
          <a:prstGeom prst="rect">
            <a:avLst/>
          </a:prstGeom>
          <a:noFill/>
          <a:ln/>
        </p:spPr>
        <p:txBody>
          <a:bodyPr wrap="square" lIns="0" tIns="0" rIns="0" bIns="0" rtlCol="0" anchor="ctr">
            <a:normAutofit/>
          </a:bodyPr>
          <a:lstStyle/>
          <a:p>
            <a:pPr indent="0" marL="0">
              <a:buNone/>
            </a:pPr>
            <a:r>
              <a:rPr lang="en-US" sz="2100" b="1" dirty="0">
                <a:solidFill>
                  <a:srgbClr val="D68A00"/>
                </a:solidFill>
                <a:latin typeface="Aptos Display" pitchFamily="34" charset="0"/>
                <a:ea typeface="Aptos Display" pitchFamily="34" charset="-122"/>
                <a:cs typeface="Aptos Display" pitchFamily="34" charset="-120"/>
              </a:rPr>
              <a:t>89.7</a:t>
            </a:r>
            <a:endParaRPr lang="en-US" sz="2100" dirty="0"/>
          </a:p>
        </p:txBody>
      </p:sp>
      <p:sp>
        <p:nvSpPr>
          <p:cNvPr id="16" name="Text 14"/>
          <p:cNvSpPr/>
          <p:nvPr/>
        </p:nvSpPr>
        <p:spPr>
          <a:xfrm>
            <a:off x="4645152" y="2130552"/>
            <a:ext cx="130759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puncak musiman</a:t>
            </a:r>
            <a:endParaRPr lang="en-US" sz="870" dirty="0"/>
          </a:p>
        </p:txBody>
      </p:sp>
      <p:sp>
        <p:nvSpPr>
          <p:cNvPr id="17" name="Text 15"/>
          <p:cNvSpPr/>
          <p:nvPr/>
        </p:nvSpPr>
        <p:spPr>
          <a:xfrm>
            <a:off x="4645152" y="2414016"/>
            <a:ext cx="1307592" cy="164592"/>
          </a:xfrm>
          <a:prstGeom prst="rect">
            <a:avLst/>
          </a:prstGeom>
          <a:noFill/>
          <a:ln/>
        </p:spPr>
        <p:txBody>
          <a:bodyPr wrap="square" lIns="0" tIns="0" rIns="0" bIns="0"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Bulan Okt dengan ${summary.peak_month_unhealthy_pct}% hari tidak sehat.</a:t>
            </a:r>
            <a:endParaRPr lang="en-US" sz="680" dirty="0"/>
          </a:p>
        </p:txBody>
      </p:sp>
      <p:sp>
        <p:nvSpPr>
          <p:cNvPr id="18" name="Shape 16"/>
          <p:cNvSpPr/>
          <p:nvPr/>
        </p:nvSpPr>
        <p:spPr>
          <a:xfrm>
            <a:off x="6373368" y="1609344"/>
            <a:ext cx="1600200" cy="1143000"/>
          </a:xfrm>
          <a:prstGeom prst="roundRect">
            <a:avLst>
              <a:gd name="adj" fmla="val 6400"/>
            </a:avLst>
          </a:prstGeom>
          <a:solidFill>
            <a:srgbClr val="FFFFFF"/>
          </a:solidFill>
          <a:ln w="10160">
            <a:solidFill>
              <a:srgbClr val="DDEAE4"/>
            </a:solidFill>
            <a:prstDash val="solid"/>
          </a:ln>
          <a:effectLst>
            <a:outerShdw sx="100000" sy="100000" kx="0" ky="0" algn="bl" rotWithShape="0" blurRad="12700" dist="12700" dir="2700000">
              <a:srgbClr val="86958E">
                <a:alpha val="10000"/>
              </a:srgbClr>
            </a:outerShdw>
          </a:effectLst>
        </p:spPr>
      </p:sp>
      <p:sp>
        <p:nvSpPr>
          <p:cNvPr id="19" name="Text 17"/>
          <p:cNvSpPr/>
          <p:nvPr/>
        </p:nvSpPr>
        <p:spPr>
          <a:xfrm>
            <a:off x="6519672" y="1719072"/>
            <a:ext cx="1307592" cy="384048"/>
          </a:xfrm>
          <a:prstGeom prst="rect">
            <a:avLst/>
          </a:prstGeom>
          <a:noFill/>
          <a:ln/>
        </p:spPr>
        <p:txBody>
          <a:bodyPr wrap="square" lIns="0" tIns="0" rIns="0" bIns="0" rtlCol="0" anchor="ctr">
            <a:normAutofit/>
          </a:bodyPr>
          <a:lstStyle/>
          <a:p>
            <a:pPr indent="0" marL="0">
              <a:buNone/>
            </a:pPr>
            <a:r>
              <a:rPr lang="en-US" sz="2100" b="1" dirty="0">
                <a:solidFill>
                  <a:srgbClr val="2B6CB0"/>
                </a:solidFill>
                <a:latin typeface="Aptos Display" pitchFamily="34" charset="0"/>
                <a:ea typeface="Aptos Display" pitchFamily="34" charset="-122"/>
                <a:cs typeface="Aptos Display" pitchFamily="34" charset="-120"/>
              </a:rPr>
              <a:t>44.3%</a:t>
            </a:r>
            <a:endParaRPr lang="en-US" sz="2100" dirty="0"/>
          </a:p>
        </p:txBody>
      </p:sp>
      <p:sp>
        <p:nvSpPr>
          <p:cNvPr id="20" name="Text 18"/>
          <p:cNvSpPr/>
          <p:nvPr/>
        </p:nvSpPr>
        <p:spPr>
          <a:xfrm>
            <a:off x="6519672" y="2130552"/>
            <a:ext cx="1307592" cy="256032"/>
          </a:xfrm>
          <a:prstGeom prst="rect">
            <a:avLst/>
          </a:prstGeom>
          <a:noFill/>
          <a:ln/>
        </p:spPr>
        <p:txBody>
          <a:bodyPr wrap="square" lIns="0" tIns="0" rIns="0" bIns="0" rtlCol="0" anchor="ctr">
            <a:normAutofit/>
          </a:bodyPr>
          <a:lstStyle/>
          <a:p>
            <a:pPr indent="0" marL="0">
              <a:buNone/>
            </a:pPr>
            <a:r>
              <a:rPr lang="en-US" sz="870" b="1" dirty="0">
                <a:solidFill>
                  <a:srgbClr val="14342C"/>
                </a:solidFill>
                <a:latin typeface="Aptos" pitchFamily="34" charset="0"/>
                <a:ea typeface="Aptos" pitchFamily="34" charset="-122"/>
                <a:cs typeface="Aptos" pitchFamily="34" charset="-120"/>
              </a:rPr>
              <a:t>O3 dominan</a:t>
            </a:r>
            <a:endParaRPr lang="en-US" sz="870" dirty="0"/>
          </a:p>
        </p:txBody>
      </p:sp>
      <p:sp>
        <p:nvSpPr>
          <p:cNvPr id="21" name="Text 19"/>
          <p:cNvSpPr/>
          <p:nvPr/>
        </p:nvSpPr>
        <p:spPr>
          <a:xfrm>
            <a:off x="6519672" y="2414016"/>
            <a:ext cx="1307592" cy="164592"/>
          </a:xfrm>
          <a:prstGeom prst="rect">
            <a:avLst/>
          </a:prstGeom>
          <a:noFill/>
          <a:ln/>
        </p:spPr>
        <p:txBody>
          <a:bodyPr wrap="square" lIns="0" tIns="0" rIns="0" bIns="0"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O3 paling sering menjadi parameter critical.</a:t>
            </a:r>
            <a:endParaRPr lang="en-US" sz="680" dirty="0"/>
          </a:p>
        </p:txBody>
      </p:sp>
      <p:graphicFrame>
        <p:nvGraphicFramePr>
          <p:cNvPr id="22" name="Chart 0" descr=""/>
          <p:cNvGraphicFramePr/>
          <p:nvPr/>
        </p:nvGraphicFramePr>
        <p:xfrm>
          <a:off x="777240" y="2971800"/>
          <a:ext cx="384048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23" name="Chart 1" descr=""/>
          <p:cNvGraphicFramePr/>
          <p:nvPr/>
        </p:nvGraphicFramePr>
        <p:xfrm>
          <a:off x="4892040" y="2971800"/>
          <a:ext cx="3657600" cy="201168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p:nvPr/>
        </p:nvSpPr>
        <p:spPr>
          <a:xfrm>
            <a:off x="8869680" y="1261872"/>
            <a:ext cx="2743200" cy="164592"/>
          </a:xfrm>
          <a:prstGeom prst="rect">
            <a:avLst/>
          </a:prstGeom>
          <a:noFill/>
          <a:ln/>
        </p:spPr>
        <p:txBody>
          <a:bodyPr wrap="square" lIns="0" tIns="0" rIns="0" bIns="0" rtlCol="0" anchor="ctr">
            <a:normAutofit/>
          </a:bodyPr>
          <a:lstStyle/>
          <a:p>
            <a:pPr indent="0" marL="0">
              <a:buNone/>
            </a:pPr>
            <a:r>
              <a:rPr lang="en-US" sz="720" b="1" dirty="0">
                <a:solidFill>
                  <a:srgbClr val="C34632"/>
                </a:solidFill>
                <a:latin typeface="Aptos" pitchFamily="34" charset="0"/>
                <a:ea typeface="Aptos" pitchFamily="34" charset="-122"/>
                <a:cs typeface="Aptos" pitchFamily="34" charset="-120"/>
              </a:rPr>
              <a:t>REKOMENDASI KONKRET UNTUK KEPALA DINAS LH DKI JAKARTA</a:t>
            </a:r>
            <a:endParaRPr lang="en-US" sz="720" dirty="0"/>
          </a:p>
        </p:txBody>
      </p:sp>
      <p:sp>
        <p:nvSpPr>
          <p:cNvPr id="25" name="Shape 21"/>
          <p:cNvSpPr/>
          <p:nvPr/>
        </p:nvSpPr>
        <p:spPr>
          <a:xfrm>
            <a:off x="8869680" y="1572768"/>
            <a:ext cx="2651760" cy="786384"/>
          </a:xfrm>
          <a:prstGeom prst="roundRect">
            <a:avLst>
              <a:gd name="adj" fmla="val 9302"/>
            </a:avLst>
          </a:prstGeom>
          <a:solidFill>
            <a:srgbClr val="FFFFFF"/>
          </a:solidFill>
          <a:ln w="10160">
            <a:solidFill>
              <a:srgbClr val="DDEAE4"/>
            </a:solidFill>
            <a:prstDash val="solid"/>
          </a:ln>
        </p:spPr>
      </p:sp>
      <p:sp>
        <p:nvSpPr>
          <p:cNvPr id="26" name="Shape 22"/>
          <p:cNvSpPr/>
          <p:nvPr/>
        </p:nvSpPr>
        <p:spPr>
          <a:xfrm>
            <a:off x="9034272" y="1737360"/>
            <a:ext cx="310896" cy="310896"/>
          </a:xfrm>
          <a:prstGeom prst="ellipse">
            <a:avLst/>
          </a:prstGeom>
          <a:solidFill>
            <a:srgbClr val="197A5D"/>
          </a:solidFill>
          <a:ln w="12700">
            <a:solidFill>
              <a:srgbClr val="197A5D"/>
            </a:solidFill>
            <a:prstDash val="solid"/>
          </a:ln>
        </p:spPr>
      </p:sp>
      <p:sp>
        <p:nvSpPr>
          <p:cNvPr id="27" name="Text 23"/>
          <p:cNvSpPr/>
          <p:nvPr/>
        </p:nvSpPr>
        <p:spPr>
          <a:xfrm>
            <a:off x="9034272" y="1801368"/>
            <a:ext cx="310896" cy="91440"/>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1</a:t>
            </a:r>
            <a:endParaRPr lang="en-US" sz="750" dirty="0"/>
          </a:p>
        </p:txBody>
      </p:sp>
      <p:sp>
        <p:nvSpPr>
          <p:cNvPr id="28" name="Text 24"/>
          <p:cNvSpPr/>
          <p:nvPr/>
        </p:nvSpPr>
        <p:spPr>
          <a:xfrm>
            <a:off x="9436608" y="1691640"/>
            <a:ext cx="1920240" cy="164592"/>
          </a:xfrm>
          <a:prstGeom prst="rect">
            <a:avLst/>
          </a:prstGeom>
          <a:noFill/>
          <a:ln/>
        </p:spPr>
        <p:txBody>
          <a:bodyPr wrap="square" lIns="0" tIns="0" rIns="0" bIns="0" rtlCol="0" anchor="ctr">
            <a:normAutofit/>
          </a:bodyPr>
          <a:lstStyle/>
          <a:p>
            <a:pPr indent="0" marL="0">
              <a:buNone/>
            </a:pPr>
            <a:r>
              <a:rPr lang="en-US" sz="780" b="1" dirty="0">
                <a:solidFill>
                  <a:srgbClr val="14342C"/>
                </a:solidFill>
                <a:latin typeface="Aptos" pitchFamily="34" charset="0"/>
                <a:ea typeface="Aptos" pitchFamily="34" charset="-122"/>
                <a:cs typeface="Aptos" pitchFamily="34" charset="-120"/>
              </a:rPr>
              <a:t>Aktifkan alert operasional</a:t>
            </a:r>
            <a:endParaRPr lang="en-US" sz="780" dirty="0"/>
          </a:p>
        </p:txBody>
      </p:sp>
      <p:sp>
        <p:nvSpPr>
          <p:cNvPr id="29" name="Text 25"/>
          <p:cNvSpPr/>
          <p:nvPr/>
        </p:nvSpPr>
        <p:spPr>
          <a:xfrm>
            <a:off x="9436608" y="1901952"/>
            <a:ext cx="1920240" cy="310896"/>
          </a:xfrm>
          <a:prstGeom prst="rect">
            <a:avLst/>
          </a:prstGeom>
          <a:noFill/>
          <a:ln/>
        </p:spPr>
        <p:txBody>
          <a:bodyPr wrap="square" lIns="127" tIns="127" rIns="127" bIns="127"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Tindak lanjuti bila ISPU &gt;100 selama ≥2 hari berturut-turut per stasiun; laporan harian ke pimpinan.</a:t>
            </a:r>
            <a:endParaRPr lang="en-US" sz="680" dirty="0"/>
          </a:p>
        </p:txBody>
      </p:sp>
      <p:sp>
        <p:nvSpPr>
          <p:cNvPr id="30" name="Shape 26"/>
          <p:cNvSpPr/>
          <p:nvPr/>
        </p:nvSpPr>
        <p:spPr>
          <a:xfrm>
            <a:off x="8869680" y="2532888"/>
            <a:ext cx="2651760" cy="786384"/>
          </a:xfrm>
          <a:prstGeom prst="roundRect">
            <a:avLst>
              <a:gd name="adj" fmla="val 9302"/>
            </a:avLst>
          </a:prstGeom>
          <a:solidFill>
            <a:srgbClr val="F8FBF9"/>
          </a:solidFill>
          <a:ln w="10160">
            <a:solidFill>
              <a:srgbClr val="DDEAE4"/>
            </a:solidFill>
            <a:prstDash val="solid"/>
          </a:ln>
        </p:spPr>
      </p:sp>
      <p:sp>
        <p:nvSpPr>
          <p:cNvPr id="31" name="Shape 27"/>
          <p:cNvSpPr/>
          <p:nvPr/>
        </p:nvSpPr>
        <p:spPr>
          <a:xfrm>
            <a:off x="9034272" y="2697480"/>
            <a:ext cx="310896" cy="310896"/>
          </a:xfrm>
          <a:prstGeom prst="ellipse">
            <a:avLst/>
          </a:prstGeom>
          <a:solidFill>
            <a:srgbClr val="2B6CB0"/>
          </a:solidFill>
          <a:ln w="12700">
            <a:solidFill>
              <a:srgbClr val="2B6CB0"/>
            </a:solidFill>
            <a:prstDash val="solid"/>
          </a:ln>
        </p:spPr>
      </p:sp>
      <p:sp>
        <p:nvSpPr>
          <p:cNvPr id="32" name="Text 28"/>
          <p:cNvSpPr/>
          <p:nvPr/>
        </p:nvSpPr>
        <p:spPr>
          <a:xfrm>
            <a:off x="9034272" y="2761488"/>
            <a:ext cx="310896" cy="91440"/>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2</a:t>
            </a:r>
            <a:endParaRPr lang="en-US" sz="750" dirty="0"/>
          </a:p>
        </p:txBody>
      </p:sp>
      <p:sp>
        <p:nvSpPr>
          <p:cNvPr id="33" name="Text 29"/>
          <p:cNvSpPr/>
          <p:nvPr/>
        </p:nvSpPr>
        <p:spPr>
          <a:xfrm>
            <a:off x="9436608" y="2651760"/>
            <a:ext cx="1920240" cy="164592"/>
          </a:xfrm>
          <a:prstGeom prst="rect">
            <a:avLst/>
          </a:prstGeom>
          <a:noFill/>
          <a:ln/>
        </p:spPr>
        <p:txBody>
          <a:bodyPr wrap="square" lIns="0" tIns="0" rIns="0" bIns="0" rtlCol="0" anchor="ctr">
            <a:normAutofit/>
          </a:bodyPr>
          <a:lstStyle/>
          <a:p>
            <a:pPr indent="0" marL="0">
              <a:buNone/>
            </a:pPr>
            <a:r>
              <a:rPr lang="en-US" sz="780" b="1" dirty="0">
                <a:solidFill>
                  <a:srgbClr val="14342C"/>
                </a:solidFill>
                <a:latin typeface="Aptos" pitchFamily="34" charset="0"/>
                <a:ea typeface="Aptos" pitchFamily="34" charset="-122"/>
                <a:cs typeface="Aptos" pitchFamily="34" charset="-120"/>
              </a:rPr>
              <a:t>Fokus lokasi prioritas</a:t>
            </a:r>
            <a:endParaRPr lang="en-US" sz="780" dirty="0"/>
          </a:p>
        </p:txBody>
      </p:sp>
      <p:sp>
        <p:nvSpPr>
          <p:cNvPr id="34" name="Text 30"/>
          <p:cNvSpPr/>
          <p:nvPr/>
        </p:nvSpPr>
        <p:spPr>
          <a:xfrm>
            <a:off x="9436608" y="2862072"/>
            <a:ext cx="1920240" cy="310896"/>
          </a:xfrm>
          <a:prstGeom prst="rect">
            <a:avLst/>
          </a:prstGeom>
          <a:noFill/>
          <a:ln/>
        </p:spPr>
        <p:txBody>
          <a:bodyPr wrap="square" lIns="127" tIns="127" rIns="127" bIns="127"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Jadikan DKI2 dan DKI4 sebagai prioritas inspeksi sumber emisi; evaluasi bulanan proporsi hari tidak sehat.</a:t>
            </a:r>
            <a:endParaRPr lang="en-US" sz="680" dirty="0"/>
          </a:p>
        </p:txBody>
      </p:sp>
      <p:sp>
        <p:nvSpPr>
          <p:cNvPr id="35" name="Shape 31"/>
          <p:cNvSpPr/>
          <p:nvPr/>
        </p:nvSpPr>
        <p:spPr>
          <a:xfrm>
            <a:off x="8869680" y="3493008"/>
            <a:ext cx="2651760" cy="786384"/>
          </a:xfrm>
          <a:prstGeom prst="roundRect">
            <a:avLst>
              <a:gd name="adj" fmla="val 9302"/>
            </a:avLst>
          </a:prstGeom>
          <a:solidFill>
            <a:srgbClr val="FFFFFF"/>
          </a:solidFill>
          <a:ln w="10160">
            <a:solidFill>
              <a:srgbClr val="DDEAE4"/>
            </a:solidFill>
            <a:prstDash val="solid"/>
          </a:ln>
        </p:spPr>
      </p:sp>
      <p:sp>
        <p:nvSpPr>
          <p:cNvPr id="36" name="Shape 32"/>
          <p:cNvSpPr/>
          <p:nvPr/>
        </p:nvSpPr>
        <p:spPr>
          <a:xfrm>
            <a:off x="9034272" y="3657600"/>
            <a:ext cx="310896" cy="310896"/>
          </a:xfrm>
          <a:prstGeom prst="ellipse">
            <a:avLst/>
          </a:prstGeom>
          <a:solidFill>
            <a:srgbClr val="D68A00"/>
          </a:solidFill>
          <a:ln w="12700">
            <a:solidFill>
              <a:srgbClr val="D68A00"/>
            </a:solidFill>
            <a:prstDash val="solid"/>
          </a:ln>
        </p:spPr>
      </p:sp>
      <p:sp>
        <p:nvSpPr>
          <p:cNvPr id="37" name="Text 33"/>
          <p:cNvSpPr/>
          <p:nvPr/>
        </p:nvSpPr>
        <p:spPr>
          <a:xfrm>
            <a:off x="9034272" y="3721608"/>
            <a:ext cx="310896" cy="91440"/>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3</a:t>
            </a:r>
            <a:endParaRPr lang="en-US" sz="750" dirty="0"/>
          </a:p>
        </p:txBody>
      </p:sp>
      <p:sp>
        <p:nvSpPr>
          <p:cNvPr id="38" name="Text 34"/>
          <p:cNvSpPr/>
          <p:nvPr/>
        </p:nvSpPr>
        <p:spPr>
          <a:xfrm>
            <a:off x="9436608" y="3611880"/>
            <a:ext cx="1920240" cy="164592"/>
          </a:xfrm>
          <a:prstGeom prst="rect">
            <a:avLst/>
          </a:prstGeom>
          <a:noFill/>
          <a:ln/>
        </p:spPr>
        <p:txBody>
          <a:bodyPr wrap="square" lIns="0" tIns="0" rIns="0" bIns="0" rtlCol="0" anchor="ctr">
            <a:normAutofit/>
          </a:bodyPr>
          <a:lstStyle/>
          <a:p>
            <a:pPr indent="0" marL="0">
              <a:buNone/>
            </a:pPr>
            <a:r>
              <a:rPr lang="en-US" sz="780" b="1" dirty="0">
                <a:solidFill>
                  <a:srgbClr val="14342C"/>
                </a:solidFill>
                <a:latin typeface="Aptos" pitchFamily="34" charset="0"/>
                <a:ea typeface="Aptos" pitchFamily="34" charset="-122"/>
                <a:cs typeface="Aptos" pitchFamily="34" charset="-120"/>
              </a:rPr>
              <a:t>Kalender intervensi musiman</a:t>
            </a:r>
            <a:endParaRPr lang="en-US" sz="780" dirty="0"/>
          </a:p>
        </p:txBody>
      </p:sp>
      <p:sp>
        <p:nvSpPr>
          <p:cNvPr id="39" name="Text 35"/>
          <p:cNvSpPr/>
          <p:nvPr/>
        </p:nvSpPr>
        <p:spPr>
          <a:xfrm>
            <a:off x="9436608" y="3822192"/>
            <a:ext cx="1920240" cy="310896"/>
          </a:xfrm>
          <a:prstGeom prst="rect">
            <a:avLst/>
          </a:prstGeom>
          <a:noFill/>
          <a:ln/>
        </p:spPr>
        <p:txBody>
          <a:bodyPr wrap="square" lIns="127" tIns="127" rIns="127" bIns="127"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Mulai pengendalian pra-musim risiko pada Jul–Nov; target penurunan hari tidak sehat minimal 10% pada periode puncak.</a:t>
            </a:r>
            <a:endParaRPr lang="en-US" sz="680" dirty="0"/>
          </a:p>
        </p:txBody>
      </p:sp>
      <p:sp>
        <p:nvSpPr>
          <p:cNvPr id="40" name="Shape 36"/>
          <p:cNvSpPr/>
          <p:nvPr/>
        </p:nvSpPr>
        <p:spPr>
          <a:xfrm>
            <a:off x="8869680" y="4453128"/>
            <a:ext cx="2651760" cy="786384"/>
          </a:xfrm>
          <a:prstGeom prst="roundRect">
            <a:avLst>
              <a:gd name="adj" fmla="val 9302"/>
            </a:avLst>
          </a:prstGeom>
          <a:solidFill>
            <a:srgbClr val="F8FBF9"/>
          </a:solidFill>
          <a:ln w="10160">
            <a:solidFill>
              <a:srgbClr val="DDEAE4"/>
            </a:solidFill>
            <a:prstDash val="solid"/>
          </a:ln>
        </p:spPr>
      </p:sp>
      <p:sp>
        <p:nvSpPr>
          <p:cNvPr id="41" name="Shape 37"/>
          <p:cNvSpPr/>
          <p:nvPr/>
        </p:nvSpPr>
        <p:spPr>
          <a:xfrm>
            <a:off x="9034272" y="4617720"/>
            <a:ext cx="310896" cy="310896"/>
          </a:xfrm>
          <a:prstGeom prst="ellipse">
            <a:avLst/>
          </a:prstGeom>
          <a:solidFill>
            <a:srgbClr val="C34632"/>
          </a:solidFill>
          <a:ln w="12700">
            <a:solidFill>
              <a:srgbClr val="C34632"/>
            </a:solidFill>
            <a:prstDash val="solid"/>
          </a:ln>
        </p:spPr>
      </p:sp>
      <p:sp>
        <p:nvSpPr>
          <p:cNvPr id="42" name="Text 38"/>
          <p:cNvSpPr/>
          <p:nvPr/>
        </p:nvSpPr>
        <p:spPr>
          <a:xfrm>
            <a:off x="9034272" y="4681728"/>
            <a:ext cx="310896" cy="91440"/>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4</a:t>
            </a:r>
            <a:endParaRPr lang="en-US" sz="750" dirty="0"/>
          </a:p>
        </p:txBody>
      </p:sp>
      <p:sp>
        <p:nvSpPr>
          <p:cNvPr id="43" name="Text 39"/>
          <p:cNvSpPr/>
          <p:nvPr/>
        </p:nvSpPr>
        <p:spPr>
          <a:xfrm>
            <a:off x="9436608" y="4572000"/>
            <a:ext cx="1920240" cy="164592"/>
          </a:xfrm>
          <a:prstGeom prst="rect">
            <a:avLst/>
          </a:prstGeom>
          <a:noFill/>
          <a:ln/>
        </p:spPr>
        <p:txBody>
          <a:bodyPr wrap="square" lIns="0" tIns="0" rIns="0" bIns="0" rtlCol="0" anchor="ctr">
            <a:normAutofit/>
          </a:bodyPr>
          <a:lstStyle/>
          <a:p>
            <a:pPr indent="0" marL="0">
              <a:buNone/>
            </a:pPr>
            <a:r>
              <a:rPr lang="en-US" sz="780" b="1" dirty="0">
                <a:solidFill>
                  <a:srgbClr val="14342C"/>
                </a:solidFill>
                <a:latin typeface="Aptos" pitchFamily="34" charset="0"/>
                <a:ea typeface="Aptos" pitchFamily="34" charset="-122"/>
                <a:cs typeface="Aptos" pitchFamily="34" charset="-120"/>
              </a:rPr>
              <a:t>Perbaiki mutu data PM2.5</a:t>
            </a:r>
            <a:endParaRPr lang="en-US" sz="780" dirty="0"/>
          </a:p>
        </p:txBody>
      </p:sp>
      <p:sp>
        <p:nvSpPr>
          <p:cNvPr id="44" name="Text 40"/>
          <p:cNvSpPr/>
          <p:nvPr/>
        </p:nvSpPr>
        <p:spPr>
          <a:xfrm>
            <a:off x="9436608" y="4782312"/>
            <a:ext cx="1920240" cy="310896"/>
          </a:xfrm>
          <a:prstGeom prst="rect">
            <a:avLst/>
          </a:prstGeom>
          <a:noFill/>
          <a:ln/>
        </p:spPr>
        <p:txBody>
          <a:bodyPr wrap="square" lIns="127" tIns="127" rIns="127" bIns="127" rtlCol="0" anchor="ctr">
            <a:normAutofit/>
          </a:bodyPr>
          <a:lstStyle/>
          <a:p>
            <a:pPr indent="0" marL="0">
              <a:buNone/>
            </a:pPr>
            <a:r>
              <a:rPr lang="en-US" sz="680" dirty="0">
                <a:solidFill>
                  <a:srgbClr val="58706A"/>
                </a:solidFill>
                <a:latin typeface="Aptos" pitchFamily="34" charset="0"/>
                <a:ea typeface="Aptos" pitchFamily="34" charset="-122"/>
                <a:cs typeface="Aptos" pitchFamily="34" charset="-120"/>
              </a:rPr>
              <a:t>Wajibkan monitoring coverage PM2.5 per SPKU; target kelengkapan minimal 95% untuk analisis tahunan.</a:t>
            </a:r>
            <a:endParaRPr lang="en-US" sz="680" dirty="0"/>
          </a:p>
        </p:txBody>
      </p:sp>
      <p:sp>
        <p:nvSpPr>
          <p:cNvPr id="45" name="Shape 41"/>
          <p:cNvSpPr/>
          <p:nvPr/>
        </p:nvSpPr>
        <p:spPr>
          <a:xfrm>
            <a:off x="777240" y="5440680"/>
            <a:ext cx="10652760" cy="685800"/>
          </a:xfrm>
          <a:prstGeom prst="roundRect">
            <a:avLst>
              <a:gd name="adj" fmla="val 10667"/>
            </a:avLst>
          </a:prstGeom>
          <a:solidFill>
            <a:srgbClr val="F0F7F4"/>
          </a:solidFill>
          <a:ln w="10160">
            <a:solidFill>
              <a:srgbClr val="CBE4D7"/>
            </a:solidFill>
            <a:prstDash val="solid"/>
          </a:ln>
        </p:spPr>
      </p:sp>
      <p:sp>
        <p:nvSpPr>
          <p:cNvPr id="46" name="Text 42"/>
          <p:cNvSpPr/>
          <p:nvPr/>
        </p:nvSpPr>
        <p:spPr>
          <a:xfrm>
            <a:off x="923544" y="5541264"/>
            <a:ext cx="10360152" cy="201168"/>
          </a:xfrm>
          <a:prstGeom prst="rect">
            <a:avLst/>
          </a:prstGeom>
          <a:noFill/>
          <a:ln/>
        </p:spPr>
        <p:txBody>
          <a:bodyPr wrap="square" lIns="0" tIns="0" rIns="0" bIns="0" rtlCol="0" anchor="ctr">
            <a:normAutofit/>
          </a:bodyPr>
          <a:lstStyle/>
          <a:p>
            <a:pPr indent="0" marL="0">
              <a:buNone/>
            </a:pPr>
            <a:r>
              <a:rPr lang="en-US" sz="880" b="1" dirty="0">
                <a:solidFill>
                  <a:srgbClr val="197A5D"/>
                </a:solidFill>
                <a:latin typeface="Aptos" pitchFamily="34" charset="0"/>
                <a:ea typeface="Aptos" pitchFamily="34" charset="-122"/>
                <a:cs typeface="Aptos" pitchFamily="34" charset="-120"/>
              </a:rPr>
              <a:t>Keputusan utama</a:t>
            </a:r>
            <a:endParaRPr lang="en-US" sz="880" dirty="0"/>
          </a:p>
        </p:txBody>
      </p:sp>
      <p:sp>
        <p:nvSpPr>
          <p:cNvPr id="47" name="Text 43"/>
          <p:cNvSpPr/>
          <p:nvPr/>
        </p:nvSpPr>
        <p:spPr>
          <a:xfrm>
            <a:off x="923544" y="5797296"/>
            <a:ext cx="10360152" cy="246888"/>
          </a:xfrm>
          <a:prstGeom prst="rect">
            <a:avLst/>
          </a:prstGeom>
          <a:noFill/>
          <a:ln/>
        </p:spPr>
        <p:txBody>
          <a:bodyPr wrap="square" lIns="254" tIns="254" rIns="254" bIns="254" rtlCol="0" anchor="ctr">
            <a:normAutofit/>
          </a:bodyPr>
          <a:lstStyle/>
          <a:p>
            <a:pPr indent="0" marL="0">
              <a:buNone/>
            </a:pPr>
            <a:r>
              <a:rPr lang="en-US" sz="980" dirty="0">
                <a:solidFill>
                  <a:srgbClr val="14342C"/>
                </a:solidFill>
                <a:latin typeface="Aptos" pitchFamily="34" charset="0"/>
                <a:ea typeface="Aptos" pitchFamily="34" charset="-122"/>
                <a:cs typeface="Aptos" pitchFamily="34" charset="-120"/>
              </a:rPr>
              <a:t>Gunakan dashboard sebagai instrumen rapat rutin: pantau KPI harian, evaluasi bulanan, dan prioritaskan intervensi berdasarkan lokasi, waktu, parameter, dan kualitas data.</a:t>
            </a:r>
            <a:endParaRPr lang="en-US" sz="980" dirty="0"/>
          </a:p>
        </p:txBody>
      </p:sp>
      <p:sp>
        <p:nvSpPr>
          <p:cNvPr id="25" name="Slide Number Placeholder 0"/>
          <p:cNvSpPr>
            <a:spLocks noGrp="1"/>
          </p:cNvSpPr>
          <p:nvPr>
            <p:ph type="sldNum" sz="quarter" idx="4294967295"/>
          </p:nvPr>
        </p:nvSpPr>
        <p:spPr>
          <a:xfrm>
            <a:off x="11722608"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7D76"/>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Pusdatin KLH/BPLH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Paparan ISPU DKI Jakarta - Sesuai Ketentuan</dc:title>
  <dc:subject>Paparan Analisis Kualitas Udara ISPU DKI Jakarta</dc:subject>
  <dc:creator>OpenAI</dc:creator>
  <cp:lastModifiedBy>OpenAI</cp:lastModifiedBy>
  <cp:revision>1</cp:revision>
  <dcterms:created xsi:type="dcterms:W3CDTF">2026-06-11T17:04:06Z</dcterms:created>
  <dcterms:modified xsi:type="dcterms:W3CDTF">2026-06-11T17:04:06Z</dcterms:modified>
</cp:coreProperties>
</file>