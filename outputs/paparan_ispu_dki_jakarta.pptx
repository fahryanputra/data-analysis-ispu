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charts/chart1.xml" ContentType="application/vnd.openxmlformats-officedocument.drawingml.chart+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2.xml" ContentType="application/vnd.openxmlformats-officedocument.drawingml.chart+xml"/>
  <Override PartName="/ppt/charts/chart3.xml" ContentType="application/vnd.openxmlformats-officedocument.drawingml.char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
  </p:notesMasterIdLst>
  <p:sldIdLst>
    <p:sldId id="256" r:id="rId2"/>
    <p:sldId id="257" r:id="rId3"/>
    <p:sldId id="258" r:id="rId4"/>
    <p:sldId id="259" r:id="rId5"/>
    <p:sldId id="260" r:id="rId6"/>
    <p:sldId id="261" r:id="rId7"/>
    <p:sldId id="262" r:id="rId8"/>
    <p:sldId id="263" r:id="rId9"/>
    <p:sldId id="264" r:id="rId10"/>
    <p:sldId id="265" r:id="rId11"/>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p:scale>
          <a:sx n="86" d="100"/>
          <a:sy n="86" d="100"/>
        </p:scale>
        <p:origin x="533" y="-8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heme" Target="theme/theme1.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viewProps" Target="viewProp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Jumlah terdampak</c:v>
                </c:pt>
              </c:strCache>
            </c:strRef>
          </c:tx>
          <c:spPr>
            <a:solidFill>
              <a:srgbClr val="197A5D"/>
            </a:solidFill>
            <a:effectLst/>
          </c:spPr>
          <c:invertIfNegative val="0"/>
          <c:cat>
            <c:strRef>
              <c:f>Sheet1!$A$2:$A$6</c:f>
              <c:strCache>
                <c:ptCount val="5"/>
                <c:pt idx="0">
                  <c:v>PM2.5 missing</c:v>
                </c:pt>
                <c:pt idx="1">
                  <c:v>Max mismatch</c:v>
                </c:pt>
                <c:pt idx="2">
                  <c:v>Critical mismatch</c:v>
                </c:pt>
                <c:pt idx="3">
                  <c:v>Tanggal-periode mismatch</c:v>
                </c:pt>
                <c:pt idx="4">
                  <c:v>Duplikat kunci harian-stasiun</c:v>
                </c:pt>
              </c:strCache>
            </c:strRef>
          </c:cat>
          <c:val>
            <c:numRef>
              <c:f>Sheet1!$B$2:$B$6</c:f>
              <c:numCache>
                <c:formatCode>General</c:formatCode>
                <c:ptCount val="5"/>
                <c:pt idx="0">
                  <c:v>9059</c:v>
                </c:pt>
                <c:pt idx="1">
                  <c:v>1378</c:v>
                </c:pt>
                <c:pt idx="2">
                  <c:v>1246</c:v>
                </c:pt>
                <c:pt idx="3">
                  <c:v>172</c:v>
                </c:pt>
                <c:pt idx="4">
                  <c:v>640</c:v>
                </c:pt>
              </c:numCache>
            </c:numRef>
          </c:val>
          <c:extLst>
            <c:ext xmlns:c16="http://schemas.microsoft.com/office/drawing/2014/chart" uri="{C3380CC4-5D6E-409C-BE32-E72D297353CC}">
              <c16:uniqueId val="{00000000-65BD-437D-AFBE-4080FC02F4CC}"/>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majorUnit val="3000"/>
      </c:valAx>
      <c:spPr>
        <a:noFill/>
        <a:ln>
          <a:noFill/>
        </a:ln>
        <a:effectLst/>
      </c:spPr>
    </c:plotArea>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barChart>
        <c:barDir val="col"/>
        <c:grouping val="clustered"/>
        <c:varyColors val="0"/>
        <c:ser>
          <c:idx val="0"/>
          <c:order val="0"/>
          <c:tx>
            <c:strRef>
              <c:f>Sheet1!$B$1</c:f>
              <c:strCache>
                <c:ptCount val="1"/>
                <c:pt idx="0">
                  <c:v>Rata-rata ISPU</c:v>
                </c:pt>
              </c:strCache>
            </c:strRef>
          </c:tx>
          <c:spPr>
            <a:solidFill>
              <a:srgbClr val="197A5D"/>
            </a:solidFill>
            <a:effectLst/>
          </c:spPr>
          <c:invertIfNegative val="0"/>
          <c:cat>
            <c:strRef>
              <c:f>Sheet1!$A$2:$A$6</c:f>
              <c:strCache>
                <c:ptCount val="5"/>
                <c:pt idx="0">
                  <c:v>DKI2
Kelapa Gading</c:v>
                </c:pt>
                <c:pt idx="1">
                  <c:v>DKI5
Kebon Jeruk</c:v>
                </c:pt>
                <c:pt idx="2">
                  <c:v>DKI4
Lubang Buaya</c:v>
                </c:pt>
                <c:pt idx="3">
                  <c:v>DKI3
Jagakarsa</c:v>
                </c:pt>
                <c:pt idx="4">
                  <c:v>DKI1
Bunderan HI</c:v>
                </c:pt>
              </c:strCache>
            </c:strRef>
          </c:cat>
          <c:val>
            <c:numRef>
              <c:f>Sheet1!$B$2:$B$6</c:f>
              <c:numCache>
                <c:formatCode>General</c:formatCode>
                <c:ptCount val="5"/>
                <c:pt idx="0">
                  <c:v>88.2</c:v>
                </c:pt>
                <c:pt idx="1">
                  <c:v>83.4</c:v>
                </c:pt>
                <c:pt idx="2">
                  <c:v>82.5</c:v>
                </c:pt>
                <c:pt idx="3">
                  <c:v>77.2</c:v>
                </c:pt>
                <c:pt idx="4">
                  <c:v>65</c:v>
                </c:pt>
              </c:numCache>
            </c:numRef>
          </c:val>
          <c:extLst>
            <c:ext xmlns:c16="http://schemas.microsoft.com/office/drawing/2014/chart" uri="{C3380CC4-5D6E-409C-BE32-E72D297353CC}">
              <c16:uniqueId val="{00000000-09BA-4ECC-A778-CEB0A42D4F4E}"/>
            </c:ext>
          </c:extLst>
        </c:ser>
        <c:dLbls>
          <c:showLegendKey val="0"/>
          <c:showVal val="0"/>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2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00"/>
          <c:min val="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1"/>
    <c:plotArea>
      <c:layout/>
      <c:lineChart>
        <c:grouping val="standard"/>
        <c:varyColors val="0"/>
        <c:ser>
          <c:idx val="0"/>
          <c:order val="0"/>
          <c:tx>
            <c:strRef>
              <c:f>Sheet1!$B$1</c:f>
              <c:strCache>
                <c:ptCount val="1"/>
                <c:pt idx="0">
                  <c:v>Rata-rata ISPU bulanan</c:v>
                </c:pt>
              </c:strCache>
            </c:strRef>
          </c:tx>
          <c:spPr>
            <a:ln w="25400" cap="flat">
              <a:solidFill>
                <a:srgbClr val="D68A00"/>
              </a:solidFill>
              <a:prstDash val="solid"/>
              <a:round/>
            </a:ln>
            <a:effectLst/>
          </c:spPr>
          <c:marker>
            <c:symbol val="circle"/>
            <c:size val="6"/>
            <c:spPr>
              <a:solidFill>
                <a:srgbClr val="D68A00"/>
              </a:solidFill>
              <a:ln w="9525" cap="flat">
                <a:solidFill>
                  <a:srgbClr val="D68A00"/>
                </a:solidFill>
                <a:prstDash val="solid"/>
                <a:round/>
              </a:ln>
              <a:effectLst/>
            </c:spPr>
          </c:marker>
          <c:cat>
            <c:strRef>
              <c:f>Sheet1!$A$2:$A$13</c:f>
              <c:strCache>
                <c:ptCount val="12"/>
                <c:pt idx="0">
                  <c:v>Jan</c:v>
                </c:pt>
                <c:pt idx="1">
                  <c:v>Feb</c:v>
                </c:pt>
                <c:pt idx="2">
                  <c:v>Mar</c:v>
                </c:pt>
                <c:pt idx="3">
                  <c:v>Apr</c:v>
                </c:pt>
                <c:pt idx="4">
                  <c:v>Mei</c:v>
                </c:pt>
                <c:pt idx="5">
                  <c:v>Jun</c:v>
                </c:pt>
                <c:pt idx="6">
                  <c:v>Jul</c:v>
                </c:pt>
                <c:pt idx="7">
                  <c:v>Agu</c:v>
                </c:pt>
                <c:pt idx="8">
                  <c:v>Sep</c:v>
                </c:pt>
                <c:pt idx="9">
                  <c:v>Okt</c:v>
                </c:pt>
                <c:pt idx="10">
                  <c:v>Nov</c:v>
                </c:pt>
                <c:pt idx="11">
                  <c:v>Des</c:v>
                </c:pt>
              </c:strCache>
            </c:strRef>
          </c:cat>
          <c:val>
            <c:numRef>
              <c:f>Sheet1!$B$2:$B$13</c:f>
              <c:numCache>
                <c:formatCode>General</c:formatCode>
                <c:ptCount val="12"/>
                <c:pt idx="0">
                  <c:v>62.6</c:v>
                </c:pt>
                <c:pt idx="1">
                  <c:v>67.8</c:v>
                </c:pt>
                <c:pt idx="2">
                  <c:v>76.7</c:v>
                </c:pt>
                <c:pt idx="3">
                  <c:v>78.2</c:v>
                </c:pt>
                <c:pt idx="4">
                  <c:v>83.2</c:v>
                </c:pt>
                <c:pt idx="5">
                  <c:v>83.8</c:v>
                </c:pt>
                <c:pt idx="6">
                  <c:v>85.8</c:v>
                </c:pt>
                <c:pt idx="7">
                  <c:v>83.6</c:v>
                </c:pt>
                <c:pt idx="8">
                  <c:v>89.5</c:v>
                </c:pt>
                <c:pt idx="9">
                  <c:v>89.7</c:v>
                </c:pt>
                <c:pt idx="10">
                  <c:v>84.7</c:v>
                </c:pt>
                <c:pt idx="11">
                  <c:v>65.099999999999994</c:v>
                </c:pt>
              </c:numCache>
            </c:numRef>
          </c:val>
          <c:smooth val="0"/>
          <c:extLst>
            <c:ext xmlns:c16="http://schemas.microsoft.com/office/drawing/2014/chart" uri="{C3380CC4-5D6E-409C-BE32-E72D297353CC}">
              <c16:uniqueId val="{00000000-DED6-4F15-95C9-1AD42B1072BE}"/>
            </c:ext>
          </c:extLst>
        </c:ser>
        <c:dLbls>
          <c:showLegendKey val="0"/>
          <c:showVal val="0"/>
          <c:showCatName val="0"/>
          <c:showSerName val="0"/>
          <c:showPercent val="0"/>
          <c:showBubbleSize val="0"/>
        </c:dLbls>
        <c:marker val="1"/>
        <c:smooth val="0"/>
        <c:axId val="2094734554"/>
        <c:axId val="2094734552"/>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650" b="0" i="0" u="none" strike="noStrike">
                <a:solidFill>
                  <a:srgbClr val="000000"/>
                </a:solidFill>
                <a:latin typeface="Aptos"/>
              </a:defRPr>
            </a:pPr>
            <a:endParaRPr lang="en-US"/>
          </a:p>
        </c:txPr>
        <c:crossAx val="2094734552"/>
        <c:crosses val="autoZero"/>
        <c:auto val="1"/>
        <c:lblAlgn val="ctr"/>
        <c:lblOffset val="100"/>
        <c:noMultiLvlLbl val="1"/>
      </c:catAx>
      <c:valAx>
        <c:axId val="2094734552"/>
        <c:scaling>
          <c:orientation val="minMax"/>
          <c:max val="100"/>
          <c:min val="50"/>
        </c:scaling>
        <c:delete val="0"/>
        <c:axPos val="l"/>
        <c:majorGridlines>
          <c:spPr>
            <a:ln w="12700" cap="flat">
              <a:solidFill>
                <a:srgbClr val="88888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700" b="0" i="0" u="none" strike="noStrike">
                <a:solidFill>
                  <a:srgbClr val="000000"/>
                </a:solidFill>
                <a:latin typeface="Aptos"/>
              </a:defRPr>
            </a:pPr>
            <a:endParaRPr lang="en-US"/>
          </a:p>
        </c:txPr>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02376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F7FAF8"/>
        </a:solidFill>
        <a:effectLst/>
      </p:bgPr>
    </p:bg>
    <p:spTree>
      <p:nvGrpSpPr>
        <p:cNvPr id="1" name=""/>
        <p:cNvGrpSpPr/>
        <p:nvPr/>
      </p:nvGrpSpPr>
      <p:grpSpPr>
        <a:xfrm>
          <a:off x="0" y="0"/>
          <a:ext cx="0" cy="0"/>
          <a:chOff x="0" y="0"/>
          <a:chExt cx="0" cy="0"/>
        </a:xfrm>
      </p:grpSpPr>
      <p:sp>
        <p:nvSpPr>
          <p:cNvPr id="2" name="Shape 0"/>
          <p:cNvSpPr/>
          <p:nvPr/>
        </p:nvSpPr>
        <p:spPr>
          <a:xfrm>
            <a:off x="502920" y="6446520"/>
            <a:ext cx="11155680" cy="0"/>
          </a:xfrm>
          <a:prstGeom prst="line">
            <a:avLst/>
          </a:prstGeom>
          <a:noFill/>
          <a:ln w="10160">
            <a:solidFill>
              <a:srgbClr val="DCE7E1"/>
            </a:solidFill>
            <a:prstDash val="solid"/>
          </a:ln>
        </p:spPr>
      </p:sp>
      <p:sp>
        <p:nvSpPr>
          <p:cNvPr id="3" name="Text 1"/>
          <p:cNvSpPr/>
          <p:nvPr/>
        </p:nvSpPr>
        <p:spPr>
          <a:xfrm>
            <a:off x="502920" y="6519672"/>
            <a:ext cx="6217920" cy="164592"/>
          </a:xfrm>
          <a:prstGeom prst="rect">
            <a:avLst/>
          </a:prstGeom>
          <a:noFill/>
          <a:ln/>
        </p:spPr>
        <p:txBody>
          <a:bodyPr wrap="square" lIns="0" tIns="0" rIns="0" bIns="0" rtlCol="0" anchor="ctr"/>
          <a:lstStyle/>
          <a:p>
            <a:pPr marL="0" indent="0">
              <a:buNone/>
            </a:pPr>
            <a:r>
              <a:rPr lang="en-US" sz="650" dirty="0">
                <a:solidFill>
                  <a:srgbClr val="6B7D76"/>
                </a:solidFill>
                <a:latin typeface="Aptos" pitchFamily="34" charset="0"/>
                <a:ea typeface="Aptos" pitchFamily="34" charset="-122"/>
                <a:cs typeface="Aptos" pitchFamily="34" charset="-120"/>
              </a:rPr>
              <a:t>Analisis ISPU DKI Jakarta • Data bersih tervalidasi • Dashboard BI</a:t>
            </a:r>
            <a:endParaRPr lang="en-US" sz="650" dirty="0"/>
          </a:p>
        </p:txBody>
      </p:sp>
      <p:sp>
        <p:nvSpPr>
          <p:cNvPr id="4" name="Text 2"/>
          <p:cNvSpPr/>
          <p:nvPr/>
        </p:nvSpPr>
        <p:spPr>
          <a:xfrm>
            <a:off x="10927080" y="6519672"/>
            <a:ext cx="731520" cy="164592"/>
          </a:xfrm>
          <a:prstGeom prst="rect">
            <a:avLst/>
          </a:prstGeom>
          <a:noFill/>
          <a:ln/>
        </p:spPr>
        <p:txBody>
          <a:bodyPr wrap="square" lIns="0" tIns="0" rIns="0" bIns="0" rtlCol="0" anchor="ctr"/>
          <a:lstStyle/>
          <a:p>
            <a:pPr marL="0" indent="0" algn="r">
              <a:buNone/>
            </a:pPr>
            <a:r>
              <a:rPr lang="en-US" sz="650" dirty="0">
                <a:solidFill>
                  <a:srgbClr val="6B7D76"/>
                </a:solidFill>
                <a:latin typeface="Aptos" pitchFamily="34" charset="0"/>
                <a:ea typeface="Aptos" pitchFamily="34" charset="-122"/>
                <a:cs typeface="Aptos" pitchFamily="34" charset="-120"/>
              </a:rPr>
              <a:t>2026</a:t>
            </a:r>
            <a:endParaRPr lang="en-US" sz="65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chart" Target="../charts/chart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B24"/>
        </a:solidFill>
        <a:effectLst/>
      </p:bgPr>
    </p:bg>
    <p:spTree>
      <p:nvGrpSpPr>
        <p:cNvPr id="1" name=""/>
        <p:cNvGrpSpPr/>
        <p:nvPr/>
      </p:nvGrpSpPr>
      <p:grpSpPr>
        <a:xfrm>
          <a:off x="0" y="0"/>
          <a:ext cx="0" cy="0"/>
          <a:chOff x="0" y="0"/>
          <a:chExt cx="0" cy="0"/>
        </a:xfrm>
      </p:grpSpPr>
      <p:sp>
        <p:nvSpPr>
          <p:cNvPr id="2" name="Text 0"/>
          <p:cNvSpPr/>
          <p:nvPr/>
        </p:nvSpPr>
        <p:spPr>
          <a:xfrm>
            <a:off x="731520" y="1426465"/>
            <a:ext cx="7223760" cy="868680"/>
          </a:xfrm>
          <a:prstGeom prst="rect">
            <a:avLst/>
          </a:prstGeom>
          <a:noFill/>
          <a:ln/>
        </p:spPr>
        <p:txBody>
          <a:bodyPr wrap="square" lIns="0" tIns="0" rIns="0" bIns="0" rtlCol="0" anchor="ctr">
            <a:normAutofit fontScale="92500"/>
          </a:bodyPr>
          <a:lstStyle/>
          <a:p>
            <a:pPr marL="0" indent="0">
              <a:buNone/>
            </a:pPr>
            <a:r>
              <a:rPr lang="en-US" sz="3400" b="1" dirty="0">
                <a:solidFill>
                  <a:srgbClr val="FFFFFF"/>
                </a:solidFill>
                <a:latin typeface="Aptos Display" pitchFamily="34" charset="0"/>
                <a:ea typeface="Aptos Display" pitchFamily="34" charset="-122"/>
                <a:cs typeface="Aptos Display" pitchFamily="34" charset="-120"/>
              </a:rPr>
              <a:t>Analisis Kualitas Udara ISPU DKI Jakarta</a:t>
            </a:r>
            <a:endParaRPr lang="en-US" sz="3400" dirty="0"/>
          </a:p>
        </p:txBody>
      </p:sp>
      <p:sp>
        <p:nvSpPr>
          <p:cNvPr id="4" name="Shape 2"/>
          <p:cNvSpPr/>
          <p:nvPr/>
        </p:nvSpPr>
        <p:spPr>
          <a:xfrm>
            <a:off x="749808" y="2542032"/>
            <a:ext cx="1828800" cy="0"/>
          </a:xfrm>
          <a:prstGeom prst="line">
            <a:avLst/>
          </a:prstGeom>
          <a:noFill/>
          <a:ln w="38100">
            <a:solidFill>
              <a:srgbClr val="2E9D76"/>
            </a:solidFill>
            <a:prstDash val="solid"/>
          </a:ln>
        </p:spPr>
      </p:sp>
      <p:sp>
        <p:nvSpPr>
          <p:cNvPr id="5" name="Text 3"/>
          <p:cNvSpPr/>
          <p:nvPr/>
        </p:nvSpPr>
        <p:spPr>
          <a:xfrm>
            <a:off x="749808" y="2926080"/>
            <a:ext cx="6583680" cy="749808"/>
          </a:xfrm>
          <a:prstGeom prst="rect">
            <a:avLst/>
          </a:prstGeom>
          <a:noFill/>
          <a:ln/>
        </p:spPr>
        <p:txBody>
          <a:bodyPr wrap="square" lIns="254" tIns="254" rIns="254" bIns="254" rtlCol="0" anchor="ctr">
            <a:normAutofit/>
          </a:bodyPr>
          <a:lstStyle/>
          <a:p>
            <a:pPr marL="0" indent="0">
              <a:buNone/>
            </a:pPr>
            <a:r>
              <a:rPr lang="en-US" sz="1250" dirty="0">
                <a:solidFill>
                  <a:srgbClr val="E8F4EF"/>
                </a:solidFill>
                <a:latin typeface="Aptos" pitchFamily="34" charset="0"/>
                <a:ea typeface="Aptos" pitchFamily="34" charset="-122"/>
                <a:cs typeface="Aptos" pitchFamily="34" charset="-120"/>
              </a:rPr>
              <a:t>Disusun untuk mendukung keputusan Kepala Dinas Lingkungan Hidup DKI Jakarta melalui analisis tren, perbandingan stasiun, parameter pencemar dominan, dan pola musiman kualitas udara.</a:t>
            </a:r>
            <a:endParaRPr lang="en-US" sz="1250" dirty="0"/>
          </a:p>
        </p:txBody>
      </p:sp>
      <p:sp>
        <p:nvSpPr>
          <p:cNvPr id="6" name="Shape 4"/>
          <p:cNvSpPr/>
          <p:nvPr/>
        </p:nvSpPr>
        <p:spPr>
          <a:xfrm>
            <a:off x="8183880" y="1234440"/>
            <a:ext cx="3154680" cy="3291840"/>
          </a:xfrm>
          <a:prstGeom prst="roundRect">
            <a:avLst>
              <a:gd name="adj" fmla="val 2319"/>
            </a:avLst>
          </a:prstGeom>
          <a:solidFill>
            <a:srgbClr val="F7FAF8"/>
          </a:solidFill>
          <a:ln w="10160">
            <a:solidFill>
              <a:srgbClr val="2E9D76"/>
            </a:solidFill>
            <a:prstDash val="solid"/>
          </a:ln>
          <a:effectLst>
            <a:outerShdw blurRad="12700" dist="12700" dir="2700000" algn="bl" rotWithShape="0">
              <a:srgbClr val="86958E">
                <a:alpha val="10000"/>
              </a:srgbClr>
            </a:outerShdw>
          </a:effectLst>
        </p:spPr>
      </p:sp>
      <p:sp>
        <p:nvSpPr>
          <p:cNvPr id="7" name="Text 5"/>
          <p:cNvSpPr/>
          <p:nvPr/>
        </p:nvSpPr>
        <p:spPr>
          <a:xfrm>
            <a:off x="8549640" y="1527048"/>
            <a:ext cx="2423160" cy="164592"/>
          </a:xfrm>
          <a:prstGeom prst="rect">
            <a:avLst/>
          </a:prstGeom>
          <a:noFill/>
          <a:ln/>
        </p:spPr>
        <p:txBody>
          <a:bodyPr wrap="square" lIns="0" tIns="0" rIns="0" bIns="0" rtlCol="0" anchor="ctr"/>
          <a:lstStyle/>
          <a:p>
            <a:pPr marL="0" indent="0" algn="ctr">
              <a:buNone/>
            </a:pPr>
            <a:r>
              <a:rPr lang="en-US" sz="1200" b="1" dirty="0">
                <a:solidFill>
                  <a:srgbClr val="197A5D"/>
                </a:solidFill>
                <a:latin typeface="Aptos" pitchFamily="34" charset="0"/>
                <a:ea typeface="Aptos" pitchFamily="34" charset="-122"/>
                <a:cs typeface="Aptos" pitchFamily="34" charset="-120"/>
              </a:rPr>
              <a:t>DATA BERSIH</a:t>
            </a:r>
            <a:endParaRPr lang="en-US" sz="1200" dirty="0"/>
          </a:p>
        </p:txBody>
      </p:sp>
      <p:sp>
        <p:nvSpPr>
          <p:cNvPr id="8" name="Text 6"/>
          <p:cNvSpPr/>
          <p:nvPr/>
        </p:nvSpPr>
        <p:spPr>
          <a:xfrm>
            <a:off x="8458200" y="1874520"/>
            <a:ext cx="2606040" cy="502920"/>
          </a:xfrm>
          <a:prstGeom prst="rect">
            <a:avLst/>
          </a:prstGeom>
          <a:noFill/>
          <a:ln/>
        </p:spPr>
        <p:txBody>
          <a:bodyPr wrap="square" lIns="0" tIns="0" rIns="0" bIns="0" rtlCol="0" anchor="ctr"/>
          <a:lstStyle/>
          <a:p>
            <a:pPr marL="0" indent="0" algn="ctr">
              <a:buNone/>
            </a:pPr>
            <a:r>
              <a:rPr lang="en-US" sz="3000" b="1" dirty="0">
                <a:solidFill>
                  <a:srgbClr val="14342C"/>
                </a:solidFill>
                <a:latin typeface="Aptos Display" pitchFamily="34" charset="0"/>
                <a:ea typeface="Aptos Display" pitchFamily="34" charset="-122"/>
                <a:cs typeface="Aptos Display" pitchFamily="34" charset="-120"/>
              </a:rPr>
              <a:t>14.576</a:t>
            </a:r>
            <a:endParaRPr lang="en-US" sz="3000" dirty="0"/>
          </a:p>
        </p:txBody>
      </p:sp>
      <p:sp>
        <p:nvSpPr>
          <p:cNvPr id="9" name="Text 7"/>
          <p:cNvSpPr/>
          <p:nvPr/>
        </p:nvSpPr>
        <p:spPr>
          <a:xfrm>
            <a:off x="8458200" y="2450592"/>
            <a:ext cx="2606040" cy="201168"/>
          </a:xfrm>
          <a:prstGeom prst="rect">
            <a:avLst/>
          </a:prstGeom>
          <a:noFill/>
          <a:ln/>
        </p:spPr>
        <p:txBody>
          <a:bodyPr wrap="square" lIns="0" tIns="0" rIns="0" bIns="0" rtlCol="0" anchor="ctr"/>
          <a:lstStyle/>
          <a:p>
            <a:pPr marL="0" indent="0" algn="ctr">
              <a:buNone/>
            </a:pPr>
            <a:r>
              <a:rPr lang="en-US" sz="950" dirty="0">
                <a:solidFill>
                  <a:srgbClr val="58706A"/>
                </a:solidFill>
                <a:latin typeface="Aptos" pitchFamily="34" charset="0"/>
                <a:ea typeface="Aptos" pitchFamily="34" charset="-122"/>
                <a:cs typeface="Aptos" pitchFamily="34" charset="-120"/>
              </a:rPr>
              <a:t>baris observasi harian-stasiun</a:t>
            </a:r>
            <a:endParaRPr lang="en-US" sz="950" dirty="0"/>
          </a:p>
        </p:txBody>
      </p:sp>
      <p:sp>
        <p:nvSpPr>
          <p:cNvPr id="10" name="Shape 8"/>
          <p:cNvSpPr/>
          <p:nvPr/>
        </p:nvSpPr>
        <p:spPr>
          <a:xfrm>
            <a:off x="8732520" y="2880360"/>
            <a:ext cx="2057400" cy="0"/>
          </a:xfrm>
          <a:prstGeom prst="line">
            <a:avLst/>
          </a:prstGeom>
          <a:noFill/>
          <a:ln w="12700">
            <a:solidFill>
              <a:srgbClr val="DCE7E1"/>
            </a:solidFill>
            <a:prstDash val="solid"/>
          </a:ln>
        </p:spPr>
      </p:sp>
      <p:sp>
        <p:nvSpPr>
          <p:cNvPr id="11" name="Text 9"/>
          <p:cNvSpPr/>
          <p:nvPr/>
        </p:nvSpPr>
        <p:spPr>
          <a:xfrm>
            <a:off x="8458200" y="3136392"/>
            <a:ext cx="2606040" cy="329184"/>
          </a:xfrm>
          <a:prstGeom prst="rect">
            <a:avLst/>
          </a:prstGeom>
          <a:noFill/>
          <a:ln/>
        </p:spPr>
        <p:txBody>
          <a:bodyPr wrap="square" lIns="0" tIns="0" rIns="0" bIns="0" rtlCol="0" anchor="ctr"/>
          <a:lstStyle/>
          <a:p>
            <a:pPr marL="0" indent="0" algn="ctr">
              <a:buNone/>
            </a:pPr>
            <a:r>
              <a:rPr lang="en-US" sz="2100" b="1" dirty="0">
                <a:solidFill>
                  <a:srgbClr val="197A5D"/>
                </a:solidFill>
                <a:latin typeface="Aptos Display" pitchFamily="34" charset="0"/>
                <a:ea typeface="Aptos Display" pitchFamily="34" charset="-122"/>
                <a:cs typeface="Aptos Display" pitchFamily="34" charset="-120"/>
              </a:rPr>
              <a:t>5 SPKU</a:t>
            </a:r>
            <a:endParaRPr lang="en-US" sz="2100" dirty="0"/>
          </a:p>
        </p:txBody>
      </p:sp>
      <p:sp>
        <p:nvSpPr>
          <p:cNvPr id="12" name="Text 10"/>
          <p:cNvSpPr/>
          <p:nvPr/>
        </p:nvSpPr>
        <p:spPr>
          <a:xfrm>
            <a:off x="8458200" y="3547872"/>
            <a:ext cx="2606040" cy="219456"/>
          </a:xfrm>
          <a:prstGeom prst="rect">
            <a:avLst/>
          </a:prstGeom>
          <a:noFill/>
          <a:ln/>
        </p:spPr>
        <p:txBody>
          <a:bodyPr wrap="square" lIns="0" tIns="0" rIns="0" bIns="0" rtlCol="0" anchor="ctr">
            <a:normAutofit/>
          </a:bodyPr>
          <a:lstStyle/>
          <a:p>
            <a:pPr marL="0" indent="0" algn="ctr">
              <a:buNone/>
            </a:pPr>
            <a:r>
              <a:rPr lang="en-US" sz="1100" dirty="0">
                <a:solidFill>
                  <a:srgbClr val="58706A"/>
                </a:solidFill>
                <a:latin typeface="Aptos" pitchFamily="34" charset="0"/>
                <a:ea typeface="Aptos" pitchFamily="34" charset="-122"/>
                <a:cs typeface="Aptos" pitchFamily="34" charset="-120"/>
              </a:rPr>
              <a:t>01 Jan 2010 – 30 Nov 2023</a:t>
            </a:r>
            <a:endParaRPr lang="en-US" sz="1100" dirty="0"/>
          </a:p>
        </p:txBody>
      </p:sp>
      <p:sp>
        <p:nvSpPr>
          <p:cNvPr id="13" name="Text 11"/>
          <p:cNvSpPr/>
          <p:nvPr/>
        </p:nvSpPr>
        <p:spPr>
          <a:xfrm>
            <a:off x="777240" y="5230368"/>
            <a:ext cx="4389120" cy="256032"/>
          </a:xfrm>
          <a:prstGeom prst="rect">
            <a:avLst/>
          </a:prstGeom>
          <a:noFill/>
          <a:ln/>
        </p:spPr>
        <p:txBody>
          <a:bodyPr wrap="square" lIns="0" tIns="0" rIns="0" bIns="0" rtlCol="0" anchor="ctr"/>
          <a:lstStyle/>
          <a:p>
            <a:pPr marL="0" indent="0">
              <a:buNone/>
            </a:pPr>
            <a:r>
              <a:rPr lang="en-US" sz="1400" b="1" dirty="0">
                <a:solidFill>
                  <a:srgbClr val="E8F4EF"/>
                </a:solidFill>
                <a:latin typeface="Aptos" pitchFamily="34" charset="0"/>
                <a:ea typeface="Aptos" pitchFamily="34" charset="-122"/>
                <a:cs typeface="Aptos" pitchFamily="34" charset="-120"/>
              </a:rPr>
              <a:t>Nama Asesi: </a:t>
            </a:r>
            <a:r>
              <a:rPr lang="en-US" sz="1400" b="1" dirty="0" err="1">
                <a:solidFill>
                  <a:srgbClr val="E8F4EF"/>
                </a:solidFill>
                <a:latin typeface="Aptos" pitchFamily="34" charset="0"/>
                <a:ea typeface="Aptos" pitchFamily="34" charset="-122"/>
                <a:cs typeface="Aptos" pitchFamily="34" charset="-120"/>
              </a:rPr>
              <a:t>Fahryandi</a:t>
            </a:r>
            <a:r>
              <a:rPr lang="en-US" sz="1400" b="1" dirty="0">
                <a:solidFill>
                  <a:srgbClr val="E8F4EF"/>
                </a:solidFill>
                <a:latin typeface="Aptos" pitchFamily="34" charset="0"/>
                <a:ea typeface="Aptos" pitchFamily="34" charset="-122"/>
                <a:cs typeface="Aptos" pitchFamily="34" charset="-120"/>
              </a:rPr>
              <a:t> </a:t>
            </a:r>
            <a:r>
              <a:rPr lang="en-US" sz="1400" b="1" dirty="0" err="1">
                <a:solidFill>
                  <a:srgbClr val="E8F4EF"/>
                </a:solidFill>
                <a:latin typeface="Aptos" pitchFamily="34" charset="0"/>
                <a:ea typeface="Aptos" pitchFamily="34" charset="-122"/>
                <a:cs typeface="Aptos" pitchFamily="34" charset="-120"/>
              </a:rPr>
              <a:t>Herlasmara</a:t>
            </a:r>
            <a:r>
              <a:rPr lang="en-US" sz="1400" b="1" dirty="0">
                <a:solidFill>
                  <a:srgbClr val="E8F4EF"/>
                </a:solidFill>
                <a:latin typeface="Aptos" pitchFamily="34" charset="0"/>
                <a:ea typeface="Aptos" pitchFamily="34" charset="-122"/>
                <a:cs typeface="Aptos" pitchFamily="34" charset="-120"/>
              </a:rPr>
              <a:t> Putra</a:t>
            </a:r>
            <a:endParaRPr lang="en-US" sz="1400" dirty="0"/>
          </a:p>
        </p:txBody>
      </p:sp>
      <p:sp>
        <p:nvSpPr>
          <p:cNvPr id="14" name="Text 12"/>
          <p:cNvSpPr/>
          <p:nvPr/>
        </p:nvSpPr>
        <p:spPr>
          <a:xfrm>
            <a:off x="777240" y="5541264"/>
            <a:ext cx="4389120" cy="256032"/>
          </a:xfrm>
          <a:prstGeom prst="rect">
            <a:avLst/>
          </a:prstGeom>
          <a:noFill/>
          <a:ln/>
        </p:spPr>
        <p:txBody>
          <a:bodyPr wrap="square" lIns="0" tIns="0" rIns="0" bIns="0" rtlCol="0" anchor="ctr"/>
          <a:lstStyle/>
          <a:p>
            <a:pPr marL="0" indent="0">
              <a:buNone/>
            </a:pPr>
            <a:r>
              <a:rPr lang="en-US" sz="1100" dirty="0">
                <a:solidFill>
                  <a:srgbClr val="B9D3C9"/>
                </a:solidFill>
                <a:latin typeface="Aptos" pitchFamily="34" charset="0"/>
                <a:ea typeface="Aptos" pitchFamily="34" charset="-122"/>
                <a:cs typeface="Aptos" pitchFamily="34" charset="-120"/>
              </a:rPr>
              <a:t>Tanggal Presentasi: 12 Juni 2026</a:t>
            </a:r>
            <a:endParaRPr lang="en-US" sz="1100" dirty="0"/>
          </a:p>
        </p:txBody>
      </p:sp>
      <p:sp>
        <p:nvSpPr>
          <p:cNvPr id="15" name="Text 13"/>
          <p:cNvSpPr/>
          <p:nvPr/>
        </p:nvSpPr>
        <p:spPr>
          <a:xfrm>
            <a:off x="777240" y="6172200"/>
            <a:ext cx="4389120" cy="201168"/>
          </a:xfrm>
          <a:prstGeom prst="rect">
            <a:avLst/>
          </a:prstGeom>
          <a:noFill/>
          <a:ln/>
        </p:spPr>
        <p:txBody>
          <a:bodyPr wrap="square" lIns="0" tIns="0" rIns="0" bIns="0" rtlCol="0" anchor="ctr"/>
          <a:lstStyle/>
          <a:p>
            <a:pPr marL="0" indent="0">
              <a:buNone/>
            </a:pPr>
            <a:r>
              <a:rPr lang="en-US" sz="850" dirty="0">
                <a:solidFill>
                  <a:srgbClr val="B9D3C9"/>
                </a:solidFill>
                <a:latin typeface="Aptos" pitchFamily="34" charset="0"/>
                <a:ea typeface="Aptos" pitchFamily="34" charset="-122"/>
                <a:cs typeface="Aptos" pitchFamily="34" charset="-120"/>
              </a:rPr>
              <a:t>Kementerian </a:t>
            </a:r>
            <a:r>
              <a:rPr lang="en-US" sz="850" dirty="0" err="1">
                <a:solidFill>
                  <a:srgbClr val="B9D3C9"/>
                </a:solidFill>
                <a:latin typeface="Aptos" pitchFamily="34" charset="0"/>
                <a:ea typeface="Aptos" pitchFamily="34" charset="-122"/>
                <a:cs typeface="Aptos" pitchFamily="34" charset="-120"/>
              </a:rPr>
              <a:t>Lingkungan</a:t>
            </a:r>
            <a:r>
              <a:rPr lang="en-US" sz="850" dirty="0">
                <a:solidFill>
                  <a:srgbClr val="B9D3C9"/>
                </a:solidFill>
                <a:latin typeface="Aptos" pitchFamily="34" charset="0"/>
                <a:ea typeface="Aptos" pitchFamily="34" charset="-122"/>
                <a:cs typeface="Aptos" pitchFamily="34" charset="-120"/>
              </a:rPr>
              <a:t> Hidup/Badan </a:t>
            </a:r>
            <a:r>
              <a:rPr lang="en-US" sz="850" dirty="0" err="1">
                <a:solidFill>
                  <a:srgbClr val="B9D3C9"/>
                </a:solidFill>
                <a:latin typeface="Aptos" pitchFamily="34" charset="0"/>
                <a:ea typeface="Aptos" pitchFamily="34" charset="-122"/>
                <a:cs typeface="Aptos" pitchFamily="34" charset="-120"/>
              </a:rPr>
              <a:t>Pengendalian</a:t>
            </a:r>
            <a:r>
              <a:rPr lang="en-US" sz="850" dirty="0">
                <a:solidFill>
                  <a:srgbClr val="B9D3C9"/>
                </a:solidFill>
                <a:latin typeface="Aptos" pitchFamily="34" charset="0"/>
                <a:ea typeface="Aptos" pitchFamily="34" charset="-122"/>
                <a:cs typeface="Aptos" pitchFamily="34" charset="-120"/>
              </a:rPr>
              <a:t> </a:t>
            </a:r>
            <a:r>
              <a:rPr lang="en-US" sz="850" dirty="0" err="1">
                <a:solidFill>
                  <a:srgbClr val="B9D3C9"/>
                </a:solidFill>
                <a:latin typeface="Aptos" pitchFamily="34" charset="0"/>
                <a:ea typeface="Aptos" pitchFamily="34" charset="-122"/>
                <a:cs typeface="Aptos" pitchFamily="34" charset="-120"/>
              </a:rPr>
              <a:t>Lingkungan</a:t>
            </a:r>
            <a:r>
              <a:rPr lang="en-US" sz="850" dirty="0">
                <a:solidFill>
                  <a:srgbClr val="B9D3C9"/>
                </a:solidFill>
                <a:latin typeface="Aptos" pitchFamily="34" charset="0"/>
                <a:ea typeface="Aptos" pitchFamily="34" charset="-122"/>
                <a:cs typeface="Aptos" pitchFamily="34" charset="-120"/>
              </a:rPr>
              <a:t> Hidup</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2</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Latar Belakang &amp; Tujuan Analisis</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325880"/>
            <a:ext cx="6583680" cy="658368"/>
          </a:xfrm>
          <a:prstGeom prst="rect">
            <a:avLst/>
          </a:prstGeom>
          <a:noFill/>
          <a:ln/>
        </p:spPr>
        <p:txBody>
          <a:bodyPr wrap="square" lIns="254" tIns="254" rIns="254" bIns="254" rtlCol="0" anchor="t">
            <a:normAutofit fontScale="92500"/>
          </a:bodyPr>
          <a:lstStyle/>
          <a:p>
            <a:pPr marL="0" indent="0" algn="l">
              <a:buNone/>
            </a:pPr>
            <a:r>
              <a:rPr lang="en-US" sz="1240" dirty="0">
                <a:solidFill>
                  <a:srgbClr val="14342C"/>
                </a:solidFill>
                <a:latin typeface="Aptos" pitchFamily="34" charset="0"/>
                <a:ea typeface="Aptos" pitchFamily="34" charset="-122"/>
                <a:cs typeface="Aptos" pitchFamily="34" charset="-120"/>
              </a:rPr>
              <a:t>Kualitas udara Jakarta perlu dipantau secara konsisten karena nilai ISPU berubah menurut waktu, lokasi SPKU, dan parameter pencemar. Dashboard BI dibutuhkan agar data harian tidak hanya menjadi arsip, tetapi menjadi dasar prioritas pengawasan, komunikasi risiko, dan kebijakan pengendalian pencemaran.</a:t>
            </a:r>
            <a:endParaRPr lang="en-US" sz="1240" dirty="0"/>
          </a:p>
        </p:txBody>
      </p:sp>
      <p:sp>
        <p:nvSpPr>
          <p:cNvPr id="6" name="Shape 4"/>
          <p:cNvSpPr/>
          <p:nvPr/>
        </p:nvSpPr>
        <p:spPr>
          <a:xfrm>
            <a:off x="68580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7" name="Shape 5"/>
          <p:cNvSpPr/>
          <p:nvPr/>
        </p:nvSpPr>
        <p:spPr>
          <a:xfrm>
            <a:off x="832104" y="2487168"/>
            <a:ext cx="329184" cy="329184"/>
          </a:xfrm>
          <a:prstGeom prst="ellipse">
            <a:avLst/>
          </a:prstGeom>
          <a:solidFill>
            <a:srgbClr val="197A5D"/>
          </a:solidFill>
          <a:ln w="12700">
            <a:solidFill>
              <a:srgbClr val="197A5D"/>
            </a:solidFill>
            <a:prstDash val="solid"/>
          </a:ln>
        </p:spPr>
      </p:sp>
      <p:sp>
        <p:nvSpPr>
          <p:cNvPr id="8" name="Text 6"/>
          <p:cNvSpPr/>
          <p:nvPr/>
        </p:nvSpPr>
        <p:spPr>
          <a:xfrm>
            <a:off x="83210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1</a:t>
            </a:r>
            <a:endParaRPr lang="en-US" sz="1400" dirty="0"/>
          </a:p>
        </p:txBody>
      </p:sp>
      <p:sp>
        <p:nvSpPr>
          <p:cNvPr id="9" name="Text 7"/>
          <p:cNvSpPr/>
          <p:nvPr/>
        </p:nvSpPr>
        <p:spPr>
          <a:xfrm>
            <a:off x="125272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Kebutuhan analisis</a:t>
            </a:r>
            <a:endParaRPr lang="en-US" sz="1400" dirty="0"/>
          </a:p>
        </p:txBody>
      </p:sp>
      <p:sp>
        <p:nvSpPr>
          <p:cNvPr id="10" name="Text 8"/>
          <p:cNvSpPr/>
          <p:nvPr/>
        </p:nvSpPr>
        <p:spPr>
          <a:xfrm>
            <a:off x="1252728" y="2779776"/>
            <a:ext cx="2670048" cy="61264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Mengetahui kondisi umum kualitas udara, lokasi prioritas, periode risiko, dan pencemar dominan berdasarkan data dashboard.</a:t>
            </a:r>
            <a:endParaRPr lang="en-US" sz="1100" dirty="0"/>
          </a:p>
        </p:txBody>
      </p:sp>
      <p:sp>
        <p:nvSpPr>
          <p:cNvPr id="11" name="Shape 9"/>
          <p:cNvSpPr/>
          <p:nvPr/>
        </p:nvSpPr>
        <p:spPr>
          <a:xfrm>
            <a:off x="443484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2" name="Shape 10"/>
          <p:cNvSpPr/>
          <p:nvPr/>
        </p:nvSpPr>
        <p:spPr>
          <a:xfrm>
            <a:off x="4581144" y="2487168"/>
            <a:ext cx="329184" cy="329184"/>
          </a:xfrm>
          <a:prstGeom prst="ellipse">
            <a:avLst/>
          </a:prstGeom>
          <a:solidFill>
            <a:srgbClr val="2B6CB0"/>
          </a:solidFill>
          <a:ln w="12700">
            <a:solidFill>
              <a:srgbClr val="2B6CB0"/>
            </a:solidFill>
            <a:prstDash val="solid"/>
          </a:ln>
        </p:spPr>
      </p:sp>
      <p:sp>
        <p:nvSpPr>
          <p:cNvPr id="13" name="Text 11"/>
          <p:cNvSpPr/>
          <p:nvPr/>
        </p:nvSpPr>
        <p:spPr>
          <a:xfrm>
            <a:off x="458114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2</a:t>
            </a:r>
            <a:endParaRPr lang="en-US" sz="1400" dirty="0"/>
          </a:p>
        </p:txBody>
      </p:sp>
      <p:sp>
        <p:nvSpPr>
          <p:cNvPr id="14" name="Text 12"/>
          <p:cNvSpPr/>
          <p:nvPr/>
        </p:nvSpPr>
        <p:spPr>
          <a:xfrm>
            <a:off x="500176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Pertanyaan bisnis</a:t>
            </a:r>
            <a:endParaRPr lang="en-US" sz="1400" dirty="0"/>
          </a:p>
        </p:txBody>
      </p:sp>
      <p:sp>
        <p:nvSpPr>
          <p:cNvPr id="15" name="Text 13"/>
          <p:cNvSpPr/>
          <p:nvPr/>
        </p:nvSpPr>
        <p:spPr>
          <a:xfrm>
            <a:off x="5001768" y="2779776"/>
            <a:ext cx="2670048" cy="612648"/>
          </a:xfrm>
          <a:prstGeom prst="rect">
            <a:avLst/>
          </a:prstGeom>
          <a:noFill/>
          <a:ln/>
        </p:spPr>
        <p:txBody>
          <a:bodyPr wrap="square" lIns="254" tIns="254" rIns="254" bIns="254" rtlCol="0" anchor="ctr">
            <a:normAutofit/>
          </a:bodyPr>
          <a:lstStyle/>
          <a:p>
            <a:pPr marL="0" indent="0">
              <a:buNone/>
            </a:pPr>
            <a:r>
              <a:rPr lang="en-US" sz="1100" dirty="0">
                <a:solidFill>
                  <a:srgbClr val="58706A"/>
                </a:solidFill>
                <a:latin typeface="Aptos" pitchFamily="34" charset="0"/>
                <a:ea typeface="Aptos" pitchFamily="34" charset="-122"/>
                <a:cs typeface="Aptos" pitchFamily="34" charset="-120"/>
              </a:rPr>
              <a:t>Apa status kualitas udara? Stasiun mana paling berisiko? Kapan polusi meningkat? Parameter apa yang dominan?</a:t>
            </a:r>
            <a:endParaRPr lang="en-US" sz="1100" dirty="0"/>
          </a:p>
        </p:txBody>
      </p:sp>
      <p:sp>
        <p:nvSpPr>
          <p:cNvPr id="16" name="Shape 14"/>
          <p:cNvSpPr/>
          <p:nvPr/>
        </p:nvSpPr>
        <p:spPr>
          <a:xfrm>
            <a:off x="8183880" y="2331720"/>
            <a:ext cx="338328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7" name="Shape 15"/>
          <p:cNvSpPr/>
          <p:nvPr/>
        </p:nvSpPr>
        <p:spPr>
          <a:xfrm>
            <a:off x="8330184" y="2487168"/>
            <a:ext cx="329184" cy="329184"/>
          </a:xfrm>
          <a:prstGeom prst="ellipse">
            <a:avLst/>
          </a:prstGeom>
          <a:solidFill>
            <a:srgbClr val="D68A00"/>
          </a:solidFill>
          <a:ln w="12700">
            <a:solidFill>
              <a:srgbClr val="D68A00"/>
            </a:solidFill>
            <a:prstDash val="solid"/>
          </a:ln>
        </p:spPr>
      </p:sp>
      <p:sp>
        <p:nvSpPr>
          <p:cNvPr id="18" name="Text 16"/>
          <p:cNvSpPr/>
          <p:nvPr/>
        </p:nvSpPr>
        <p:spPr>
          <a:xfrm>
            <a:off x="8330184" y="2555748"/>
            <a:ext cx="329184" cy="91440"/>
          </a:xfrm>
          <a:prstGeom prst="rect">
            <a:avLst/>
          </a:prstGeom>
          <a:noFill/>
          <a:ln/>
        </p:spPr>
        <p:txBody>
          <a:bodyPr wrap="square" lIns="0" tIns="0" rIns="0" bIns="0" rtlCol="0" anchor="ctr"/>
          <a:lstStyle/>
          <a:p>
            <a:pPr marL="0" indent="0" algn="ctr">
              <a:buNone/>
            </a:pPr>
            <a:r>
              <a:rPr lang="en-US" sz="1400" b="1" dirty="0">
                <a:solidFill>
                  <a:srgbClr val="FFFFFF"/>
                </a:solidFill>
                <a:latin typeface="Aptos" pitchFamily="34" charset="0"/>
                <a:ea typeface="Aptos" pitchFamily="34" charset="-122"/>
                <a:cs typeface="Aptos" pitchFamily="34" charset="-120"/>
              </a:rPr>
              <a:t>3</a:t>
            </a:r>
            <a:endParaRPr lang="en-US" sz="1400" dirty="0"/>
          </a:p>
        </p:txBody>
      </p:sp>
      <p:sp>
        <p:nvSpPr>
          <p:cNvPr id="19" name="Text 17"/>
          <p:cNvSpPr/>
          <p:nvPr/>
        </p:nvSpPr>
        <p:spPr>
          <a:xfrm>
            <a:off x="8750808" y="2468880"/>
            <a:ext cx="267004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Pengguna hasil</a:t>
            </a:r>
            <a:endParaRPr lang="en-US" sz="1400" dirty="0"/>
          </a:p>
        </p:txBody>
      </p:sp>
      <p:sp>
        <p:nvSpPr>
          <p:cNvPr id="20" name="Text 18"/>
          <p:cNvSpPr/>
          <p:nvPr/>
        </p:nvSpPr>
        <p:spPr>
          <a:xfrm>
            <a:off x="8750808" y="2779776"/>
            <a:ext cx="2670048" cy="612648"/>
          </a:xfrm>
          <a:prstGeom prst="rect">
            <a:avLst/>
          </a:prstGeom>
          <a:noFill/>
          <a:ln/>
        </p:spPr>
        <p:txBody>
          <a:bodyPr wrap="square" lIns="254" tIns="254" rIns="254" bIns="254" rtlCol="0" anchor="ctr">
            <a:normAutofit/>
          </a:bodyPr>
          <a:lstStyle/>
          <a:p>
            <a:pPr marL="0" indent="0">
              <a:buNone/>
            </a:pPr>
            <a:r>
              <a:rPr lang="en-US" sz="1100" dirty="0">
                <a:solidFill>
                  <a:srgbClr val="58706A"/>
                </a:solidFill>
                <a:latin typeface="Aptos" pitchFamily="34" charset="0"/>
                <a:ea typeface="Aptos" pitchFamily="34" charset="-122"/>
                <a:cs typeface="Aptos" pitchFamily="34" charset="-120"/>
              </a:rPr>
              <a:t>Kepala Dinas LH DKI Jakarta, bidang pengendalian pencemaran udara, pengelola SPKU, serta unit data/dashboard.</a:t>
            </a:r>
            <a:endParaRPr lang="en-US" sz="1100" dirty="0"/>
          </a:p>
        </p:txBody>
      </p:sp>
      <p:sp>
        <p:nvSpPr>
          <p:cNvPr id="21" name="Text 19"/>
          <p:cNvSpPr/>
          <p:nvPr/>
        </p:nvSpPr>
        <p:spPr>
          <a:xfrm>
            <a:off x="713231" y="3886200"/>
            <a:ext cx="2533821" cy="164592"/>
          </a:xfrm>
          <a:prstGeom prst="rect">
            <a:avLst/>
          </a:prstGeom>
          <a:noFill/>
          <a:ln/>
        </p:spPr>
        <p:txBody>
          <a:bodyPr wrap="square" lIns="0" tIns="0" rIns="0" bIns="0" rtlCol="0" anchor="ctr">
            <a:noAutofit/>
          </a:bodyPr>
          <a:lstStyle/>
          <a:p>
            <a:pPr marL="0" indent="0">
              <a:buNone/>
            </a:pPr>
            <a:r>
              <a:rPr lang="en-US" b="1" dirty="0">
                <a:solidFill>
                  <a:srgbClr val="197A5D"/>
                </a:solidFill>
                <a:latin typeface="Aptos" pitchFamily="34" charset="0"/>
                <a:ea typeface="Aptos" pitchFamily="34" charset="-122"/>
                <a:cs typeface="Aptos" pitchFamily="34" charset="-120"/>
              </a:rPr>
              <a:t>TUJUAN ANALISIS</a:t>
            </a:r>
            <a:endParaRPr lang="en-US" dirty="0"/>
          </a:p>
        </p:txBody>
      </p:sp>
      <p:sp>
        <p:nvSpPr>
          <p:cNvPr id="22" name="Text 20"/>
          <p:cNvSpPr/>
          <p:nvPr/>
        </p:nvSpPr>
        <p:spPr>
          <a:xfrm>
            <a:off x="777240" y="4224528"/>
            <a:ext cx="5349240" cy="1417320"/>
          </a:xfrm>
          <a:prstGeom prst="rect">
            <a:avLst/>
          </a:prstGeom>
          <a:noFill/>
          <a:ln/>
        </p:spPr>
        <p:txBody>
          <a:bodyPr wrap="square" lIns="254" tIns="254" rIns="254" bIns="254" rtlCol="0" anchor="ctr">
            <a:normAutofit lnSpcReduction="10000"/>
          </a:bodyPr>
          <a:lstStyle/>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Menyajikan</a:t>
            </a:r>
            <a:r>
              <a:rPr lang="en-US" sz="1400" dirty="0">
                <a:solidFill>
                  <a:srgbClr val="14342C"/>
                </a:solidFill>
                <a:latin typeface="Aptos" pitchFamily="34" charset="0"/>
                <a:ea typeface="Aptos" pitchFamily="34" charset="-122"/>
                <a:cs typeface="Aptos" pitchFamily="34" charset="-120"/>
              </a:rPr>
              <a:t> KPI utama kualitas udara dan kondisi terkini per </a:t>
            </a:r>
            <a:r>
              <a:rPr lang="en-US" sz="1400" dirty="0" err="1">
                <a:solidFill>
                  <a:srgbClr val="14342C"/>
                </a:solidFill>
                <a:latin typeface="Aptos" pitchFamily="34" charset="0"/>
                <a:ea typeface="Aptos" pitchFamily="34" charset="-122"/>
                <a:cs typeface="Aptos" pitchFamily="34" charset="-120"/>
              </a:rPr>
              <a:t>stasiun</a:t>
            </a:r>
            <a:r>
              <a:rPr lang="en-US" sz="1400" dirty="0">
                <a:solidFill>
                  <a:srgbClr val="14342C"/>
                </a:solidFill>
                <a:latin typeface="Aptos" pitchFamily="34" charset="0"/>
                <a:ea typeface="Aptos" pitchFamily="34" charset="-122"/>
                <a:cs typeface="Aptos" pitchFamily="34" charset="-120"/>
              </a:rPr>
              <a:t>.</a:t>
            </a:r>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Menganalisis</a:t>
            </a:r>
            <a:r>
              <a:rPr lang="en-US" sz="1400" dirty="0">
                <a:solidFill>
                  <a:srgbClr val="14342C"/>
                </a:solidFill>
                <a:latin typeface="Aptos" pitchFamily="34" charset="0"/>
                <a:ea typeface="Aptos" pitchFamily="34" charset="-122"/>
                <a:cs typeface="Aptos" pitchFamily="34" charset="-120"/>
              </a:rPr>
              <a:t> tren temporal harian, bulanan, dan </a:t>
            </a:r>
            <a:r>
              <a:rPr lang="en-US" sz="1400" dirty="0" err="1">
                <a:solidFill>
                  <a:srgbClr val="14342C"/>
                </a:solidFill>
                <a:latin typeface="Aptos" pitchFamily="34" charset="0"/>
                <a:ea typeface="Aptos" pitchFamily="34" charset="-122"/>
                <a:cs typeface="Aptos" pitchFamily="34" charset="-120"/>
              </a:rPr>
              <a:t>tahunan</a:t>
            </a:r>
            <a:r>
              <a:rPr lang="en-US" sz="1400" dirty="0">
                <a:solidFill>
                  <a:srgbClr val="14342C"/>
                </a:solidFill>
                <a:latin typeface="Aptos" pitchFamily="34" charset="0"/>
                <a:ea typeface="Aptos" pitchFamily="34" charset="-122"/>
                <a:cs typeface="Aptos" pitchFamily="34" charset="-120"/>
              </a:rPr>
              <a:t>.</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Membandingkan</a:t>
            </a:r>
            <a:r>
              <a:rPr lang="en-US" sz="1400" dirty="0">
                <a:solidFill>
                  <a:srgbClr val="14342C"/>
                </a:solidFill>
                <a:latin typeface="Aptos" pitchFamily="34" charset="0"/>
                <a:ea typeface="Aptos" pitchFamily="34" charset="-122"/>
                <a:cs typeface="Aptos" pitchFamily="34" charset="-120"/>
              </a:rPr>
              <a:t> kinerja kualitas udara antar 5 SPKU.</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Mengidentifikasi</a:t>
            </a:r>
            <a:r>
              <a:rPr lang="en-US" sz="1400" dirty="0">
                <a:solidFill>
                  <a:srgbClr val="14342C"/>
                </a:solidFill>
                <a:latin typeface="Aptos" pitchFamily="34" charset="0"/>
                <a:ea typeface="Aptos" pitchFamily="34" charset="-122"/>
                <a:cs typeface="Aptos" pitchFamily="34" charset="-120"/>
              </a:rPr>
              <a:t> parameter pencemar dominan dan keterbatasan data PM2.5.</a:t>
            </a:r>
            <a:endParaRPr lang="en-US" sz="1400" dirty="0"/>
          </a:p>
          <a:p>
            <a:pPr marL="342900" indent="-342900">
              <a:buAutoNum type="arabicPeriod"/>
            </a:pPr>
            <a:r>
              <a:rPr lang="en-US" sz="1400" dirty="0" err="1">
                <a:solidFill>
                  <a:srgbClr val="14342C"/>
                </a:solidFill>
                <a:latin typeface="Aptos" pitchFamily="34" charset="0"/>
                <a:ea typeface="Aptos" pitchFamily="34" charset="-122"/>
                <a:cs typeface="Aptos" pitchFamily="34" charset="-120"/>
              </a:rPr>
              <a:t>Menemukan</a:t>
            </a:r>
            <a:r>
              <a:rPr lang="en-US" sz="1400" dirty="0">
                <a:solidFill>
                  <a:srgbClr val="14342C"/>
                </a:solidFill>
                <a:latin typeface="Aptos" pitchFamily="34" charset="0"/>
                <a:ea typeface="Aptos" pitchFamily="34" charset="-122"/>
                <a:cs typeface="Aptos" pitchFamily="34" charset="-120"/>
              </a:rPr>
              <a:t> pola musiman untuk kalender intervensi.</a:t>
            </a:r>
            <a:endParaRPr lang="en-US" sz="1400" dirty="0"/>
          </a:p>
        </p:txBody>
      </p:sp>
      <p:sp>
        <p:nvSpPr>
          <p:cNvPr id="23" name="Shape 21"/>
          <p:cNvSpPr/>
          <p:nvPr/>
        </p:nvSpPr>
        <p:spPr>
          <a:xfrm>
            <a:off x="6400800" y="4096512"/>
            <a:ext cx="4983480" cy="1143000"/>
          </a:xfrm>
          <a:prstGeom prst="roundRect">
            <a:avLst>
              <a:gd name="adj" fmla="val 6400"/>
            </a:avLst>
          </a:prstGeom>
          <a:solidFill>
            <a:srgbClr val="F0F7F4"/>
          </a:solidFill>
          <a:ln w="10160">
            <a:solidFill>
              <a:srgbClr val="CBE4D7"/>
            </a:solidFill>
            <a:prstDash val="solid"/>
          </a:ln>
        </p:spPr>
      </p:sp>
      <p:sp>
        <p:nvSpPr>
          <p:cNvPr id="24" name="Text 22"/>
          <p:cNvSpPr/>
          <p:nvPr/>
        </p:nvSpPr>
        <p:spPr>
          <a:xfrm>
            <a:off x="6547104" y="4197096"/>
            <a:ext cx="4690872" cy="201168"/>
          </a:xfrm>
          <a:prstGeom prst="rect">
            <a:avLst/>
          </a:prstGeom>
          <a:noFill/>
          <a:ln/>
        </p:spPr>
        <p:txBody>
          <a:bodyPr wrap="square" lIns="0" tIns="0" rIns="0" bIns="0" rtlCol="0" anchor="ctr">
            <a:noAutofit/>
          </a:bodyPr>
          <a:lstStyle/>
          <a:p>
            <a:pPr marL="0" indent="0">
              <a:buNone/>
            </a:pPr>
            <a:r>
              <a:rPr lang="en-US" sz="1600" b="1" dirty="0">
                <a:solidFill>
                  <a:srgbClr val="197A5D"/>
                </a:solidFill>
                <a:latin typeface="Aptos" pitchFamily="34" charset="0"/>
                <a:ea typeface="Aptos" pitchFamily="34" charset="-122"/>
                <a:cs typeface="Aptos" pitchFamily="34" charset="-120"/>
              </a:rPr>
              <a:t>Output yang diharapkan</a:t>
            </a:r>
            <a:endParaRPr lang="en-US" sz="1600" dirty="0"/>
          </a:p>
        </p:txBody>
      </p:sp>
      <p:sp>
        <p:nvSpPr>
          <p:cNvPr id="25" name="Text 23"/>
          <p:cNvSpPr/>
          <p:nvPr/>
        </p:nvSpPr>
        <p:spPr>
          <a:xfrm>
            <a:off x="6547104" y="4453128"/>
            <a:ext cx="4690872" cy="704088"/>
          </a:xfrm>
          <a:prstGeom prst="rect">
            <a:avLst/>
          </a:prstGeom>
          <a:noFill/>
          <a:ln/>
        </p:spPr>
        <p:txBody>
          <a:bodyPr wrap="square" lIns="254" tIns="254" rIns="254" bIns="254"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Dashboard BI interaktif dan rekomendasi kebijakan yang konkret, terukur, serta dapat ditindaklanjuti oleh Kepala Dinas Lingkungan Hidup DKI Jakarta.</a:t>
            </a:r>
            <a:endParaRPr lang="en-US" sz="1200" dirty="0"/>
          </a:p>
        </p:txBody>
      </p:sp>
      <p:sp>
        <p:nvSpPr>
          <p:cNvPr id="26" name="Shape 24"/>
          <p:cNvSpPr/>
          <p:nvPr/>
        </p:nvSpPr>
        <p:spPr>
          <a:xfrm>
            <a:off x="6400800" y="5376672"/>
            <a:ext cx="4983480" cy="658368"/>
          </a:xfrm>
          <a:prstGeom prst="roundRect">
            <a:avLst>
              <a:gd name="adj" fmla="val 11111"/>
            </a:avLst>
          </a:prstGeom>
          <a:solidFill>
            <a:srgbClr val="FDF1EF"/>
          </a:solidFill>
          <a:ln w="10160">
            <a:solidFill>
              <a:srgbClr val="CBE4D7"/>
            </a:solidFill>
            <a:prstDash val="solid"/>
          </a:ln>
        </p:spPr>
      </p:sp>
      <p:sp>
        <p:nvSpPr>
          <p:cNvPr id="27" name="Text 25"/>
          <p:cNvSpPr/>
          <p:nvPr/>
        </p:nvSpPr>
        <p:spPr>
          <a:xfrm>
            <a:off x="6547104" y="5477256"/>
            <a:ext cx="4690872" cy="201168"/>
          </a:xfrm>
          <a:prstGeom prst="rect">
            <a:avLst/>
          </a:prstGeom>
          <a:noFill/>
          <a:ln/>
        </p:spPr>
        <p:txBody>
          <a:bodyPr wrap="square" lIns="0" tIns="0" rIns="0" bIns="0" rtlCol="0" anchor="ctr">
            <a:noAutofit/>
          </a:bodyPr>
          <a:lstStyle/>
          <a:p>
            <a:pPr marL="0" indent="0">
              <a:buNone/>
            </a:pPr>
            <a:r>
              <a:rPr lang="en-US" sz="1400" b="1" dirty="0">
                <a:solidFill>
                  <a:srgbClr val="C34632"/>
                </a:solidFill>
                <a:latin typeface="Aptos" pitchFamily="34" charset="0"/>
                <a:ea typeface="Aptos" pitchFamily="34" charset="-122"/>
                <a:cs typeface="Aptos" pitchFamily="34" charset="-120"/>
              </a:rPr>
              <a:t>Arah keputusan</a:t>
            </a:r>
            <a:endParaRPr lang="en-US" sz="1400" dirty="0"/>
          </a:p>
        </p:txBody>
      </p:sp>
      <p:sp>
        <p:nvSpPr>
          <p:cNvPr id="28" name="Text 26"/>
          <p:cNvSpPr/>
          <p:nvPr/>
        </p:nvSpPr>
        <p:spPr>
          <a:xfrm>
            <a:off x="6547104" y="5733288"/>
            <a:ext cx="4690872" cy="219456"/>
          </a:xfrm>
          <a:prstGeom prst="rect">
            <a:avLst/>
          </a:prstGeom>
          <a:noFill/>
          <a:ln/>
        </p:spPr>
        <p:txBody>
          <a:bodyPr wrap="square" lIns="254" tIns="254" rIns="254" bIns="254" rtlCol="0" anchor="ctr">
            <a:noAutofit/>
          </a:bodyPr>
          <a:lstStyle/>
          <a:p>
            <a:pPr marL="0" indent="0">
              <a:buNone/>
            </a:pPr>
            <a:r>
              <a:rPr lang="en-US" sz="1100" dirty="0">
                <a:solidFill>
                  <a:srgbClr val="14342C"/>
                </a:solidFill>
                <a:latin typeface="Aptos" pitchFamily="34" charset="0"/>
                <a:ea typeface="Aptos" pitchFamily="34" charset="-122"/>
                <a:cs typeface="Aptos" pitchFamily="34" charset="-120"/>
              </a:rPr>
              <a:t>Intervensi berbasis risiko: lokasi, waktu, parameter dominan, dan </a:t>
            </a:r>
            <a:r>
              <a:rPr lang="en-US" sz="1100" dirty="0" err="1">
                <a:solidFill>
                  <a:srgbClr val="14342C"/>
                </a:solidFill>
                <a:latin typeface="Aptos" pitchFamily="34" charset="0"/>
                <a:ea typeface="Aptos" pitchFamily="34" charset="-122"/>
                <a:cs typeface="Aptos" pitchFamily="34" charset="-120"/>
              </a:rPr>
              <a:t>mutu</a:t>
            </a:r>
            <a:r>
              <a:rPr lang="en-US" sz="1100" dirty="0">
                <a:solidFill>
                  <a:srgbClr val="14342C"/>
                </a:solidFill>
                <a:latin typeface="Aptos" pitchFamily="34" charset="0"/>
                <a:ea typeface="Aptos" pitchFamily="34" charset="-122"/>
                <a:cs typeface="Aptos" pitchFamily="34" charset="-120"/>
              </a:rPr>
              <a:t> data. </a:t>
            </a:r>
            <a:r>
              <a:rPr lang="en-US" sz="1100" dirty="0" err="1">
                <a:solidFill>
                  <a:srgbClr val="14342C"/>
                </a:solidFill>
                <a:latin typeface="Aptos" pitchFamily="34" charset="0"/>
                <a:ea typeface="Aptos" pitchFamily="34" charset="-122"/>
                <a:cs typeface="Aptos" pitchFamily="34" charset="-120"/>
              </a:rPr>
              <a:t>Bukan</a:t>
            </a:r>
            <a:r>
              <a:rPr lang="en-US" sz="1100" dirty="0">
                <a:solidFill>
                  <a:srgbClr val="14342C"/>
                </a:solidFill>
                <a:latin typeface="Aptos" pitchFamily="34" charset="0"/>
                <a:ea typeface="Aptos" pitchFamily="34" charset="-122"/>
                <a:cs typeface="Aptos" pitchFamily="34" charset="-120"/>
              </a:rPr>
              <a:t> keputusan umum tanpa prioritas.</a:t>
            </a:r>
            <a:endParaRPr lang="en-US" sz="1100" dirty="0"/>
          </a:p>
        </p:txBody>
      </p:sp>
      <p:sp>
        <p:nvSpPr>
          <p:cNvPr id="29"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3</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Metodologi: alur analisis, tools, dan pembersihan data</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Shape 3"/>
          <p:cNvSpPr/>
          <p:nvPr/>
        </p:nvSpPr>
        <p:spPr>
          <a:xfrm>
            <a:off x="68580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6" name="Shape 4"/>
          <p:cNvSpPr/>
          <p:nvPr/>
        </p:nvSpPr>
        <p:spPr>
          <a:xfrm>
            <a:off x="832104" y="1572768"/>
            <a:ext cx="329184" cy="329184"/>
          </a:xfrm>
          <a:prstGeom prst="ellipse">
            <a:avLst/>
          </a:prstGeom>
          <a:solidFill>
            <a:srgbClr val="197A5D"/>
          </a:solidFill>
          <a:ln w="12700">
            <a:solidFill>
              <a:srgbClr val="197A5D"/>
            </a:solidFill>
            <a:prstDash val="solid"/>
          </a:ln>
        </p:spPr>
      </p:sp>
      <p:sp>
        <p:nvSpPr>
          <p:cNvPr id="7" name="Text 5"/>
          <p:cNvSpPr/>
          <p:nvPr/>
        </p:nvSpPr>
        <p:spPr>
          <a:xfrm>
            <a:off x="83210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1</a:t>
            </a:r>
            <a:endParaRPr lang="en-US" sz="820" dirty="0"/>
          </a:p>
        </p:txBody>
      </p:sp>
      <p:sp>
        <p:nvSpPr>
          <p:cNvPr id="8" name="Text 6"/>
          <p:cNvSpPr/>
          <p:nvPr/>
        </p:nvSpPr>
        <p:spPr>
          <a:xfrm>
            <a:off x="125272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Sumber &amp; unduh data</a:t>
            </a:r>
            <a:endParaRPr lang="en-US" sz="1400" dirty="0"/>
          </a:p>
        </p:txBody>
      </p:sp>
      <p:sp>
        <p:nvSpPr>
          <p:cNvPr id="9" name="Text 7"/>
          <p:cNvSpPr/>
          <p:nvPr/>
        </p:nvSpPr>
        <p:spPr>
          <a:xfrm>
            <a:off x="125272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Dataset ISPU DKI Jakarta diperoleh </a:t>
            </a:r>
            <a:r>
              <a:rPr lang="en-US" sz="1100" dirty="0" err="1">
                <a:solidFill>
                  <a:srgbClr val="58706A"/>
                </a:solidFill>
                <a:latin typeface="Aptos" pitchFamily="34" charset="0"/>
                <a:ea typeface="Aptos" pitchFamily="34" charset="-122"/>
                <a:cs typeface="Aptos" pitchFamily="34" charset="-120"/>
              </a:rPr>
              <a:t>dari</a:t>
            </a:r>
            <a:r>
              <a:rPr lang="en-US" sz="1100" dirty="0">
                <a:solidFill>
                  <a:srgbClr val="58706A"/>
                </a:solidFill>
                <a:latin typeface="Aptos" pitchFamily="34" charset="0"/>
                <a:ea typeface="Aptos" pitchFamily="34" charset="-122"/>
                <a:cs typeface="Aptos" pitchFamily="34" charset="-120"/>
              </a:rPr>
              <a:t> portal </a:t>
            </a:r>
            <a:r>
              <a:rPr lang="en-US" sz="1100" dirty="0" err="1">
                <a:solidFill>
                  <a:srgbClr val="58706A"/>
                </a:solidFill>
                <a:latin typeface="Aptos" pitchFamily="34" charset="0"/>
                <a:ea typeface="Aptos" pitchFamily="34" charset="-122"/>
                <a:cs typeface="Aptos" pitchFamily="34" charset="-120"/>
              </a:rPr>
              <a:t>pemerintah</a:t>
            </a:r>
            <a:r>
              <a:rPr lang="en-US" sz="1100" dirty="0">
                <a:solidFill>
                  <a:srgbClr val="58706A"/>
                </a:solidFill>
                <a:latin typeface="Aptos" pitchFamily="34" charset="0"/>
                <a:ea typeface="Aptos" pitchFamily="34" charset="-122"/>
                <a:cs typeface="Aptos" pitchFamily="34" charset="-120"/>
              </a:rPr>
              <a:t>. File </a:t>
            </a:r>
            <a:r>
              <a:rPr lang="en-US" sz="1100" dirty="0" err="1">
                <a:solidFill>
                  <a:srgbClr val="58706A"/>
                </a:solidFill>
                <a:latin typeface="Aptos" pitchFamily="34" charset="0"/>
                <a:ea typeface="Aptos" pitchFamily="34" charset="-122"/>
                <a:cs typeface="Aptos" pitchFamily="34" charset="-120"/>
              </a:rPr>
              <a:t>diunduh</a:t>
            </a:r>
            <a:r>
              <a:rPr lang="en-US" sz="1100" dirty="0">
                <a:solidFill>
                  <a:srgbClr val="58706A"/>
                </a:solidFill>
                <a:latin typeface="Aptos" pitchFamily="34" charset="0"/>
                <a:ea typeface="Aptos" pitchFamily="34" charset="-122"/>
                <a:cs typeface="Aptos" pitchFamily="34" charset="-120"/>
              </a:rPr>
              <a:t> dalam format CSV/XLSX, lalu dikonsolidasikan.</a:t>
            </a:r>
            <a:endParaRPr lang="en-US" sz="1100" dirty="0"/>
          </a:p>
        </p:txBody>
      </p:sp>
      <p:sp>
        <p:nvSpPr>
          <p:cNvPr id="10" name="Shape 8"/>
          <p:cNvSpPr/>
          <p:nvPr/>
        </p:nvSpPr>
        <p:spPr>
          <a:xfrm>
            <a:off x="356616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1" name="Shape 9"/>
          <p:cNvSpPr/>
          <p:nvPr/>
        </p:nvSpPr>
        <p:spPr>
          <a:xfrm>
            <a:off x="3712464" y="1572768"/>
            <a:ext cx="329184" cy="329184"/>
          </a:xfrm>
          <a:prstGeom prst="ellipse">
            <a:avLst/>
          </a:prstGeom>
          <a:solidFill>
            <a:srgbClr val="2B6CB0"/>
          </a:solidFill>
          <a:ln w="12700">
            <a:solidFill>
              <a:srgbClr val="2B6CB0"/>
            </a:solidFill>
            <a:prstDash val="solid"/>
          </a:ln>
        </p:spPr>
      </p:sp>
      <p:sp>
        <p:nvSpPr>
          <p:cNvPr id="12" name="Text 10"/>
          <p:cNvSpPr/>
          <p:nvPr/>
        </p:nvSpPr>
        <p:spPr>
          <a:xfrm>
            <a:off x="371246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2</a:t>
            </a:r>
            <a:endParaRPr lang="en-US" sz="820" dirty="0"/>
          </a:p>
        </p:txBody>
      </p:sp>
      <p:sp>
        <p:nvSpPr>
          <p:cNvPr id="13" name="Text 11"/>
          <p:cNvSpPr/>
          <p:nvPr/>
        </p:nvSpPr>
        <p:spPr>
          <a:xfrm>
            <a:off x="413308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Pembacaan data</a:t>
            </a:r>
            <a:endParaRPr lang="en-US" sz="1400" dirty="0"/>
          </a:p>
        </p:txBody>
      </p:sp>
      <p:sp>
        <p:nvSpPr>
          <p:cNvPr id="14" name="Text 12"/>
          <p:cNvSpPr/>
          <p:nvPr/>
        </p:nvSpPr>
        <p:spPr>
          <a:xfrm>
            <a:off x="413308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 dibaca ke Python menggunakan pandas, </a:t>
            </a:r>
            <a:r>
              <a:rPr lang="en-US" sz="1100" dirty="0" err="1">
                <a:solidFill>
                  <a:srgbClr val="58706A"/>
                </a:solidFill>
                <a:latin typeface="Aptos" pitchFamily="34" charset="0"/>
                <a:ea typeface="Aptos" pitchFamily="34" charset="-122"/>
                <a:cs typeface="Aptos" pitchFamily="34" charset="-120"/>
              </a:rPr>
              <a:t>tanggal</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diparsing</a:t>
            </a:r>
            <a:r>
              <a:rPr lang="en-US" sz="1100" dirty="0">
                <a:solidFill>
                  <a:srgbClr val="58706A"/>
                </a:solidFill>
                <a:latin typeface="Aptos" pitchFamily="34" charset="0"/>
                <a:ea typeface="Aptos" pitchFamily="34" charset="-122"/>
                <a:cs typeface="Aptos" pitchFamily="34" charset="-120"/>
              </a:rPr>
              <a:t> dan kolom </a:t>
            </a:r>
            <a:r>
              <a:rPr lang="en-US" sz="1100" dirty="0" err="1">
                <a:solidFill>
                  <a:srgbClr val="58706A"/>
                </a:solidFill>
                <a:latin typeface="Aptos" pitchFamily="34" charset="0"/>
                <a:ea typeface="Aptos" pitchFamily="34" charset="-122"/>
                <a:cs typeface="Aptos" pitchFamily="34" charset="-120"/>
              </a:rPr>
              <a:t>numerik</a:t>
            </a:r>
            <a:r>
              <a:rPr lang="en-US" sz="1100" dirty="0">
                <a:solidFill>
                  <a:srgbClr val="58706A"/>
                </a:solidFill>
                <a:latin typeface="Aptos" pitchFamily="34" charset="0"/>
                <a:ea typeface="Aptos" pitchFamily="34" charset="-122"/>
                <a:cs typeface="Aptos" pitchFamily="34" charset="-120"/>
              </a:rPr>
              <a:t> </a:t>
            </a:r>
            <a:r>
              <a:rPr lang="en-US" sz="1100" dirty="0" err="1">
                <a:solidFill>
                  <a:srgbClr val="58706A"/>
                </a:solidFill>
                <a:latin typeface="Aptos" pitchFamily="34" charset="0"/>
                <a:ea typeface="Aptos" pitchFamily="34" charset="-122"/>
                <a:cs typeface="Aptos" pitchFamily="34" charset="-120"/>
              </a:rPr>
              <a:t>dikonversi</a:t>
            </a:r>
            <a:r>
              <a:rPr lang="en-US" sz="1100" dirty="0">
                <a:solidFill>
                  <a:srgbClr val="58706A"/>
                </a:solidFill>
                <a:latin typeface="Aptos" pitchFamily="34" charset="0"/>
                <a:ea typeface="Aptos" pitchFamily="34" charset="-122"/>
                <a:cs typeface="Aptos" pitchFamily="34" charset="-120"/>
              </a:rPr>
              <a:t>.</a:t>
            </a:r>
            <a:endParaRPr lang="en-US" sz="1100" dirty="0"/>
          </a:p>
        </p:txBody>
      </p:sp>
      <p:sp>
        <p:nvSpPr>
          <p:cNvPr id="15" name="Shape 13"/>
          <p:cNvSpPr/>
          <p:nvPr/>
        </p:nvSpPr>
        <p:spPr>
          <a:xfrm>
            <a:off x="644652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6" name="Shape 14"/>
          <p:cNvSpPr/>
          <p:nvPr/>
        </p:nvSpPr>
        <p:spPr>
          <a:xfrm>
            <a:off x="6592824" y="1572768"/>
            <a:ext cx="329184" cy="329184"/>
          </a:xfrm>
          <a:prstGeom prst="ellipse">
            <a:avLst/>
          </a:prstGeom>
          <a:solidFill>
            <a:srgbClr val="D68A00"/>
          </a:solidFill>
          <a:ln w="12700">
            <a:solidFill>
              <a:srgbClr val="D68A00"/>
            </a:solidFill>
            <a:prstDash val="solid"/>
          </a:ln>
        </p:spPr>
      </p:sp>
      <p:sp>
        <p:nvSpPr>
          <p:cNvPr id="17" name="Text 15"/>
          <p:cNvSpPr/>
          <p:nvPr/>
        </p:nvSpPr>
        <p:spPr>
          <a:xfrm>
            <a:off x="659282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3</a:t>
            </a:r>
            <a:endParaRPr lang="en-US" sz="820" dirty="0"/>
          </a:p>
        </p:txBody>
      </p:sp>
      <p:sp>
        <p:nvSpPr>
          <p:cNvPr id="18" name="Text 16"/>
          <p:cNvSpPr/>
          <p:nvPr/>
        </p:nvSpPr>
        <p:spPr>
          <a:xfrm>
            <a:off x="7013448" y="1554480"/>
            <a:ext cx="1892808" cy="237744"/>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EDA &amp; validasi</a:t>
            </a:r>
            <a:endParaRPr lang="en-US" sz="1400" dirty="0"/>
          </a:p>
        </p:txBody>
      </p:sp>
      <p:sp>
        <p:nvSpPr>
          <p:cNvPr id="19" name="Text 17"/>
          <p:cNvSpPr/>
          <p:nvPr/>
        </p:nvSpPr>
        <p:spPr>
          <a:xfrm>
            <a:off x="701344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Dilakukan statistik deskriptif, distribusi kategori, nilai unik kategorik, serta validasi konsistensi tanggal, periode, max, critical, dan kategori.</a:t>
            </a:r>
            <a:endParaRPr lang="en-US" sz="1100" dirty="0"/>
          </a:p>
        </p:txBody>
      </p:sp>
      <p:sp>
        <p:nvSpPr>
          <p:cNvPr id="20" name="Shape 18"/>
          <p:cNvSpPr/>
          <p:nvPr/>
        </p:nvSpPr>
        <p:spPr>
          <a:xfrm>
            <a:off x="9326880" y="1417320"/>
            <a:ext cx="2606040" cy="1234440"/>
          </a:xfrm>
          <a:prstGeom prst="roundRect">
            <a:avLst>
              <a:gd name="adj" fmla="val 5926"/>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21" name="Shape 19"/>
          <p:cNvSpPr/>
          <p:nvPr/>
        </p:nvSpPr>
        <p:spPr>
          <a:xfrm>
            <a:off x="9473184" y="1572768"/>
            <a:ext cx="329184" cy="329184"/>
          </a:xfrm>
          <a:prstGeom prst="ellipse">
            <a:avLst/>
          </a:prstGeom>
          <a:solidFill>
            <a:srgbClr val="C34632"/>
          </a:solidFill>
          <a:ln w="12700">
            <a:solidFill>
              <a:srgbClr val="C34632"/>
            </a:solidFill>
            <a:prstDash val="solid"/>
          </a:ln>
        </p:spPr>
      </p:sp>
      <p:sp>
        <p:nvSpPr>
          <p:cNvPr id="22" name="Text 20"/>
          <p:cNvSpPr/>
          <p:nvPr/>
        </p:nvSpPr>
        <p:spPr>
          <a:xfrm>
            <a:off x="9473184" y="1641348"/>
            <a:ext cx="329184" cy="91440"/>
          </a:xfrm>
          <a:prstGeom prst="rect">
            <a:avLst/>
          </a:prstGeom>
          <a:noFill/>
          <a:ln/>
        </p:spPr>
        <p:txBody>
          <a:bodyPr wrap="square" lIns="0" tIns="0" rIns="0" bIns="0" rtlCol="0" anchor="ctr"/>
          <a:lstStyle/>
          <a:p>
            <a:pPr marL="0" indent="0" algn="ctr">
              <a:buNone/>
            </a:pPr>
            <a:r>
              <a:rPr lang="en-US" sz="820" b="1" dirty="0">
                <a:solidFill>
                  <a:srgbClr val="FFFFFF"/>
                </a:solidFill>
                <a:latin typeface="Aptos" pitchFamily="34" charset="0"/>
                <a:ea typeface="Aptos" pitchFamily="34" charset="-122"/>
                <a:cs typeface="Aptos" pitchFamily="34" charset="-120"/>
              </a:rPr>
              <a:t>4</a:t>
            </a:r>
            <a:endParaRPr lang="en-US" sz="820" dirty="0"/>
          </a:p>
        </p:txBody>
      </p:sp>
      <p:sp>
        <p:nvSpPr>
          <p:cNvPr id="23" name="Text 21"/>
          <p:cNvSpPr/>
          <p:nvPr/>
        </p:nvSpPr>
        <p:spPr>
          <a:xfrm>
            <a:off x="9893808" y="1554480"/>
            <a:ext cx="1892808" cy="237744"/>
          </a:xfrm>
          <a:prstGeom prst="rect">
            <a:avLst/>
          </a:prstGeom>
          <a:noFill/>
          <a:ln/>
        </p:spPr>
        <p:txBody>
          <a:bodyPr wrap="square" lIns="0" tIns="0" rIns="0" bIns="0" rtlCol="0" anchor="ctr">
            <a:noAutofit/>
          </a:bodyPr>
          <a:lstStyle/>
          <a:p>
            <a:pPr marL="0" indent="0">
              <a:buNone/>
            </a:pPr>
            <a:r>
              <a:rPr lang="en-US" sz="1400" b="1" dirty="0">
                <a:solidFill>
                  <a:srgbClr val="14342C"/>
                </a:solidFill>
                <a:latin typeface="Aptos" pitchFamily="34" charset="0"/>
                <a:ea typeface="Aptos" pitchFamily="34" charset="-122"/>
                <a:cs typeface="Aptos" pitchFamily="34" charset="-120"/>
              </a:rPr>
              <a:t>Dashboard &amp; rekomendasi</a:t>
            </a:r>
            <a:endParaRPr lang="en-US" sz="1400" dirty="0"/>
          </a:p>
        </p:txBody>
      </p:sp>
      <p:sp>
        <p:nvSpPr>
          <p:cNvPr id="24" name="Text 22"/>
          <p:cNvSpPr/>
          <p:nvPr/>
        </p:nvSpPr>
        <p:spPr>
          <a:xfrm>
            <a:off x="9893808" y="1865376"/>
            <a:ext cx="1892808" cy="704088"/>
          </a:xfrm>
          <a:prstGeom prst="rect">
            <a:avLst/>
          </a:prstGeom>
          <a:noFill/>
          <a:ln/>
        </p:spPr>
        <p:txBody>
          <a:bodyPr wrap="square" lIns="254" tIns="254" rIns="254" bIns="254" rtlCol="0" anchor="ctr">
            <a:noAutofit/>
          </a:bodyPr>
          <a:lstStyle/>
          <a:p>
            <a:pPr marL="0" indent="0">
              <a:buNone/>
            </a:pPr>
            <a:r>
              <a:rPr lang="en-US" sz="1100" dirty="0">
                <a:solidFill>
                  <a:srgbClr val="58706A"/>
                </a:solidFill>
                <a:latin typeface="Aptos" pitchFamily="34" charset="0"/>
                <a:ea typeface="Aptos" pitchFamily="34" charset="-122"/>
                <a:cs typeface="Aptos" pitchFamily="34" charset="-120"/>
              </a:rPr>
              <a:t>Data bersih diekspor sebagai ispu_jakarta_analysis.csv dan digunakan pada dashboard Streamlit serta slide paparan.</a:t>
            </a:r>
            <a:endParaRPr lang="en-US" sz="1100" dirty="0"/>
          </a:p>
        </p:txBody>
      </p:sp>
      <p:sp>
        <p:nvSpPr>
          <p:cNvPr id="25" name="Text 23"/>
          <p:cNvSpPr/>
          <p:nvPr/>
        </p:nvSpPr>
        <p:spPr>
          <a:xfrm>
            <a:off x="713232" y="3572279"/>
            <a:ext cx="2852928" cy="210301"/>
          </a:xfrm>
          <a:prstGeom prst="rect">
            <a:avLst/>
          </a:prstGeom>
          <a:noFill/>
          <a:ln/>
        </p:spPr>
        <p:txBody>
          <a:bodyPr wrap="square" lIns="0" tIns="0" rIns="0" bIns="0" rtlCol="0" anchor="ctr">
            <a:noAutofit/>
          </a:bodyPr>
          <a:lstStyle/>
          <a:p>
            <a:pPr marL="0" indent="0">
              <a:buNone/>
            </a:pPr>
            <a:r>
              <a:rPr lang="en-US" b="1" dirty="0">
                <a:solidFill>
                  <a:srgbClr val="197A5D"/>
                </a:solidFill>
                <a:latin typeface="Aptos" pitchFamily="34" charset="0"/>
                <a:ea typeface="Aptos" pitchFamily="34" charset="-122"/>
                <a:cs typeface="Aptos" pitchFamily="34" charset="-120"/>
              </a:rPr>
              <a:t>TOOLS YANG DIGUNAKAN</a:t>
            </a:r>
            <a:endParaRPr lang="en-US" dirty="0"/>
          </a:p>
        </p:txBody>
      </p:sp>
      <p:sp>
        <p:nvSpPr>
          <p:cNvPr id="26" name="Shape 24"/>
          <p:cNvSpPr/>
          <p:nvPr/>
        </p:nvSpPr>
        <p:spPr>
          <a:xfrm>
            <a:off x="77724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27" name="Text 25"/>
          <p:cNvSpPr/>
          <p:nvPr/>
        </p:nvSpPr>
        <p:spPr>
          <a:xfrm>
            <a:off x="92354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2B6CB0"/>
                </a:solidFill>
                <a:latin typeface="Aptos Display" pitchFamily="34" charset="0"/>
                <a:ea typeface="Aptos Display" pitchFamily="34" charset="-122"/>
                <a:cs typeface="Aptos Display" pitchFamily="34" charset="-120"/>
              </a:rPr>
              <a:t>Python</a:t>
            </a:r>
            <a:endParaRPr lang="en-US" sz="2400" dirty="0"/>
          </a:p>
        </p:txBody>
      </p:sp>
      <p:sp>
        <p:nvSpPr>
          <p:cNvPr id="28" name="Text 26"/>
          <p:cNvSpPr/>
          <p:nvPr/>
        </p:nvSpPr>
        <p:spPr>
          <a:xfrm>
            <a:off x="92354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pandas, numpy, plotly</a:t>
            </a:r>
            <a:endParaRPr lang="en-US" sz="1100" dirty="0"/>
          </a:p>
        </p:txBody>
      </p:sp>
      <p:sp>
        <p:nvSpPr>
          <p:cNvPr id="29" name="Shape 27"/>
          <p:cNvSpPr/>
          <p:nvPr/>
        </p:nvSpPr>
        <p:spPr>
          <a:xfrm>
            <a:off x="315468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0" name="Text 28"/>
          <p:cNvSpPr/>
          <p:nvPr/>
        </p:nvSpPr>
        <p:spPr>
          <a:xfrm>
            <a:off x="330098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197A5D"/>
                </a:solidFill>
                <a:latin typeface="Aptos Display" pitchFamily="34" charset="0"/>
                <a:ea typeface="Aptos Display" pitchFamily="34" charset="-122"/>
                <a:cs typeface="Aptos Display" pitchFamily="34" charset="-120"/>
              </a:rPr>
              <a:t>Streamlit</a:t>
            </a:r>
            <a:endParaRPr lang="en-US" sz="2400" dirty="0"/>
          </a:p>
        </p:txBody>
      </p:sp>
      <p:sp>
        <p:nvSpPr>
          <p:cNvPr id="31" name="Text 29"/>
          <p:cNvSpPr/>
          <p:nvPr/>
        </p:nvSpPr>
        <p:spPr>
          <a:xfrm>
            <a:off x="330098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dashboard BI interaktif</a:t>
            </a:r>
            <a:endParaRPr lang="en-US" sz="1100" dirty="0"/>
          </a:p>
        </p:txBody>
      </p:sp>
      <p:sp>
        <p:nvSpPr>
          <p:cNvPr id="32" name="Shape 30"/>
          <p:cNvSpPr/>
          <p:nvPr/>
        </p:nvSpPr>
        <p:spPr>
          <a:xfrm>
            <a:off x="553212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3" name="Text 31"/>
          <p:cNvSpPr/>
          <p:nvPr/>
        </p:nvSpPr>
        <p:spPr>
          <a:xfrm>
            <a:off x="567842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D68A00"/>
                </a:solidFill>
                <a:latin typeface="Aptos Display" pitchFamily="34" charset="0"/>
                <a:ea typeface="Aptos Display" pitchFamily="34" charset="-122"/>
                <a:cs typeface="Aptos Display" pitchFamily="34" charset="-120"/>
              </a:rPr>
              <a:t>PowerPoint</a:t>
            </a:r>
            <a:endParaRPr lang="en-US" sz="2400" dirty="0"/>
          </a:p>
        </p:txBody>
      </p:sp>
      <p:sp>
        <p:nvSpPr>
          <p:cNvPr id="34" name="Text 32"/>
          <p:cNvSpPr/>
          <p:nvPr/>
        </p:nvSpPr>
        <p:spPr>
          <a:xfrm>
            <a:off x="567842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paparan stakeholder</a:t>
            </a:r>
            <a:endParaRPr lang="en-US" sz="1100" dirty="0"/>
          </a:p>
        </p:txBody>
      </p:sp>
      <p:sp>
        <p:nvSpPr>
          <p:cNvPr id="35" name="Shape 33"/>
          <p:cNvSpPr/>
          <p:nvPr/>
        </p:nvSpPr>
        <p:spPr>
          <a:xfrm>
            <a:off x="7909560" y="3910608"/>
            <a:ext cx="2148840" cy="960120"/>
          </a:xfrm>
          <a:prstGeom prst="roundRect">
            <a:avLst>
              <a:gd name="adj" fmla="val 7619"/>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36" name="Text 34"/>
          <p:cNvSpPr/>
          <p:nvPr/>
        </p:nvSpPr>
        <p:spPr>
          <a:xfrm>
            <a:off x="8055864" y="4020336"/>
            <a:ext cx="1856232" cy="384049"/>
          </a:xfrm>
          <a:prstGeom prst="rect">
            <a:avLst/>
          </a:prstGeom>
          <a:noFill/>
          <a:ln/>
        </p:spPr>
        <p:txBody>
          <a:bodyPr wrap="square" lIns="0" tIns="0" rIns="0" bIns="0" rtlCol="0" anchor="ctr">
            <a:normAutofit/>
          </a:bodyPr>
          <a:lstStyle/>
          <a:p>
            <a:pPr marL="0" indent="0">
              <a:buNone/>
            </a:pPr>
            <a:r>
              <a:rPr lang="en-US" sz="2400" b="1" dirty="0">
                <a:solidFill>
                  <a:srgbClr val="C34632"/>
                </a:solidFill>
                <a:latin typeface="Aptos Display" pitchFamily="34" charset="0"/>
                <a:ea typeface="Aptos Display" pitchFamily="34" charset="-122"/>
                <a:cs typeface="Aptos Display" pitchFamily="34" charset="-120"/>
              </a:rPr>
              <a:t>CSV</a:t>
            </a:r>
            <a:endParaRPr lang="en-US" sz="2400" dirty="0"/>
          </a:p>
        </p:txBody>
      </p:sp>
      <p:sp>
        <p:nvSpPr>
          <p:cNvPr id="37" name="Text 35"/>
          <p:cNvSpPr/>
          <p:nvPr/>
        </p:nvSpPr>
        <p:spPr>
          <a:xfrm>
            <a:off x="8055864" y="4431816"/>
            <a:ext cx="1856232" cy="256032"/>
          </a:xfrm>
          <a:prstGeom prst="rect">
            <a:avLst/>
          </a:prstGeom>
          <a:noFill/>
          <a:ln/>
        </p:spPr>
        <p:txBody>
          <a:bodyPr wrap="square" lIns="0" tIns="0" rIns="0" bIns="0" rtlCol="0" anchor="ctr">
            <a:normAutofit/>
          </a:bodyPr>
          <a:lstStyle/>
          <a:p>
            <a:pPr marL="0" indent="0">
              <a:buNone/>
            </a:pPr>
            <a:r>
              <a:rPr lang="en-US" sz="1100" b="1" dirty="0">
                <a:solidFill>
                  <a:srgbClr val="14342C"/>
                </a:solidFill>
                <a:latin typeface="Aptos" pitchFamily="34" charset="0"/>
                <a:ea typeface="Aptos" pitchFamily="34" charset="-122"/>
                <a:cs typeface="Aptos" pitchFamily="34" charset="-120"/>
              </a:rPr>
              <a:t>data bersih siap analisis</a:t>
            </a:r>
            <a:endParaRPr lang="en-US" sz="1100" dirty="0"/>
          </a:p>
        </p:txBody>
      </p:sp>
      <p:sp>
        <p:nvSpPr>
          <p:cNvPr id="39" name="Text 37"/>
          <p:cNvSpPr/>
          <p:nvPr/>
        </p:nvSpPr>
        <p:spPr>
          <a:xfrm>
            <a:off x="310896" y="5071895"/>
            <a:ext cx="9692640" cy="384049"/>
          </a:xfrm>
          <a:prstGeom prst="rect">
            <a:avLst/>
          </a:prstGeom>
          <a:noFill/>
          <a:ln/>
        </p:spPr>
        <p:txBody>
          <a:bodyPr wrap="square" lIns="254" tIns="254" rIns="254" bIns="254" rtlCol="0" anchor="t">
            <a:normAutofit fontScale="92500" lnSpcReduction="10000"/>
          </a:bodyPr>
          <a:lstStyle/>
          <a:p>
            <a:pPr marL="0" indent="0" algn="l">
              <a:buNone/>
            </a:pPr>
            <a:r>
              <a:rPr lang="en-US" sz="980" dirty="0">
                <a:solidFill>
                  <a:srgbClr val="E6FFF4"/>
                </a:solidFill>
                <a:latin typeface="Consolas" pitchFamily="34" charset="0"/>
                <a:ea typeface="Consolas" pitchFamily="34" charset="-122"/>
                <a:cs typeface="Consolas" pitchFamily="34" charset="-120"/>
              </a:rPr>
              <a:t>import pandas as pd</a:t>
            </a:r>
            <a:endParaRPr lang="en-US" sz="980" dirty="0"/>
          </a:p>
          <a:p>
            <a:pPr marL="0" indent="0" algn="l">
              <a:buNone/>
            </a:pPr>
            <a:r>
              <a:rPr lang="en-US" sz="980" dirty="0">
                <a:solidFill>
                  <a:srgbClr val="E6FFF4"/>
                </a:solidFill>
                <a:latin typeface="Consolas" pitchFamily="34" charset="0"/>
                <a:ea typeface="Consolas" pitchFamily="34" charset="-122"/>
                <a:cs typeface="Consolas" pitchFamily="34" charset="-120"/>
              </a:rPr>
              <a:t>df = pd.read_csv("ispu_jakarta_analysis.csv", parse_dates=["tanggal_validated"])</a:t>
            </a:r>
            <a:endParaRPr lang="en-US" sz="980" dirty="0"/>
          </a:p>
          <a:p>
            <a:pPr marL="0" indent="0" algn="l">
              <a:buNone/>
            </a:pPr>
            <a:r>
              <a:rPr lang="en-US" sz="980" dirty="0">
                <a:solidFill>
                  <a:srgbClr val="E6FFF4"/>
                </a:solidFill>
                <a:latin typeface="Consolas" pitchFamily="34" charset="0"/>
                <a:ea typeface="Consolas" pitchFamily="34" charset="-122"/>
                <a:cs typeface="Consolas" pitchFamily="34" charset="-120"/>
              </a:rPr>
              <a:t>df["ispu_dashboard"] = df["max_recomputed"]</a:t>
            </a:r>
            <a:endParaRPr lang="en-US" sz="980" dirty="0"/>
          </a:p>
        </p:txBody>
      </p:sp>
      <p:sp>
        <p:nvSpPr>
          <p:cNvPr id="40" name="Shape 38"/>
          <p:cNvSpPr/>
          <p:nvPr/>
        </p:nvSpPr>
        <p:spPr>
          <a:xfrm>
            <a:off x="777240" y="5806440"/>
            <a:ext cx="10241280" cy="502920"/>
          </a:xfrm>
          <a:prstGeom prst="roundRect">
            <a:avLst>
              <a:gd name="adj" fmla="val 14545"/>
            </a:avLst>
          </a:prstGeom>
          <a:solidFill>
            <a:srgbClr val="F0F7F4"/>
          </a:solidFill>
          <a:ln w="10160">
            <a:solidFill>
              <a:srgbClr val="CBE4D7"/>
            </a:solidFill>
            <a:prstDash val="solid"/>
          </a:ln>
        </p:spPr>
      </p:sp>
      <p:sp>
        <p:nvSpPr>
          <p:cNvPr id="41" name="Text 39"/>
          <p:cNvSpPr/>
          <p:nvPr/>
        </p:nvSpPr>
        <p:spPr>
          <a:xfrm>
            <a:off x="923544" y="5907024"/>
            <a:ext cx="9948672" cy="201168"/>
          </a:xfrm>
          <a:prstGeom prst="rect">
            <a:avLst/>
          </a:prstGeom>
          <a:noFill/>
          <a:ln/>
        </p:spPr>
        <p:txBody>
          <a:bodyPr wrap="square" lIns="0" tIns="0" rIns="0" bIns="0" rtlCol="0" anchor="ctr">
            <a:normAutofit/>
          </a:bodyPr>
          <a:lstStyle/>
          <a:p>
            <a:pPr marL="0" indent="0">
              <a:buNone/>
            </a:pPr>
            <a:r>
              <a:rPr lang="en-US" sz="880" b="1" dirty="0">
                <a:solidFill>
                  <a:srgbClr val="197A5D"/>
                </a:solidFill>
                <a:latin typeface="Aptos" pitchFamily="34" charset="0"/>
                <a:ea typeface="Aptos" pitchFamily="34" charset="-122"/>
                <a:cs typeface="Aptos" pitchFamily="34" charset="-120"/>
              </a:rPr>
              <a:t>Pendekatan pembersihan data</a:t>
            </a:r>
            <a:endParaRPr lang="en-US" sz="880" dirty="0"/>
          </a:p>
        </p:txBody>
      </p:sp>
      <p:sp>
        <p:nvSpPr>
          <p:cNvPr id="42" name="Text 40"/>
          <p:cNvSpPr/>
          <p:nvPr/>
        </p:nvSpPr>
        <p:spPr>
          <a:xfrm>
            <a:off x="923544" y="6163056"/>
            <a:ext cx="9948672" cy="64008"/>
          </a:xfrm>
          <a:prstGeom prst="rect">
            <a:avLst/>
          </a:prstGeom>
          <a:noFill/>
          <a:ln/>
        </p:spPr>
        <p:txBody>
          <a:bodyPr wrap="square" lIns="254" tIns="254" rIns="254" bIns="254" rtlCol="0" anchor="ctr">
            <a:normAutofit fontScale="55000" lnSpcReduction="20000"/>
          </a:bodyPr>
          <a:lstStyle/>
          <a:p>
            <a:pPr marL="0" indent="0">
              <a:buNone/>
            </a:pPr>
            <a:r>
              <a:rPr lang="en-US" sz="980" dirty="0">
                <a:solidFill>
                  <a:srgbClr val="14342C"/>
                </a:solidFill>
                <a:latin typeface="Aptos" pitchFamily="34" charset="0"/>
                <a:ea typeface="Aptos" pitchFamily="34" charset="-122"/>
                <a:cs typeface="Aptos" pitchFamily="34" charset="-120"/>
              </a:rPr>
              <a:t>Data tidak langsung dihapus. Nilai original disimpan untuk audit, nilai tervalidasi digunakan untuk analisis, dan missing PM2.5 dipertahankan sebagai missing struktural historis.</a:t>
            </a:r>
            <a:endParaRPr lang="en-US" sz="980" dirty="0"/>
          </a:p>
        </p:txBody>
      </p:sp>
      <p:sp>
        <p:nvSpPr>
          <p:cNvPr id="43"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4</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Temuan Validasi Data &amp; Strategi Penanganan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Shape 3"/>
          <p:cNvSpPr/>
          <p:nvPr/>
        </p:nvSpPr>
        <p:spPr>
          <a:xfrm>
            <a:off x="685800" y="1353312"/>
            <a:ext cx="2571293" cy="464820"/>
          </a:xfrm>
          <a:prstGeom prst="rect">
            <a:avLst/>
          </a:prstGeom>
          <a:solidFill>
            <a:srgbClr val="E7F4EE"/>
          </a:solidFill>
          <a:ln w="6350">
            <a:solidFill>
              <a:srgbClr val="DCE7E1"/>
            </a:solidFill>
            <a:prstDash val="solid"/>
          </a:ln>
        </p:spPr>
      </p:sp>
      <p:sp>
        <p:nvSpPr>
          <p:cNvPr id="6" name="Text 4"/>
          <p:cNvSpPr/>
          <p:nvPr/>
        </p:nvSpPr>
        <p:spPr>
          <a:xfrm>
            <a:off x="722376" y="1426464"/>
            <a:ext cx="2498141" cy="355092"/>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Masalah kualitas data</a:t>
            </a:r>
            <a:endParaRPr lang="en-US" sz="1400" dirty="0"/>
          </a:p>
        </p:txBody>
      </p:sp>
      <p:sp>
        <p:nvSpPr>
          <p:cNvPr id="7" name="Shape 5"/>
          <p:cNvSpPr/>
          <p:nvPr/>
        </p:nvSpPr>
        <p:spPr>
          <a:xfrm>
            <a:off x="3257093" y="1353312"/>
            <a:ext cx="1217981" cy="464820"/>
          </a:xfrm>
          <a:prstGeom prst="rect">
            <a:avLst/>
          </a:prstGeom>
          <a:solidFill>
            <a:srgbClr val="E7F4EE"/>
          </a:solidFill>
          <a:ln w="6350">
            <a:solidFill>
              <a:srgbClr val="DCE7E1"/>
            </a:solidFill>
            <a:prstDash val="solid"/>
          </a:ln>
        </p:spPr>
      </p:sp>
      <p:sp>
        <p:nvSpPr>
          <p:cNvPr id="8" name="Text 6"/>
          <p:cNvSpPr/>
          <p:nvPr/>
        </p:nvSpPr>
        <p:spPr>
          <a:xfrm>
            <a:off x="3293669" y="1426464"/>
            <a:ext cx="1144829" cy="355092"/>
          </a:xfrm>
          <a:prstGeom prst="rect">
            <a:avLst/>
          </a:prstGeom>
          <a:noFill/>
          <a:ln/>
        </p:spPr>
        <p:txBody>
          <a:bodyPr wrap="square" lIns="0" tIns="0" rIns="0" bIns="0" rtlCol="0" anchor="ctr">
            <a:noAutofit/>
          </a:bodyPr>
          <a:lstStyle/>
          <a:p>
            <a:pPr marL="0" indent="0">
              <a:buNone/>
            </a:pPr>
            <a:r>
              <a:rPr lang="en-US" sz="1400" b="1" dirty="0">
                <a:solidFill>
                  <a:srgbClr val="14342C"/>
                </a:solidFill>
                <a:latin typeface="Aptos" pitchFamily="34" charset="0"/>
                <a:ea typeface="Aptos" pitchFamily="34" charset="-122"/>
                <a:cs typeface="Aptos" pitchFamily="34" charset="-120"/>
              </a:rPr>
              <a:t>Jumlah terdampak</a:t>
            </a:r>
            <a:endParaRPr lang="en-US" sz="1400" dirty="0"/>
          </a:p>
        </p:txBody>
      </p:sp>
      <p:sp>
        <p:nvSpPr>
          <p:cNvPr id="9" name="Shape 7"/>
          <p:cNvSpPr/>
          <p:nvPr/>
        </p:nvSpPr>
        <p:spPr>
          <a:xfrm>
            <a:off x="4475074" y="1353312"/>
            <a:ext cx="2977286" cy="464820"/>
          </a:xfrm>
          <a:prstGeom prst="rect">
            <a:avLst/>
          </a:prstGeom>
          <a:solidFill>
            <a:srgbClr val="E7F4EE"/>
          </a:solidFill>
          <a:ln w="6350">
            <a:solidFill>
              <a:srgbClr val="DCE7E1"/>
            </a:solidFill>
            <a:prstDash val="solid"/>
          </a:ln>
        </p:spPr>
      </p:sp>
      <p:sp>
        <p:nvSpPr>
          <p:cNvPr id="10" name="Text 8"/>
          <p:cNvSpPr/>
          <p:nvPr/>
        </p:nvSpPr>
        <p:spPr>
          <a:xfrm>
            <a:off x="4511650" y="1426464"/>
            <a:ext cx="2904134" cy="355092"/>
          </a:xfrm>
          <a:prstGeom prst="rect">
            <a:avLst/>
          </a:prstGeom>
          <a:noFill/>
          <a:ln/>
        </p:spPr>
        <p:txBody>
          <a:bodyPr wrap="square" lIns="0" tIns="0" rIns="0" bIns="0" rtlCol="0" anchor="ctr">
            <a:normAutofit/>
          </a:bodyPr>
          <a:lstStyle/>
          <a:p>
            <a:pPr marL="0" indent="0">
              <a:buNone/>
            </a:pPr>
            <a:r>
              <a:rPr lang="en-US" sz="1400" b="1" dirty="0">
                <a:solidFill>
                  <a:srgbClr val="14342C"/>
                </a:solidFill>
                <a:latin typeface="Aptos" pitchFamily="34" charset="0"/>
                <a:ea typeface="Aptos" pitchFamily="34" charset="-122"/>
                <a:cs typeface="Aptos" pitchFamily="34" charset="-120"/>
              </a:rPr>
              <a:t>Strategi penanganan</a:t>
            </a:r>
            <a:endParaRPr lang="en-US" sz="1400" dirty="0"/>
          </a:p>
        </p:txBody>
      </p:sp>
      <p:sp>
        <p:nvSpPr>
          <p:cNvPr id="11" name="Shape 9"/>
          <p:cNvSpPr/>
          <p:nvPr/>
        </p:nvSpPr>
        <p:spPr>
          <a:xfrm>
            <a:off x="685800" y="1818132"/>
            <a:ext cx="2571293" cy="464820"/>
          </a:xfrm>
          <a:prstGeom prst="rect">
            <a:avLst/>
          </a:prstGeom>
          <a:solidFill>
            <a:srgbClr val="FFFFFF"/>
          </a:solidFill>
          <a:ln w="5080">
            <a:solidFill>
              <a:srgbClr val="DCE7E1"/>
            </a:solidFill>
            <a:prstDash val="solid"/>
          </a:ln>
        </p:spPr>
      </p:sp>
      <p:sp>
        <p:nvSpPr>
          <p:cNvPr id="12" name="Text 10"/>
          <p:cNvSpPr/>
          <p:nvPr/>
        </p:nvSpPr>
        <p:spPr>
          <a:xfrm>
            <a:off x="722376" y="187299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PM2.5 missing</a:t>
            </a:r>
            <a:endParaRPr lang="en-US" sz="1200" dirty="0"/>
          </a:p>
        </p:txBody>
      </p:sp>
      <p:sp>
        <p:nvSpPr>
          <p:cNvPr id="13" name="Shape 11"/>
          <p:cNvSpPr/>
          <p:nvPr/>
        </p:nvSpPr>
        <p:spPr>
          <a:xfrm>
            <a:off x="3257093" y="1818132"/>
            <a:ext cx="1217981" cy="464820"/>
          </a:xfrm>
          <a:prstGeom prst="rect">
            <a:avLst/>
          </a:prstGeom>
          <a:solidFill>
            <a:srgbClr val="FFFFFF"/>
          </a:solidFill>
          <a:ln w="5080">
            <a:solidFill>
              <a:srgbClr val="DCE7E1"/>
            </a:solidFill>
            <a:prstDash val="solid"/>
          </a:ln>
        </p:spPr>
      </p:sp>
      <p:sp>
        <p:nvSpPr>
          <p:cNvPr id="14" name="Text 12"/>
          <p:cNvSpPr/>
          <p:nvPr/>
        </p:nvSpPr>
        <p:spPr>
          <a:xfrm>
            <a:off x="3293669" y="187299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9.059</a:t>
            </a:r>
            <a:endParaRPr lang="en-US" sz="1200" dirty="0"/>
          </a:p>
        </p:txBody>
      </p:sp>
      <p:sp>
        <p:nvSpPr>
          <p:cNvPr id="15" name="Shape 13"/>
          <p:cNvSpPr/>
          <p:nvPr/>
        </p:nvSpPr>
        <p:spPr>
          <a:xfrm>
            <a:off x="4475074" y="1818132"/>
            <a:ext cx="2977286" cy="464820"/>
          </a:xfrm>
          <a:prstGeom prst="rect">
            <a:avLst/>
          </a:prstGeom>
          <a:solidFill>
            <a:srgbClr val="FFFFFF"/>
          </a:solidFill>
          <a:ln w="5080">
            <a:solidFill>
              <a:srgbClr val="DCE7E1"/>
            </a:solidFill>
            <a:prstDash val="solid"/>
          </a:ln>
        </p:spPr>
      </p:sp>
      <p:sp>
        <p:nvSpPr>
          <p:cNvPr id="16" name="Text 14"/>
          <p:cNvSpPr/>
          <p:nvPr/>
        </p:nvSpPr>
        <p:spPr>
          <a:xfrm>
            <a:off x="4511650" y="187299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Tidak diimputasi; analisis PM2.5 hanya pada data tersedia</a:t>
            </a:r>
            <a:endParaRPr lang="en-US" sz="1200" dirty="0"/>
          </a:p>
        </p:txBody>
      </p:sp>
      <p:sp>
        <p:nvSpPr>
          <p:cNvPr id="17" name="Shape 15"/>
          <p:cNvSpPr/>
          <p:nvPr/>
        </p:nvSpPr>
        <p:spPr>
          <a:xfrm>
            <a:off x="685800" y="2282952"/>
            <a:ext cx="2571293" cy="464820"/>
          </a:xfrm>
          <a:prstGeom prst="rect">
            <a:avLst/>
          </a:prstGeom>
          <a:solidFill>
            <a:srgbClr val="F8FBF9"/>
          </a:solidFill>
          <a:ln w="5080">
            <a:solidFill>
              <a:srgbClr val="DCE7E1"/>
            </a:solidFill>
            <a:prstDash val="solid"/>
          </a:ln>
        </p:spPr>
      </p:sp>
      <p:sp>
        <p:nvSpPr>
          <p:cNvPr id="18" name="Text 16"/>
          <p:cNvSpPr/>
          <p:nvPr/>
        </p:nvSpPr>
        <p:spPr>
          <a:xfrm>
            <a:off x="722376" y="233781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Max mismatch</a:t>
            </a:r>
            <a:endParaRPr lang="en-US" sz="1200" dirty="0"/>
          </a:p>
        </p:txBody>
      </p:sp>
      <p:sp>
        <p:nvSpPr>
          <p:cNvPr id="19" name="Shape 17"/>
          <p:cNvSpPr/>
          <p:nvPr/>
        </p:nvSpPr>
        <p:spPr>
          <a:xfrm>
            <a:off x="3257093" y="2282952"/>
            <a:ext cx="1217981" cy="464820"/>
          </a:xfrm>
          <a:prstGeom prst="rect">
            <a:avLst/>
          </a:prstGeom>
          <a:solidFill>
            <a:srgbClr val="F8FBF9"/>
          </a:solidFill>
          <a:ln w="5080">
            <a:solidFill>
              <a:srgbClr val="DCE7E1"/>
            </a:solidFill>
            <a:prstDash val="solid"/>
          </a:ln>
        </p:spPr>
      </p:sp>
      <p:sp>
        <p:nvSpPr>
          <p:cNvPr id="20" name="Text 18"/>
          <p:cNvSpPr/>
          <p:nvPr/>
        </p:nvSpPr>
        <p:spPr>
          <a:xfrm>
            <a:off x="3293669" y="233781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1.378</a:t>
            </a:r>
            <a:endParaRPr lang="en-US" sz="1200" dirty="0"/>
          </a:p>
        </p:txBody>
      </p:sp>
      <p:sp>
        <p:nvSpPr>
          <p:cNvPr id="21" name="Shape 19"/>
          <p:cNvSpPr/>
          <p:nvPr/>
        </p:nvSpPr>
        <p:spPr>
          <a:xfrm>
            <a:off x="4475074" y="2282952"/>
            <a:ext cx="2977286" cy="464820"/>
          </a:xfrm>
          <a:prstGeom prst="rect">
            <a:avLst/>
          </a:prstGeom>
          <a:solidFill>
            <a:srgbClr val="F8FBF9"/>
          </a:solidFill>
          <a:ln w="5080">
            <a:solidFill>
              <a:srgbClr val="DCE7E1"/>
            </a:solidFill>
            <a:prstDash val="solid"/>
          </a:ln>
        </p:spPr>
      </p:sp>
      <p:sp>
        <p:nvSpPr>
          <p:cNvPr id="22" name="Text 20"/>
          <p:cNvSpPr/>
          <p:nvPr/>
        </p:nvSpPr>
        <p:spPr>
          <a:xfrm>
            <a:off x="4511650" y="233781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Gunakan max_recomputed sebagai ISPU tervalidasi</a:t>
            </a:r>
            <a:endParaRPr lang="en-US" sz="1200" dirty="0"/>
          </a:p>
        </p:txBody>
      </p:sp>
      <p:sp>
        <p:nvSpPr>
          <p:cNvPr id="23" name="Shape 21"/>
          <p:cNvSpPr/>
          <p:nvPr/>
        </p:nvSpPr>
        <p:spPr>
          <a:xfrm>
            <a:off x="685800" y="2747772"/>
            <a:ext cx="2571293" cy="464820"/>
          </a:xfrm>
          <a:prstGeom prst="rect">
            <a:avLst/>
          </a:prstGeom>
          <a:solidFill>
            <a:srgbClr val="FFFFFF"/>
          </a:solidFill>
          <a:ln w="5080">
            <a:solidFill>
              <a:srgbClr val="DCE7E1"/>
            </a:solidFill>
            <a:prstDash val="solid"/>
          </a:ln>
        </p:spPr>
      </p:sp>
      <p:sp>
        <p:nvSpPr>
          <p:cNvPr id="24" name="Text 22"/>
          <p:cNvSpPr/>
          <p:nvPr/>
        </p:nvSpPr>
        <p:spPr>
          <a:xfrm>
            <a:off x="722376" y="280263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Critical mismatch</a:t>
            </a:r>
            <a:endParaRPr lang="en-US" sz="1200" dirty="0"/>
          </a:p>
        </p:txBody>
      </p:sp>
      <p:sp>
        <p:nvSpPr>
          <p:cNvPr id="25" name="Shape 23"/>
          <p:cNvSpPr/>
          <p:nvPr/>
        </p:nvSpPr>
        <p:spPr>
          <a:xfrm>
            <a:off x="3257093" y="2747772"/>
            <a:ext cx="1217981" cy="464820"/>
          </a:xfrm>
          <a:prstGeom prst="rect">
            <a:avLst/>
          </a:prstGeom>
          <a:solidFill>
            <a:srgbClr val="FFFFFF"/>
          </a:solidFill>
          <a:ln w="5080">
            <a:solidFill>
              <a:srgbClr val="DCE7E1"/>
            </a:solidFill>
            <a:prstDash val="solid"/>
          </a:ln>
        </p:spPr>
      </p:sp>
      <p:sp>
        <p:nvSpPr>
          <p:cNvPr id="26" name="Text 24"/>
          <p:cNvSpPr/>
          <p:nvPr/>
        </p:nvSpPr>
        <p:spPr>
          <a:xfrm>
            <a:off x="3293669" y="280263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1.246</a:t>
            </a:r>
            <a:endParaRPr lang="en-US" sz="1200" dirty="0"/>
          </a:p>
        </p:txBody>
      </p:sp>
      <p:sp>
        <p:nvSpPr>
          <p:cNvPr id="27" name="Shape 25"/>
          <p:cNvSpPr/>
          <p:nvPr/>
        </p:nvSpPr>
        <p:spPr>
          <a:xfrm>
            <a:off x="4475074" y="2747772"/>
            <a:ext cx="2977286" cy="464820"/>
          </a:xfrm>
          <a:prstGeom prst="rect">
            <a:avLst/>
          </a:prstGeom>
          <a:solidFill>
            <a:srgbClr val="FFFFFF"/>
          </a:solidFill>
          <a:ln w="5080">
            <a:solidFill>
              <a:srgbClr val="DCE7E1"/>
            </a:solidFill>
            <a:prstDash val="solid"/>
          </a:ln>
        </p:spPr>
      </p:sp>
      <p:sp>
        <p:nvSpPr>
          <p:cNvPr id="28" name="Text 26"/>
          <p:cNvSpPr/>
          <p:nvPr/>
        </p:nvSpPr>
        <p:spPr>
          <a:xfrm>
            <a:off x="4511650" y="280263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Gunakan critical_recomputed sebagai pencemar dominan</a:t>
            </a:r>
            <a:endParaRPr lang="en-US" sz="1200" dirty="0"/>
          </a:p>
        </p:txBody>
      </p:sp>
      <p:sp>
        <p:nvSpPr>
          <p:cNvPr id="29" name="Shape 27"/>
          <p:cNvSpPr/>
          <p:nvPr/>
        </p:nvSpPr>
        <p:spPr>
          <a:xfrm>
            <a:off x="685800" y="3212592"/>
            <a:ext cx="2571293" cy="464820"/>
          </a:xfrm>
          <a:prstGeom prst="rect">
            <a:avLst/>
          </a:prstGeom>
          <a:solidFill>
            <a:srgbClr val="F8FBF9"/>
          </a:solidFill>
          <a:ln w="5080">
            <a:solidFill>
              <a:srgbClr val="DCE7E1"/>
            </a:solidFill>
            <a:prstDash val="solid"/>
          </a:ln>
        </p:spPr>
      </p:sp>
      <p:sp>
        <p:nvSpPr>
          <p:cNvPr id="30" name="Text 28"/>
          <p:cNvSpPr/>
          <p:nvPr/>
        </p:nvSpPr>
        <p:spPr>
          <a:xfrm>
            <a:off x="722376" y="326745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Tanggal-periode mismatch</a:t>
            </a:r>
            <a:endParaRPr lang="en-US" sz="1200" dirty="0"/>
          </a:p>
        </p:txBody>
      </p:sp>
      <p:sp>
        <p:nvSpPr>
          <p:cNvPr id="31" name="Shape 29"/>
          <p:cNvSpPr/>
          <p:nvPr/>
        </p:nvSpPr>
        <p:spPr>
          <a:xfrm>
            <a:off x="3257093" y="3212592"/>
            <a:ext cx="1217981" cy="464820"/>
          </a:xfrm>
          <a:prstGeom prst="rect">
            <a:avLst/>
          </a:prstGeom>
          <a:solidFill>
            <a:srgbClr val="F8FBF9"/>
          </a:solidFill>
          <a:ln w="5080">
            <a:solidFill>
              <a:srgbClr val="DCE7E1"/>
            </a:solidFill>
            <a:prstDash val="solid"/>
          </a:ln>
        </p:spPr>
      </p:sp>
      <p:sp>
        <p:nvSpPr>
          <p:cNvPr id="32" name="Text 30"/>
          <p:cNvSpPr/>
          <p:nvPr/>
        </p:nvSpPr>
        <p:spPr>
          <a:xfrm>
            <a:off x="3293669" y="326745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172</a:t>
            </a:r>
            <a:endParaRPr lang="en-US" sz="1200" dirty="0"/>
          </a:p>
        </p:txBody>
      </p:sp>
      <p:sp>
        <p:nvSpPr>
          <p:cNvPr id="33" name="Shape 31"/>
          <p:cNvSpPr/>
          <p:nvPr/>
        </p:nvSpPr>
        <p:spPr>
          <a:xfrm>
            <a:off x="4475074" y="3212592"/>
            <a:ext cx="2977286" cy="464820"/>
          </a:xfrm>
          <a:prstGeom prst="rect">
            <a:avLst/>
          </a:prstGeom>
          <a:solidFill>
            <a:srgbClr val="F8FBF9"/>
          </a:solidFill>
          <a:ln w="5080">
            <a:solidFill>
              <a:srgbClr val="DCE7E1"/>
            </a:solidFill>
            <a:prstDash val="solid"/>
          </a:ln>
        </p:spPr>
      </p:sp>
      <p:sp>
        <p:nvSpPr>
          <p:cNvPr id="34" name="Text 32"/>
          <p:cNvSpPr/>
          <p:nvPr/>
        </p:nvSpPr>
        <p:spPr>
          <a:xfrm>
            <a:off x="4511650" y="326745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Koreksi deterministik/flag audit</a:t>
            </a:r>
            <a:endParaRPr lang="en-US" sz="1200" dirty="0"/>
          </a:p>
        </p:txBody>
      </p:sp>
      <p:sp>
        <p:nvSpPr>
          <p:cNvPr id="35" name="Shape 33"/>
          <p:cNvSpPr/>
          <p:nvPr/>
        </p:nvSpPr>
        <p:spPr>
          <a:xfrm>
            <a:off x="685800" y="3677412"/>
            <a:ext cx="2571293" cy="464820"/>
          </a:xfrm>
          <a:prstGeom prst="rect">
            <a:avLst/>
          </a:prstGeom>
          <a:solidFill>
            <a:srgbClr val="FFFFFF"/>
          </a:solidFill>
          <a:ln w="5080">
            <a:solidFill>
              <a:srgbClr val="DCE7E1"/>
            </a:solidFill>
            <a:prstDash val="solid"/>
          </a:ln>
        </p:spPr>
      </p:sp>
      <p:sp>
        <p:nvSpPr>
          <p:cNvPr id="36" name="Text 34"/>
          <p:cNvSpPr/>
          <p:nvPr/>
        </p:nvSpPr>
        <p:spPr>
          <a:xfrm>
            <a:off x="722376" y="3732276"/>
            <a:ext cx="2498141"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Duplikat kunci harian-stasiun</a:t>
            </a:r>
            <a:endParaRPr lang="en-US" sz="1200" dirty="0"/>
          </a:p>
        </p:txBody>
      </p:sp>
      <p:sp>
        <p:nvSpPr>
          <p:cNvPr id="37" name="Shape 35"/>
          <p:cNvSpPr/>
          <p:nvPr/>
        </p:nvSpPr>
        <p:spPr>
          <a:xfrm>
            <a:off x="3257093" y="3677412"/>
            <a:ext cx="1217981" cy="464820"/>
          </a:xfrm>
          <a:prstGeom prst="rect">
            <a:avLst/>
          </a:prstGeom>
          <a:solidFill>
            <a:srgbClr val="FFFFFF"/>
          </a:solidFill>
          <a:ln w="5080">
            <a:solidFill>
              <a:srgbClr val="DCE7E1"/>
            </a:solidFill>
            <a:prstDash val="solid"/>
          </a:ln>
        </p:spPr>
      </p:sp>
      <p:sp>
        <p:nvSpPr>
          <p:cNvPr id="38" name="Text 36"/>
          <p:cNvSpPr/>
          <p:nvPr/>
        </p:nvSpPr>
        <p:spPr>
          <a:xfrm>
            <a:off x="3293669" y="3732276"/>
            <a:ext cx="1144829"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640</a:t>
            </a:r>
            <a:endParaRPr lang="en-US" sz="1200" dirty="0"/>
          </a:p>
        </p:txBody>
      </p:sp>
      <p:sp>
        <p:nvSpPr>
          <p:cNvPr id="39" name="Shape 37"/>
          <p:cNvSpPr/>
          <p:nvPr/>
        </p:nvSpPr>
        <p:spPr>
          <a:xfrm>
            <a:off x="4475074" y="3677412"/>
            <a:ext cx="2977286" cy="464820"/>
          </a:xfrm>
          <a:prstGeom prst="rect">
            <a:avLst/>
          </a:prstGeom>
          <a:solidFill>
            <a:srgbClr val="FFFFFF"/>
          </a:solidFill>
          <a:ln w="5080">
            <a:solidFill>
              <a:srgbClr val="DCE7E1"/>
            </a:solidFill>
            <a:prstDash val="solid"/>
          </a:ln>
        </p:spPr>
      </p:sp>
      <p:sp>
        <p:nvSpPr>
          <p:cNvPr id="40" name="Text 38"/>
          <p:cNvSpPr/>
          <p:nvPr/>
        </p:nvSpPr>
        <p:spPr>
          <a:xfrm>
            <a:off x="4511650" y="3732276"/>
            <a:ext cx="2904134" cy="373380"/>
          </a:xfrm>
          <a:prstGeom prst="rect">
            <a:avLst/>
          </a:prstGeom>
          <a:noFill/>
          <a:ln/>
        </p:spPr>
        <p:txBody>
          <a:bodyPr wrap="square" lIns="0" tIns="0" rIns="0" bIns="0"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Flag, tidak digabung otomatis</a:t>
            </a:r>
            <a:endParaRPr lang="en-US" sz="1200" dirty="0"/>
          </a:p>
        </p:txBody>
      </p:sp>
      <p:graphicFrame>
        <p:nvGraphicFramePr>
          <p:cNvPr id="41" name="Chart 0"/>
          <p:cNvGraphicFramePr/>
          <p:nvPr>
            <p:extLst>
              <p:ext uri="{D42A27DB-BD31-4B8C-83A1-F6EECF244321}">
                <p14:modId xmlns:p14="http://schemas.microsoft.com/office/powerpoint/2010/main" val="2385839761"/>
              </p:ext>
            </p:extLst>
          </p:nvPr>
        </p:nvGraphicFramePr>
        <p:xfrm>
          <a:off x="7593980" y="1371600"/>
          <a:ext cx="3653140" cy="2770632"/>
        </p:xfrm>
        <a:graphic>
          <a:graphicData uri="http://schemas.openxmlformats.org/drawingml/2006/chart">
            <c:chart xmlns:c="http://schemas.openxmlformats.org/drawingml/2006/chart" xmlns:r="http://schemas.openxmlformats.org/officeDocument/2006/relationships" r:id="rId3"/>
          </a:graphicData>
        </a:graphic>
      </p:graphicFrame>
      <p:sp>
        <p:nvSpPr>
          <p:cNvPr id="42" name="Shape 39"/>
          <p:cNvSpPr/>
          <p:nvPr/>
        </p:nvSpPr>
        <p:spPr>
          <a:xfrm>
            <a:off x="749808" y="4526280"/>
            <a:ext cx="5212080" cy="914400"/>
          </a:xfrm>
          <a:prstGeom prst="roundRect">
            <a:avLst>
              <a:gd name="adj" fmla="val 8000"/>
            </a:avLst>
          </a:prstGeom>
          <a:solidFill>
            <a:srgbClr val="F0F7F4"/>
          </a:solidFill>
          <a:ln w="10160">
            <a:solidFill>
              <a:srgbClr val="CBE4D7"/>
            </a:solidFill>
            <a:prstDash val="solid"/>
          </a:ln>
        </p:spPr>
      </p:sp>
      <p:sp>
        <p:nvSpPr>
          <p:cNvPr id="43" name="Text 40"/>
          <p:cNvSpPr/>
          <p:nvPr/>
        </p:nvSpPr>
        <p:spPr>
          <a:xfrm>
            <a:off x="896112" y="4626864"/>
            <a:ext cx="4919472" cy="201168"/>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Validasi konsistensi antar kolom</a:t>
            </a:r>
            <a:endParaRPr lang="en-US" sz="1400" dirty="0"/>
          </a:p>
        </p:txBody>
      </p:sp>
      <p:sp>
        <p:nvSpPr>
          <p:cNvPr id="44" name="Text 41"/>
          <p:cNvSpPr/>
          <p:nvPr/>
        </p:nvSpPr>
        <p:spPr>
          <a:xfrm>
            <a:off x="896112" y="4882896"/>
            <a:ext cx="4919472" cy="475488"/>
          </a:xfrm>
          <a:prstGeom prst="rect">
            <a:avLst/>
          </a:prstGeom>
          <a:noFill/>
          <a:ln/>
        </p:spPr>
        <p:txBody>
          <a:bodyPr wrap="square" lIns="254" tIns="254" rIns="254" bIns="254" rtlCol="0" anchor="ctr">
            <a:noAutofit/>
          </a:bodyPr>
          <a:lstStyle/>
          <a:p>
            <a:pPr marL="0" indent="0">
              <a:buNone/>
            </a:pPr>
            <a:r>
              <a:rPr lang="en-US" sz="1200" dirty="0">
                <a:solidFill>
                  <a:srgbClr val="14342C"/>
                </a:solidFill>
                <a:latin typeface="Aptos" pitchFamily="34" charset="0"/>
                <a:ea typeface="Aptos" pitchFamily="34" charset="-122"/>
                <a:cs typeface="Aptos" pitchFamily="34" charset="-120"/>
              </a:rPr>
              <a:t>Max divalidasi ulang menjadi max_recomputed; critical divalidasi menjadi critical_recomputed; periode_data diperiksa terhadap tanggal_validated; duplikasi kunci tanggal-stasiun diberi flag audit.</a:t>
            </a:r>
            <a:endParaRPr lang="en-US" sz="1200" dirty="0"/>
          </a:p>
        </p:txBody>
      </p:sp>
      <p:sp>
        <p:nvSpPr>
          <p:cNvPr id="45" name="Shape 42"/>
          <p:cNvSpPr/>
          <p:nvPr/>
        </p:nvSpPr>
        <p:spPr>
          <a:xfrm>
            <a:off x="6172200" y="4526280"/>
            <a:ext cx="5120640" cy="914400"/>
          </a:xfrm>
          <a:prstGeom prst="roundRect">
            <a:avLst>
              <a:gd name="adj" fmla="val 8000"/>
            </a:avLst>
          </a:prstGeom>
          <a:solidFill>
            <a:srgbClr val="FFF6E7"/>
          </a:solidFill>
          <a:ln w="10160">
            <a:solidFill>
              <a:srgbClr val="CBE4D7"/>
            </a:solidFill>
            <a:prstDash val="solid"/>
          </a:ln>
        </p:spPr>
      </p:sp>
      <p:sp>
        <p:nvSpPr>
          <p:cNvPr id="46" name="Text 43"/>
          <p:cNvSpPr/>
          <p:nvPr/>
        </p:nvSpPr>
        <p:spPr>
          <a:xfrm>
            <a:off x="6318504" y="4626864"/>
            <a:ext cx="4828032" cy="201168"/>
          </a:xfrm>
          <a:prstGeom prst="rect">
            <a:avLst/>
          </a:prstGeom>
          <a:noFill/>
          <a:ln/>
        </p:spPr>
        <p:txBody>
          <a:bodyPr wrap="square" lIns="0" tIns="0" rIns="0" bIns="0" rtlCol="0" anchor="ctr">
            <a:noAutofit/>
          </a:bodyPr>
          <a:lstStyle/>
          <a:p>
            <a:pPr marL="0" indent="0">
              <a:buNone/>
            </a:pPr>
            <a:r>
              <a:rPr lang="en-US" sz="1400" b="1" dirty="0">
                <a:solidFill>
                  <a:srgbClr val="D68A00"/>
                </a:solidFill>
                <a:latin typeface="Aptos" pitchFamily="34" charset="0"/>
                <a:ea typeface="Aptos" pitchFamily="34" charset="-122"/>
                <a:cs typeface="Aptos" pitchFamily="34" charset="-120"/>
              </a:rPr>
              <a:t>Keputusan PM2.5</a:t>
            </a:r>
            <a:endParaRPr lang="en-US" sz="1400" dirty="0"/>
          </a:p>
        </p:txBody>
      </p:sp>
      <p:sp>
        <p:nvSpPr>
          <p:cNvPr id="47" name="Text 44"/>
          <p:cNvSpPr/>
          <p:nvPr/>
        </p:nvSpPr>
        <p:spPr>
          <a:xfrm>
            <a:off x="6318504" y="4882896"/>
            <a:ext cx="4828032" cy="475488"/>
          </a:xfrm>
          <a:prstGeom prst="rect">
            <a:avLst/>
          </a:prstGeom>
          <a:noFill/>
          <a:ln/>
        </p:spPr>
        <p:txBody>
          <a:bodyPr wrap="square" lIns="254" tIns="254" rIns="254" bIns="254" rtlCol="0" anchor="ctr">
            <a:normAutofit/>
          </a:bodyPr>
          <a:lstStyle/>
          <a:p>
            <a:pPr marL="0" indent="0">
              <a:buNone/>
            </a:pPr>
            <a:r>
              <a:rPr lang="en-US" sz="1200" dirty="0">
                <a:solidFill>
                  <a:srgbClr val="14342C"/>
                </a:solidFill>
                <a:latin typeface="Aptos" pitchFamily="34" charset="0"/>
                <a:ea typeface="Aptos" pitchFamily="34" charset="-122"/>
                <a:cs typeface="Aptos" pitchFamily="34" charset="-120"/>
              </a:rPr>
              <a:t>PM2.5 missing 9.059 baris (62.2%). Tidak diimputasi; analisis PM2.5 dibatasi pada 2020-02-01 s.d. 2023-11-30 ketika data tersedia.</a:t>
            </a:r>
            <a:endParaRPr lang="en-US" sz="1200" dirty="0"/>
          </a:p>
        </p:txBody>
      </p:sp>
      <p:sp>
        <p:nvSpPr>
          <p:cNvPr id="48" name="Shape 45"/>
          <p:cNvSpPr/>
          <p:nvPr/>
        </p:nvSpPr>
        <p:spPr>
          <a:xfrm>
            <a:off x="749808" y="5605272"/>
            <a:ext cx="10561320" cy="530352"/>
          </a:xfrm>
          <a:prstGeom prst="roundRect">
            <a:avLst>
              <a:gd name="adj" fmla="val 13793"/>
            </a:avLst>
          </a:prstGeom>
          <a:solidFill>
            <a:srgbClr val="EAF2FF"/>
          </a:solidFill>
          <a:ln w="10160">
            <a:solidFill>
              <a:srgbClr val="CBE4D7"/>
            </a:solidFill>
            <a:prstDash val="solid"/>
          </a:ln>
        </p:spPr>
      </p:sp>
      <p:sp>
        <p:nvSpPr>
          <p:cNvPr id="49" name="Text 46"/>
          <p:cNvSpPr/>
          <p:nvPr/>
        </p:nvSpPr>
        <p:spPr>
          <a:xfrm>
            <a:off x="896112" y="5705856"/>
            <a:ext cx="10268712" cy="201168"/>
          </a:xfrm>
          <a:prstGeom prst="rect">
            <a:avLst/>
          </a:prstGeom>
          <a:noFill/>
          <a:ln/>
        </p:spPr>
        <p:txBody>
          <a:bodyPr wrap="square" lIns="0" tIns="0" rIns="0" bIns="0" rtlCol="0" anchor="ctr">
            <a:noAutofit/>
          </a:bodyPr>
          <a:lstStyle/>
          <a:p>
            <a:pPr marL="0" indent="0">
              <a:buNone/>
            </a:pPr>
            <a:r>
              <a:rPr lang="en-US" sz="1400" b="1" dirty="0">
                <a:solidFill>
                  <a:srgbClr val="2B6CB0"/>
                </a:solidFill>
                <a:latin typeface="Aptos" pitchFamily="34" charset="0"/>
                <a:ea typeface="Aptos" pitchFamily="34" charset="-122"/>
                <a:cs typeface="Aptos" pitchFamily="34" charset="-120"/>
              </a:rPr>
              <a:t>Hasil data bersih</a:t>
            </a:r>
            <a:endParaRPr lang="en-US" sz="1400" dirty="0"/>
          </a:p>
        </p:txBody>
      </p:sp>
      <p:sp>
        <p:nvSpPr>
          <p:cNvPr id="50" name="Text 47"/>
          <p:cNvSpPr/>
          <p:nvPr/>
        </p:nvSpPr>
        <p:spPr>
          <a:xfrm>
            <a:off x="896112" y="5961888"/>
            <a:ext cx="10268712" cy="91440"/>
          </a:xfrm>
          <a:prstGeom prst="rect">
            <a:avLst/>
          </a:prstGeom>
          <a:noFill/>
          <a:ln/>
        </p:spPr>
        <p:txBody>
          <a:bodyPr wrap="square" lIns="254" tIns="254" rIns="254" bIns="254" rtlCol="0" anchor="ctr">
            <a:noAutofit/>
          </a:bodyPr>
          <a:lstStyle/>
          <a:p>
            <a:pPr marL="0" indent="0">
              <a:buNone/>
            </a:pPr>
            <a:r>
              <a:rPr lang="en-US" sz="1200" dirty="0">
                <a:solidFill>
                  <a:srgbClr val="14342C"/>
                </a:solidFill>
                <a:latin typeface="Aptos" pitchFamily="34" charset="0"/>
                <a:ea typeface="Aptos" pitchFamily="34" charset="-122"/>
                <a:cs typeface="Aptos" pitchFamily="34" charset="-120"/>
              </a:rPr>
              <a:t>14.576 baris dan 28 kolom siap digunakan; kategori udara mengikuti kolom categori dari dataset, bukan dihitung ulang dari nilai ISPU.</a:t>
            </a:r>
            <a:endParaRPr lang="en-US" sz="1200" dirty="0"/>
          </a:p>
        </p:txBody>
      </p:sp>
      <p:sp>
        <p:nvSpPr>
          <p:cNvPr id="51"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5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1 — Overview Kualitas Udara</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197A5D"/>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197A5D"/>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Rata-rata ISPU seluruh data adalah 79.2, dengan 17.6% hari masuk TIDAK SEHAT atau lebih buruk. Parameter pencemar dominan terbanyak adalah O3 (44.3%).</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Kepala Dinas dapat menetapkan pemantauan harian berbasis alert ketika kategori naik ke TIDAK SEHAT, terutama pada stasiun dengan nilai terkini tertinggi.</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6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2 — Tren Temporal</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2B6CB0"/>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2B6CB0"/>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Autofit/>
          </a:bodyPr>
          <a:lstStyle/>
          <a:p>
            <a:pPr marL="0" indent="0">
              <a:buNone/>
            </a:pPr>
            <a:r>
              <a:rPr lang="en-US" sz="1400" dirty="0">
                <a:solidFill>
                  <a:srgbClr val="14342C"/>
                </a:solidFill>
                <a:latin typeface="Aptos" pitchFamily="34" charset="0"/>
                <a:ea typeface="Aptos" pitchFamily="34" charset="-122"/>
                <a:cs typeface="Aptos" pitchFamily="34" charset="-120"/>
              </a:rPr>
              <a:t>Tahun terbaik adalah 2010 dengan rata-rata ISPU 60.8; tahun terburuk adalah 2018 dengan rata-rata ISPU 120.4. Tren menunjukkan fluktuasi antar tahun sehingga evaluasi perlu memperhatikan konteks data dan jumlah observasi.</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Gunakan tren bulanan/tahunan sebagai trigger evaluasi program: ketika rata-rata tahunan dan % hari tidak sehat naik, aktifkan audit sumber emisi dan komunikasi risiko.</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7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3 — Perbandingan Antar Stasiun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D68A00"/>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D68A00"/>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Stasiun dengan rata-rata ISPU tertinggi adalah DKI2 Kelapa Gading (88.2), sedangkan terendah DKI1 Bunderan HI (65). DKI4 Lubang Buaya memiliki proporsi hari tidak sehat tertinggi (23.1%).</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Prioritaskan inspeksi dan pengendalian sumber pencemar pada area yang direpresentasikan stasiun dengan rata-rata ISPU dan proporsi hari tidak sehat tertinggi.</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8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4 — Parameter Pencemar Kritis</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C34632"/>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O3 paling sering menjadi pencemar dominan (44.3%), diikuti PM2.5 (29.3%) dan PM10 (22.7%). Namun PM2.5 harus dibaca bersama coverage karena 62.2% datanya missing.</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Intervensi perlu spesifik parameter: O3 memerlukan evaluasi prekursor emisi, sedangkan PM2.5 perlu dibaca pada periode data tersedia dan dilengkapi dengan peningkatan cakupan pengukuran.</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9 — TEMUAN DASHBOARD</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Dashboard 5 — Pola Musiman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658368" y="1261872"/>
            <a:ext cx="2194560" cy="164592"/>
          </a:xfrm>
          <a:prstGeom prst="rect">
            <a:avLst/>
          </a:prstGeom>
          <a:noFill/>
          <a:ln/>
        </p:spPr>
        <p:txBody>
          <a:bodyPr wrap="square" lIns="0" tIns="0" rIns="0" bIns="0" rtlCol="0" anchor="ctr">
            <a:normAutofit/>
          </a:bodyPr>
          <a:lstStyle/>
          <a:p>
            <a:pPr marL="0" indent="0">
              <a:buNone/>
            </a:pPr>
            <a:r>
              <a:rPr lang="en-US" sz="720" b="1" dirty="0">
                <a:solidFill>
                  <a:srgbClr val="197A5D"/>
                </a:solidFill>
                <a:latin typeface="Aptos" pitchFamily="34" charset="0"/>
                <a:ea typeface="Aptos" pitchFamily="34" charset="-122"/>
                <a:cs typeface="Aptos" pitchFamily="34" charset="-120"/>
              </a:rPr>
              <a:t>TANGKAPAN LAYAR DASHBOARD</a:t>
            </a:r>
            <a:endParaRPr lang="en-US" sz="720" dirty="0"/>
          </a:p>
        </p:txBody>
      </p:sp>
      <p:sp>
        <p:nvSpPr>
          <p:cNvPr id="6" name="Shape 4"/>
          <p:cNvSpPr/>
          <p:nvPr/>
        </p:nvSpPr>
        <p:spPr>
          <a:xfrm>
            <a:off x="612648" y="1444752"/>
            <a:ext cx="7543800" cy="4279392"/>
          </a:xfrm>
          <a:prstGeom prst="roundRect">
            <a:avLst>
              <a:gd name="adj" fmla="val 1709"/>
            </a:avLst>
          </a:prstGeom>
          <a:solidFill>
            <a:srgbClr val="FFFFFF"/>
          </a:solidFill>
          <a:ln w="10160">
            <a:solidFill>
              <a:srgbClr val="C8D8D1"/>
            </a:solidFill>
            <a:prstDash val="solid"/>
          </a:ln>
          <a:effectLst>
            <a:outerShdw blurRad="12700" dist="12700" dir="2700000" algn="bl" rotWithShape="0">
              <a:srgbClr val="86958E">
                <a:alpha val="10000"/>
              </a:srgbClr>
            </a:outerShdw>
          </a:effectLst>
        </p:spPr>
      </p:sp>
      <p:pic>
        <p:nvPicPr>
          <p:cNvPr id="7" name="Image 0"/>
          <p:cNvPicPr>
            <a:picLocks noChangeAspect="1"/>
          </p:cNvPicPr>
          <p:nvPr/>
        </p:nvPicPr>
        <p:blipFill>
          <a:blip r:embed="rId3"/>
          <a:srcRect/>
          <a:stretch/>
        </p:blipFill>
        <p:spPr>
          <a:xfrm>
            <a:off x="845729" y="1490472"/>
            <a:ext cx="7077638" cy="4187952"/>
          </a:xfrm>
          <a:prstGeom prst="rect">
            <a:avLst/>
          </a:prstGeom>
        </p:spPr>
      </p:pic>
      <p:sp>
        <p:nvSpPr>
          <p:cNvPr id="8" name="Shape 5"/>
          <p:cNvSpPr/>
          <p:nvPr/>
        </p:nvSpPr>
        <p:spPr>
          <a:xfrm>
            <a:off x="8412480" y="1490472"/>
            <a:ext cx="3063240" cy="1874520"/>
          </a:xfrm>
          <a:prstGeom prst="roundRect">
            <a:avLst>
              <a:gd name="adj" fmla="val 3902"/>
            </a:avLst>
          </a:prstGeom>
          <a:solidFill>
            <a:srgbClr val="F0F7F4"/>
          </a:solidFill>
          <a:ln w="10160">
            <a:solidFill>
              <a:srgbClr val="CBE4D7"/>
            </a:solidFill>
            <a:prstDash val="solid"/>
          </a:ln>
        </p:spPr>
      </p:sp>
      <p:sp>
        <p:nvSpPr>
          <p:cNvPr id="9" name="Text 6"/>
          <p:cNvSpPr/>
          <p:nvPr/>
        </p:nvSpPr>
        <p:spPr>
          <a:xfrm>
            <a:off x="8558784" y="1591056"/>
            <a:ext cx="2770632" cy="201168"/>
          </a:xfrm>
          <a:prstGeom prst="rect">
            <a:avLst/>
          </a:prstGeom>
          <a:noFill/>
          <a:ln/>
        </p:spPr>
        <p:txBody>
          <a:bodyPr wrap="square" lIns="0" tIns="0" rIns="0" bIns="0" rtlCol="0" anchor="ctr">
            <a:noAutofit/>
          </a:bodyPr>
          <a:lstStyle/>
          <a:p>
            <a:pPr marL="0" indent="0">
              <a:buNone/>
            </a:pPr>
            <a:r>
              <a:rPr lang="en-US" sz="2000" b="1" dirty="0">
                <a:solidFill>
                  <a:srgbClr val="197A5D"/>
                </a:solidFill>
                <a:latin typeface="Aptos" pitchFamily="34" charset="0"/>
                <a:ea typeface="Aptos" pitchFamily="34" charset="-122"/>
                <a:cs typeface="Aptos" pitchFamily="34" charset="-120"/>
              </a:rPr>
              <a:t>Analisis utama</a:t>
            </a:r>
            <a:endParaRPr lang="en-US" sz="2000" dirty="0"/>
          </a:p>
        </p:txBody>
      </p:sp>
      <p:sp>
        <p:nvSpPr>
          <p:cNvPr id="10" name="Text 7"/>
          <p:cNvSpPr/>
          <p:nvPr/>
        </p:nvSpPr>
        <p:spPr>
          <a:xfrm>
            <a:off x="8558784" y="1847088"/>
            <a:ext cx="2770632" cy="143560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Rata-rata ISPU tertinggi terjadi pada bulan Okt (89.7) dengan 25.4% hari tidak sehat. Bulan dengan rata-rata terendah adalah Jan (62.6).</a:t>
            </a:r>
            <a:endParaRPr lang="en-US" sz="1400" dirty="0"/>
          </a:p>
        </p:txBody>
      </p:sp>
      <p:sp>
        <p:nvSpPr>
          <p:cNvPr id="11" name="Shape 8"/>
          <p:cNvSpPr/>
          <p:nvPr/>
        </p:nvSpPr>
        <p:spPr>
          <a:xfrm>
            <a:off x="8412480" y="3611880"/>
            <a:ext cx="3063240" cy="2057400"/>
          </a:xfrm>
          <a:prstGeom prst="roundRect">
            <a:avLst>
              <a:gd name="adj" fmla="val 3556"/>
            </a:avLst>
          </a:prstGeom>
          <a:solidFill>
            <a:srgbClr val="FDF1EF"/>
          </a:solidFill>
          <a:ln w="10160">
            <a:solidFill>
              <a:srgbClr val="CBE4D7"/>
            </a:solidFill>
            <a:prstDash val="solid"/>
          </a:ln>
        </p:spPr>
      </p:sp>
      <p:sp>
        <p:nvSpPr>
          <p:cNvPr id="12" name="Text 9"/>
          <p:cNvSpPr/>
          <p:nvPr/>
        </p:nvSpPr>
        <p:spPr>
          <a:xfrm>
            <a:off x="8558784" y="3712464"/>
            <a:ext cx="2770632" cy="201168"/>
          </a:xfrm>
          <a:prstGeom prst="rect">
            <a:avLst/>
          </a:prstGeom>
          <a:noFill/>
          <a:ln/>
        </p:spPr>
        <p:txBody>
          <a:bodyPr wrap="square" lIns="0" tIns="0" rIns="0" bIns="0" rtlCol="0" anchor="ctr">
            <a:noAutofit/>
          </a:bodyPr>
          <a:lstStyle/>
          <a:p>
            <a:pPr marL="0" indent="0">
              <a:buNone/>
            </a:pPr>
            <a:r>
              <a:rPr lang="en-US" sz="2000" b="1" dirty="0">
                <a:solidFill>
                  <a:srgbClr val="C34632"/>
                </a:solidFill>
                <a:latin typeface="Aptos" pitchFamily="34" charset="0"/>
                <a:ea typeface="Aptos" pitchFamily="34" charset="-122"/>
                <a:cs typeface="Aptos" pitchFamily="34" charset="-120"/>
              </a:rPr>
              <a:t>Insight yang dihasilkan</a:t>
            </a:r>
            <a:endParaRPr lang="en-US" sz="2000" dirty="0"/>
          </a:p>
        </p:txBody>
      </p:sp>
      <p:sp>
        <p:nvSpPr>
          <p:cNvPr id="13" name="Text 10"/>
          <p:cNvSpPr/>
          <p:nvPr/>
        </p:nvSpPr>
        <p:spPr>
          <a:xfrm>
            <a:off x="8558784" y="3968496"/>
            <a:ext cx="2770632" cy="1618488"/>
          </a:xfrm>
          <a:prstGeom prst="rect">
            <a:avLst/>
          </a:prstGeom>
          <a:noFill/>
          <a:ln/>
        </p:spPr>
        <p:txBody>
          <a:bodyPr wrap="square" lIns="254" tIns="254" rIns="254" bIns="254" rtlCol="0" anchor="ctr">
            <a:normAutofit/>
          </a:bodyPr>
          <a:lstStyle/>
          <a:p>
            <a:pPr marL="0" indent="0">
              <a:buNone/>
            </a:pPr>
            <a:r>
              <a:rPr lang="en-US" sz="1400" dirty="0">
                <a:solidFill>
                  <a:srgbClr val="14342C"/>
                </a:solidFill>
                <a:latin typeface="Aptos" pitchFamily="34" charset="0"/>
                <a:ea typeface="Aptos" pitchFamily="34" charset="-122"/>
                <a:cs typeface="Aptos" pitchFamily="34" charset="-120"/>
              </a:rPr>
              <a:t>Susun kalender intervensi sebelum periode risiko tinggi, terutama menjelang September–November, melalui inspeksi sumber emisi, pengendalian debu/konstruksi, dan komunikasi risiko kesehatan.</a:t>
            </a:r>
            <a:endParaRPr lang="en-US" sz="1400" dirty="0"/>
          </a:p>
        </p:txBody>
      </p:sp>
      <p:sp>
        <p:nvSpPr>
          <p:cNvPr id="14" name="Text 11"/>
          <p:cNvSpPr/>
          <p:nvPr/>
        </p:nvSpPr>
        <p:spPr>
          <a:xfrm>
            <a:off x="685800" y="5852160"/>
            <a:ext cx="7223760" cy="256032"/>
          </a:xfrm>
          <a:prstGeom prst="rect">
            <a:avLst/>
          </a:prstGeom>
          <a:noFill/>
          <a:ln/>
        </p:spPr>
        <p:txBody>
          <a:bodyPr wrap="square" lIns="254" tIns="254" rIns="254" bIns="254" rtlCol="0" anchor="t">
            <a:normAutofit/>
          </a:bodyPr>
          <a:lstStyle/>
          <a:p>
            <a:pPr marL="0" indent="0" algn="l">
              <a:buNone/>
            </a:pPr>
            <a:r>
              <a:rPr lang="en-US" sz="740" dirty="0">
                <a:solidFill>
                  <a:srgbClr val="58706A"/>
                </a:solidFill>
                <a:latin typeface="Aptos" pitchFamily="34" charset="0"/>
                <a:ea typeface="Aptos" pitchFamily="34" charset="-122"/>
                <a:cs typeface="Aptos" pitchFamily="34" charset="-120"/>
              </a:rPr>
              <a:t>Catatan: visualisasi di atas merepresentasikan dashboard interaktif; filter dashboard dapat disesuaikan menurut tanggal, stasiun, kategori, dan parameter pencemar.</a:t>
            </a:r>
            <a:endParaRPr lang="en-US" sz="740" dirty="0"/>
          </a:p>
        </p:txBody>
      </p:sp>
      <p:sp>
        <p:nvSpPr>
          <p:cNvPr id="25"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8"/>
        </a:solidFill>
        <a:effectLst/>
      </p:bgPr>
    </p:bg>
    <p:spTree>
      <p:nvGrpSpPr>
        <p:cNvPr id="1" name=""/>
        <p:cNvGrpSpPr/>
        <p:nvPr/>
      </p:nvGrpSpPr>
      <p:grpSpPr>
        <a:xfrm>
          <a:off x="0" y="0"/>
          <a:ext cx="0" cy="0"/>
          <a:chOff x="0" y="0"/>
          <a:chExt cx="0" cy="0"/>
        </a:xfrm>
      </p:grpSpPr>
      <p:sp>
        <p:nvSpPr>
          <p:cNvPr id="2" name="Text 0"/>
          <p:cNvSpPr/>
          <p:nvPr/>
        </p:nvSpPr>
        <p:spPr>
          <a:xfrm>
            <a:off x="566928" y="301752"/>
            <a:ext cx="4114800" cy="182880"/>
          </a:xfrm>
          <a:prstGeom prst="rect">
            <a:avLst/>
          </a:prstGeom>
          <a:noFill/>
          <a:ln/>
        </p:spPr>
        <p:txBody>
          <a:bodyPr wrap="square" lIns="0" tIns="0" rIns="0" bIns="0" rtlCol="0" anchor="ctr"/>
          <a:lstStyle/>
          <a:p>
            <a:pPr marL="0" indent="0">
              <a:buNone/>
            </a:pPr>
            <a:r>
              <a:rPr lang="en-US" sz="800" b="1" dirty="0">
                <a:solidFill>
                  <a:srgbClr val="197A5D"/>
                </a:solidFill>
                <a:latin typeface="Aptos" pitchFamily="34" charset="0"/>
                <a:ea typeface="Aptos" pitchFamily="34" charset="-122"/>
                <a:cs typeface="Aptos" pitchFamily="34" charset="-120"/>
              </a:rPr>
              <a:t>SLIDE 10</a:t>
            </a:r>
            <a:endParaRPr lang="en-US" sz="800" dirty="0"/>
          </a:p>
        </p:txBody>
      </p:sp>
      <p:sp>
        <p:nvSpPr>
          <p:cNvPr id="3" name="Text 1"/>
          <p:cNvSpPr/>
          <p:nvPr/>
        </p:nvSpPr>
        <p:spPr>
          <a:xfrm>
            <a:off x="548640" y="530352"/>
            <a:ext cx="10972800" cy="502920"/>
          </a:xfrm>
          <a:prstGeom prst="rect">
            <a:avLst/>
          </a:prstGeom>
          <a:noFill/>
          <a:ln/>
        </p:spPr>
        <p:txBody>
          <a:bodyPr wrap="square" lIns="0" tIns="0" rIns="0" bIns="0" rtlCol="0" anchor="ctr">
            <a:normAutofit/>
          </a:bodyPr>
          <a:lstStyle/>
          <a:p>
            <a:pPr marL="0" indent="0">
              <a:buNone/>
            </a:pPr>
            <a:r>
              <a:rPr lang="en-US" sz="2500" b="1" dirty="0">
                <a:solidFill>
                  <a:srgbClr val="14342C"/>
                </a:solidFill>
                <a:latin typeface="Aptos Display" pitchFamily="34" charset="0"/>
                <a:ea typeface="Aptos Display" pitchFamily="34" charset="-122"/>
                <a:cs typeface="Aptos Display" pitchFamily="34" charset="-120"/>
              </a:rPr>
              <a:t>Kesimpulan &amp; Rekomendasi Kebijakan</a:t>
            </a:r>
            <a:endParaRPr lang="en-US" sz="2500" dirty="0"/>
          </a:p>
        </p:txBody>
      </p:sp>
      <p:sp>
        <p:nvSpPr>
          <p:cNvPr id="4" name="Shape 2"/>
          <p:cNvSpPr/>
          <p:nvPr/>
        </p:nvSpPr>
        <p:spPr>
          <a:xfrm>
            <a:off x="548640" y="1106424"/>
            <a:ext cx="11064240" cy="0"/>
          </a:xfrm>
          <a:prstGeom prst="line">
            <a:avLst/>
          </a:prstGeom>
          <a:noFill/>
          <a:ln w="12700">
            <a:solidFill>
              <a:srgbClr val="DCE7E1"/>
            </a:solidFill>
            <a:prstDash val="solid"/>
          </a:ln>
        </p:spPr>
      </p:sp>
      <p:sp>
        <p:nvSpPr>
          <p:cNvPr id="5" name="Text 3"/>
          <p:cNvSpPr/>
          <p:nvPr/>
        </p:nvSpPr>
        <p:spPr>
          <a:xfrm>
            <a:off x="713232" y="1261872"/>
            <a:ext cx="2743200" cy="164592"/>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INSIGHT UTAMA BERBASIS DATA</a:t>
            </a:r>
            <a:endParaRPr lang="en-US" sz="1400" dirty="0"/>
          </a:p>
        </p:txBody>
      </p:sp>
      <p:sp>
        <p:nvSpPr>
          <p:cNvPr id="6" name="Shape 4"/>
          <p:cNvSpPr/>
          <p:nvPr/>
        </p:nvSpPr>
        <p:spPr>
          <a:xfrm>
            <a:off x="74980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7" name="Text 5"/>
          <p:cNvSpPr/>
          <p:nvPr/>
        </p:nvSpPr>
        <p:spPr>
          <a:xfrm>
            <a:off x="89611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C34632"/>
                </a:solidFill>
                <a:latin typeface="Aptos Display" pitchFamily="34" charset="0"/>
                <a:ea typeface="Aptos Display" pitchFamily="34" charset="-122"/>
                <a:cs typeface="Aptos Display" pitchFamily="34" charset="-120"/>
              </a:rPr>
              <a:t>17.6%</a:t>
            </a:r>
            <a:endParaRPr lang="en-US" sz="2400" dirty="0"/>
          </a:p>
        </p:txBody>
      </p:sp>
      <p:sp>
        <p:nvSpPr>
          <p:cNvPr id="8" name="Text 6"/>
          <p:cNvSpPr/>
          <p:nvPr/>
        </p:nvSpPr>
        <p:spPr>
          <a:xfrm>
            <a:off x="89611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hari tidak sehat</a:t>
            </a:r>
            <a:endParaRPr lang="en-US" sz="1000" dirty="0"/>
          </a:p>
        </p:txBody>
      </p:sp>
      <p:sp>
        <p:nvSpPr>
          <p:cNvPr id="9" name="Text 7"/>
          <p:cNvSpPr/>
          <p:nvPr/>
        </p:nvSpPr>
        <p:spPr>
          <a:xfrm>
            <a:off x="89611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Kategori TIDAK SEHAT atau lebih buruk masih signifikan.</a:t>
            </a:r>
            <a:endParaRPr lang="en-US" sz="800" dirty="0"/>
          </a:p>
        </p:txBody>
      </p:sp>
      <p:sp>
        <p:nvSpPr>
          <p:cNvPr id="10" name="Shape 8"/>
          <p:cNvSpPr/>
          <p:nvPr/>
        </p:nvSpPr>
        <p:spPr>
          <a:xfrm>
            <a:off x="262432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1" name="Text 9"/>
          <p:cNvSpPr/>
          <p:nvPr/>
        </p:nvSpPr>
        <p:spPr>
          <a:xfrm>
            <a:off x="277063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197A5D"/>
                </a:solidFill>
                <a:latin typeface="Aptos Display" pitchFamily="34" charset="0"/>
                <a:ea typeface="Aptos Display" pitchFamily="34" charset="-122"/>
                <a:cs typeface="Aptos Display" pitchFamily="34" charset="-120"/>
              </a:rPr>
              <a:t>88.2</a:t>
            </a:r>
            <a:endParaRPr lang="en-US" sz="2400" dirty="0"/>
          </a:p>
        </p:txBody>
      </p:sp>
      <p:sp>
        <p:nvSpPr>
          <p:cNvPr id="12" name="Text 10"/>
          <p:cNvSpPr/>
          <p:nvPr/>
        </p:nvSpPr>
        <p:spPr>
          <a:xfrm>
            <a:off x="2770632" y="2130552"/>
            <a:ext cx="1307592" cy="256032"/>
          </a:xfrm>
          <a:prstGeom prst="rect">
            <a:avLst/>
          </a:prstGeom>
          <a:noFill/>
          <a:ln/>
        </p:spPr>
        <p:txBody>
          <a:bodyPr wrap="square" lIns="0" tIns="0" rIns="0" bIns="0" rtlCol="0" anchor="ctr">
            <a:noAutofit/>
          </a:bodyPr>
          <a:lstStyle/>
          <a:p>
            <a:pPr marL="0" indent="0">
              <a:buNone/>
            </a:pPr>
            <a:r>
              <a:rPr lang="en-US" sz="1000" b="1" dirty="0">
                <a:solidFill>
                  <a:srgbClr val="14342C"/>
                </a:solidFill>
                <a:latin typeface="Aptos" pitchFamily="34" charset="0"/>
                <a:ea typeface="Aptos" pitchFamily="34" charset="-122"/>
                <a:cs typeface="Aptos" pitchFamily="34" charset="-120"/>
              </a:rPr>
              <a:t>ISPU rata-rata tertinggi</a:t>
            </a:r>
            <a:endParaRPr lang="en-US" sz="1000" dirty="0"/>
          </a:p>
        </p:txBody>
      </p:sp>
      <p:sp>
        <p:nvSpPr>
          <p:cNvPr id="13" name="Text 11"/>
          <p:cNvSpPr/>
          <p:nvPr/>
        </p:nvSpPr>
        <p:spPr>
          <a:xfrm>
            <a:off x="2770632" y="2449528"/>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DKI2 Kelapa Gading menjadi prioritas lokasi.</a:t>
            </a:r>
            <a:endParaRPr lang="en-US" sz="800" dirty="0"/>
          </a:p>
        </p:txBody>
      </p:sp>
      <p:sp>
        <p:nvSpPr>
          <p:cNvPr id="14" name="Shape 12"/>
          <p:cNvSpPr/>
          <p:nvPr/>
        </p:nvSpPr>
        <p:spPr>
          <a:xfrm>
            <a:off x="449884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5" name="Text 13"/>
          <p:cNvSpPr/>
          <p:nvPr/>
        </p:nvSpPr>
        <p:spPr>
          <a:xfrm>
            <a:off x="464515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D68A00"/>
                </a:solidFill>
                <a:latin typeface="Aptos Display" pitchFamily="34" charset="0"/>
                <a:ea typeface="Aptos Display" pitchFamily="34" charset="-122"/>
                <a:cs typeface="Aptos Display" pitchFamily="34" charset="-120"/>
              </a:rPr>
              <a:t>89.7</a:t>
            </a:r>
            <a:endParaRPr lang="en-US" sz="2400" dirty="0"/>
          </a:p>
        </p:txBody>
      </p:sp>
      <p:sp>
        <p:nvSpPr>
          <p:cNvPr id="16" name="Text 14"/>
          <p:cNvSpPr/>
          <p:nvPr/>
        </p:nvSpPr>
        <p:spPr>
          <a:xfrm>
            <a:off x="464515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puncak musiman</a:t>
            </a:r>
            <a:endParaRPr lang="en-US" sz="1000" dirty="0"/>
          </a:p>
        </p:txBody>
      </p:sp>
      <p:sp>
        <p:nvSpPr>
          <p:cNvPr id="17" name="Text 15"/>
          <p:cNvSpPr/>
          <p:nvPr/>
        </p:nvSpPr>
        <p:spPr>
          <a:xfrm>
            <a:off x="464515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Bulan Oktober </a:t>
            </a:r>
            <a:r>
              <a:rPr lang="en-US" sz="800" dirty="0" err="1">
                <a:solidFill>
                  <a:srgbClr val="58706A"/>
                </a:solidFill>
                <a:latin typeface="Aptos" pitchFamily="34" charset="0"/>
                <a:ea typeface="Aptos" pitchFamily="34" charset="-122"/>
                <a:cs typeface="Aptos" pitchFamily="34" charset="-120"/>
              </a:rPr>
              <a:t>dengan</a:t>
            </a:r>
            <a:r>
              <a:rPr lang="en-US" sz="800" dirty="0">
                <a:solidFill>
                  <a:srgbClr val="58706A"/>
                </a:solidFill>
                <a:latin typeface="Aptos" pitchFamily="34" charset="0"/>
                <a:ea typeface="Aptos" pitchFamily="34" charset="-122"/>
                <a:cs typeface="Aptos" pitchFamily="34" charset="-120"/>
              </a:rPr>
              <a:t> rata-rata ISPU </a:t>
            </a:r>
            <a:r>
              <a:rPr lang="en-US" sz="800" dirty="0" err="1">
                <a:solidFill>
                  <a:srgbClr val="58706A"/>
                </a:solidFill>
                <a:latin typeface="Aptos" pitchFamily="34" charset="0"/>
                <a:ea typeface="Aptos" pitchFamily="34" charset="-122"/>
                <a:cs typeface="Aptos" pitchFamily="34" charset="-120"/>
              </a:rPr>
              <a:t>bulanan</a:t>
            </a:r>
            <a:r>
              <a:rPr lang="en-US" sz="800" dirty="0">
                <a:solidFill>
                  <a:srgbClr val="58706A"/>
                </a:solidFill>
                <a:latin typeface="Aptos" pitchFamily="34" charset="0"/>
                <a:ea typeface="Aptos" pitchFamily="34" charset="-122"/>
                <a:cs typeface="Aptos" pitchFamily="34" charset="-120"/>
              </a:rPr>
              <a:t> 89.7</a:t>
            </a:r>
            <a:endParaRPr lang="en-US" sz="800" dirty="0"/>
          </a:p>
        </p:txBody>
      </p:sp>
      <p:sp>
        <p:nvSpPr>
          <p:cNvPr id="18" name="Shape 16"/>
          <p:cNvSpPr/>
          <p:nvPr/>
        </p:nvSpPr>
        <p:spPr>
          <a:xfrm>
            <a:off x="6373368" y="1609344"/>
            <a:ext cx="1600200" cy="1143000"/>
          </a:xfrm>
          <a:prstGeom prst="roundRect">
            <a:avLst>
              <a:gd name="adj" fmla="val 6400"/>
            </a:avLst>
          </a:prstGeom>
          <a:solidFill>
            <a:srgbClr val="FFFFFF"/>
          </a:solidFill>
          <a:ln w="10160">
            <a:solidFill>
              <a:srgbClr val="DDEAE4"/>
            </a:solidFill>
            <a:prstDash val="solid"/>
          </a:ln>
          <a:effectLst>
            <a:outerShdw blurRad="12700" dist="12700" dir="2700000" algn="bl" rotWithShape="0">
              <a:srgbClr val="86958E">
                <a:alpha val="10000"/>
              </a:srgbClr>
            </a:outerShdw>
          </a:effectLst>
        </p:spPr>
      </p:sp>
      <p:sp>
        <p:nvSpPr>
          <p:cNvPr id="19" name="Text 17"/>
          <p:cNvSpPr/>
          <p:nvPr/>
        </p:nvSpPr>
        <p:spPr>
          <a:xfrm>
            <a:off x="6519672" y="1719072"/>
            <a:ext cx="1307592" cy="384048"/>
          </a:xfrm>
          <a:prstGeom prst="rect">
            <a:avLst/>
          </a:prstGeom>
          <a:noFill/>
          <a:ln/>
        </p:spPr>
        <p:txBody>
          <a:bodyPr wrap="square" lIns="0" tIns="0" rIns="0" bIns="0" rtlCol="0" anchor="ctr">
            <a:normAutofit/>
          </a:bodyPr>
          <a:lstStyle/>
          <a:p>
            <a:pPr marL="0" indent="0">
              <a:buNone/>
            </a:pPr>
            <a:r>
              <a:rPr lang="en-US" sz="2400" b="1" dirty="0">
                <a:solidFill>
                  <a:srgbClr val="2B6CB0"/>
                </a:solidFill>
                <a:latin typeface="Aptos Display" pitchFamily="34" charset="0"/>
                <a:ea typeface="Aptos Display" pitchFamily="34" charset="-122"/>
                <a:cs typeface="Aptos Display" pitchFamily="34" charset="-120"/>
              </a:rPr>
              <a:t>44.3%</a:t>
            </a:r>
            <a:endParaRPr lang="en-US" sz="2400" dirty="0"/>
          </a:p>
        </p:txBody>
      </p:sp>
      <p:sp>
        <p:nvSpPr>
          <p:cNvPr id="20" name="Text 18"/>
          <p:cNvSpPr/>
          <p:nvPr/>
        </p:nvSpPr>
        <p:spPr>
          <a:xfrm>
            <a:off x="6519672" y="2130552"/>
            <a:ext cx="1307592" cy="256032"/>
          </a:xfrm>
          <a:prstGeom prst="rect">
            <a:avLst/>
          </a:prstGeom>
          <a:noFill/>
          <a:ln/>
        </p:spPr>
        <p:txBody>
          <a:bodyPr wrap="square" lIns="0" tIns="0" rIns="0" bIns="0" rtlCol="0" anchor="ctr">
            <a:normAutofit/>
          </a:bodyPr>
          <a:lstStyle/>
          <a:p>
            <a:pPr marL="0" indent="0">
              <a:buNone/>
            </a:pPr>
            <a:r>
              <a:rPr lang="en-US" sz="1000" b="1" dirty="0">
                <a:solidFill>
                  <a:srgbClr val="14342C"/>
                </a:solidFill>
                <a:latin typeface="Aptos" pitchFamily="34" charset="0"/>
                <a:ea typeface="Aptos" pitchFamily="34" charset="-122"/>
                <a:cs typeface="Aptos" pitchFamily="34" charset="-120"/>
              </a:rPr>
              <a:t>O3 dominan</a:t>
            </a:r>
            <a:endParaRPr lang="en-US" sz="1000" dirty="0"/>
          </a:p>
        </p:txBody>
      </p:sp>
      <p:sp>
        <p:nvSpPr>
          <p:cNvPr id="21" name="Text 19"/>
          <p:cNvSpPr/>
          <p:nvPr/>
        </p:nvSpPr>
        <p:spPr>
          <a:xfrm>
            <a:off x="6519672" y="2414016"/>
            <a:ext cx="1307592" cy="164592"/>
          </a:xfrm>
          <a:prstGeom prst="rect">
            <a:avLst/>
          </a:prstGeom>
          <a:noFill/>
          <a:ln/>
        </p:spPr>
        <p:txBody>
          <a:bodyPr wrap="square" lIns="0" tIns="0" rIns="0" bIns="0"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O3 paling sering menjadi parameter critical.</a:t>
            </a:r>
            <a:endParaRPr lang="en-US" sz="800" dirty="0"/>
          </a:p>
        </p:txBody>
      </p:sp>
      <p:graphicFrame>
        <p:nvGraphicFramePr>
          <p:cNvPr id="22" name="Chart 0"/>
          <p:cNvGraphicFramePr/>
          <p:nvPr/>
        </p:nvGraphicFramePr>
        <p:xfrm>
          <a:off x="777240" y="2971800"/>
          <a:ext cx="3840480" cy="201168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23" name="Chart 1"/>
          <p:cNvGraphicFramePr/>
          <p:nvPr/>
        </p:nvGraphicFramePr>
        <p:xfrm>
          <a:off x="4892040" y="2971800"/>
          <a:ext cx="3657600" cy="2011680"/>
        </p:xfrm>
        <a:graphic>
          <a:graphicData uri="http://schemas.openxmlformats.org/drawingml/2006/chart">
            <c:chart xmlns:c="http://schemas.openxmlformats.org/drawingml/2006/chart" xmlns:r="http://schemas.openxmlformats.org/officeDocument/2006/relationships" r:id="rId4"/>
          </a:graphicData>
        </a:graphic>
      </p:graphicFrame>
      <p:sp>
        <p:nvSpPr>
          <p:cNvPr id="24" name="Text 20"/>
          <p:cNvSpPr/>
          <p:nvPr/>
        </p:nvSpPr>
        <p:spPr>
          <a:xfrm>
            <a:off x="8869680" y="1261872"/>
            <a:ext cx="2743200" cy="164592"/>
          </a:xfrm>
          <a:prstGeom prst="rect">
            <a:avLst/>
          </a:prstGeom>
          <a:noFill/>
          <a:ln/>
        </p:spPr>
        <p:txBody>
          <a:bodyPr wrap="square" lIns="0" tIns="0" rIns="0" bIns="0" rtlCol="0" anchor="ctr">
            <a:noAutofit/>
          </a:bodyPr>
          <a:lstStyle/>
          <a:p>
            <a:pPr marL="0" indent="0">
              <a:buNone/>
            </a:pPr>
            <a:r>
              <a:rPr lang="en-US" sz="1400" b="1" dirty="0">
                <a:solidFill>
                  <a:srgbClr val="C34632"/>
                </a:solidFill>
                <a:latin typeface="Aptos" pitchFamily="34" charset="0"/>
                <a:ea typeface="Aptos" pitchFamily="34" charset="-122"/>
                <a:cs typeface="Aptos" pitchFamily="34" charset="-120"/>
              </a:rPr>
              <a:t>REKOMENDASI KONKRET UNTUK KEPALA DINAS LH DKI JAKARTA</a:t>
            </a:r>
            <a:endParaRPr lang="en-US" sz="1400" dirty="0"/>
          </a:p>
        </p:txBody>
      </p:sp>
      <p:sp>
        <p:nvSpPr>
          <p:cNvPr id="25" name="Shape 21"/>
          <p:cNvSpPr/>
          <p:nvPr/>
        </p:nvSpPr>
        <p:spPr>
          <a:xfrm>
            <a:off x="8869680" y="1572768"/>
            <a:ext cx="2651760" cy="786384"/>
          </a:xfrm>
          <a:prstGeom prst="roundRect">
            <a:avLst>
              <a:gd name="adj" fmla="val 9302"/>
            </a:avLst>
          </a:prstGeom>
          <a:solidFill>
            <a:srgbClr val="FFFFFF"/>
          </a:solidFill>
          <a:ln w="10160">
            <a:solidFill>
              <a:srgbClr val="DDEAE4"/>
            </a:solidFill>
            <a:prstDash val="solid"/>
          </a:ln>
        </p:spPr>
      </p:sp>
      <p:sp>
        <p:nvSpPr>
          <p:cNvPr id="26" name="Shape 22"/>
          <p:cNvSpPr/>
          <p:nvPr/>
        </p:nvSpPr>
        <p:spPr>
          <a:xfrm>
            <a:off x="9034272" y="1737360"/>
            <a:ext cx="310896" cy="310896"/>
          </a:xfrm>
          <a:prstGeom prst="ellipse">
            <a:avLst/>
          </a:prstGeom>
          <a:solidFill>
            <a:srgbClr val="197A5D"/>
          </a:solidFill>
          <a:ln w="12700">
            <a:solidFill>
              <a:srgbClr val="197A5D"/>
            </a:solidFill>
            <a:prstDash val="solid"/>
          </a:ln>
        </p:spPr>
      </p:sp>
      <p:sp>
        <p:nvSpPr>
          <p:cNvPr id="27" name="Text 23"/>
          <p:cNvSpPr/>
          <p:nvPr/>
        </p:nvSpPr>
        <p:spPr>
          <a:xfrm>
            <a:off x="9034272" y="180136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1</a:t>
            </a:r>
            <a:endParaRPr lang="en-US" sz="750" dirty="0"/>
          </a:p>
        </p:txBody>
      </p:sp>
      <p:sp>
        <p:nvSpPr>
          <p:cNvPr id="28" name="Text 24"/>
          <p:cNvSpPr/>
          <p:nvPr/>
        </p:nvSpPr>
        <p:spPr>
          <a:xfrm>
            <a:off x="9436608" y="169164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Aktifkan alert operasional</a:t>
            </a:r>
            <a:endParaRPr lang="en-US" sz="1100" dirty="0"/>
          </a:p>
        </p:txBody>
      </p:sp>
      <p:sp>
        <p:nvSpPr>
          <p:cNvPr id="29" name="Text 25"/>
          <p:cNvSpPr/>
          <p:nvPr/>
        </p:nvSpPr>
        <p:spPr>
          <a:xfrm>
            <a:off x="9436608" y="190195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Tindak lanjuti bila ISPU &gt;100 selama ≥2 hari berturut-turut per stasiun; laporan harian ke pimpinan.</a:t>
            </a:r>
            <a:endParaRPr lang="en-US" sz="800" dirty="0"/>
          </a:p>
        </p:txBody>
      </p:sp>
      <p:sp>
        <p:nvSpPr>
          <p:cNvPr id="30" name="Shape 26"/>
          <p:cNvSpPr/>
          <p:nvPr/>
        </p:nvSpPr>
        <p:spPr>
          <a:xfrm>
            <a:off x="8869680" y="2532888"/>
            <a:ext cx="2651760" cy="786384"/>
          </a:xfrm>
          <a:prstGeom prst="roundRect">
            <a:avLst>
              <a:gd name="adj" fmla="val 9302"/>
            </a:avLst>
          </a:prstGeom>
          <a:solidFill>
            <a:srgbClr val="F8FBF9"/>
          </a:solidFill>
          <a:ln w="10160">
            <a:solidFill>
              <a:srgbClr val="DDEAE4"/>
            </a:solidFill>
            <a:prstDash val="solid"/>
          </a:ln>
        </p:spPr>
      </p:sp>
      <p:sp>
        <p:nvSpPr>
          <p:cNvPr id="31" name="Shape 27"/>
          <p:cNvSpPr/>
          <p:nvPr/>
        </p:nvSpPr>
        <p:spPr>
          <a:xfrm>
            <a:off x="9034272" y="2697480"/>
            <a:ext cx="310896" cy="310896"/>
          </a:xfrm>
          <a:prstGeom prst="ellipse">
            <a:avLst/>
          </a:prstGeom>
          <a:solidFill>
            <a:srgbClr val="2B6CB0"/>
          </a:solidFill>
          <a:ln w="12700">
            <a:solidFill>
              <a:srgbClr val="2B6CB0"/>
            </a:solidFill>
            <a:prstDash val="solid"/>
          </a:ln>
        </p:spPr>
      </p:sp>
      <p:sp>
        <p:nvSpPr>
          <p:cNvPr id="32" name="Text 28"/>
          <p:cNvSpPr/>
          <p:nvPr/>
        </p:nvSpPr>
        <p:spPr>
          <a:xfrm>
            <a:off x="9034272" y="276148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2</a:t>
            </a:r>
            <a:endParaRPr lang="en-US" sz="750" dirty="0"/>
          </a:p>
        </p:txBody>
      </p:sp>
      <p:sp>
        <p:nvSpPr>
          <p:cNvPr id="33" name="Text 29"/>
          <p:cNvSpPr/>
          <p:nvPr/>
        </p:nvSpPr>
        <p:spPr>
          <a:xfrm>
            <a:off x="9436608" y="265176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Fokus lokasi prioritas</a:t>
            </a:r>
            <a:endParaRPr lang="en-US" sz="1100" dirty="0"/>
          </a:p>
        </p:txBody>
      </p:sp>
      <p:sp>
        <p:nvSpPr>
          <p:cNvPr id="34" name="Text 30"/>
          <p:cNvSpPr/>
          <p:nvPr/>
        </p:nvSpPr>
        <p:spPr>
          <a:xfrm>
            <a:off x="9436608" y="286207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Jadikan DKI2 dan DKI4 sebagai prioritas inspeksi sumber emisi; evaluasi bulanan proporsi hari tidak sehat.</a:t>
            </a:r>
            <a:endParaRPr lang="en-US" sz="800" dirty="0"/>
          </a:p>
        </p:txBody>
      </p:sp>
      <p:sp>
        <p:nvSpPr>
          <p:cNvPr id="35" name="Shape 31"/>
          <p:cNvSpPr/>
          <p:nvPr/>
        </p:nvSpPr>
        <p:spPr>
          <a:xfrm>
            <a:off x="8869680" y="3493008"/>
            <a:ext cx="2651760" cy="786384"/>
          </a:xfrm>
          <a:prstGeom prst="roundRect">
            <a:avLst>
              <a:gd name="adj" fmla="val 9302"/>
            </a:avLst>
          </a:prstGeom>
          <a:solidFill>
            <a:srgbClr val="FFFFFF"/>
          </a:solidFill>
          <a:ln w="10160">
            <a:solidFill>
              <a:srgbClr val="DDEAE4"/>
            </a:solidFill>
            <a:prstDash val="solid"/>
          </a:ln>
        </p:spPr>
      </p:sp>
      <p:sp>
        <p:nvSpPr>
          <p:cNvPr id="36" name="Shape 32"/>
          <p:cNvSpPr/>
          <p:nvPr/>
        </p:nvSpPr>
        <p:spPr>
          <a:xfrm>
            <a:off x="9034272" y="3657600"/>
            <a:ext cx="310896" cy="310896"/>
          </a:xfrm>
          <a:prstGeom prst="ellipse">
            <a:avLst/>
          </a:prstGeom>
          <a:solidFill>
            <a:srgbClr val="D68A00"/>
          </a:solidFill>
          <a:ln w="12700">
            <a:solidFill>
              <a:srgbClr val="D68A00"/>
            </a:solidFill>
            <a:prstDash val="solid"/>
          </a:ln>
        </p:spPr>
      </p:sp>
      <p:sp>
        <p:nvSpPr>
          <p:cNvPr id="37" name="Text 33"/>
          <p:cNvSpPr/>
          <p:nvPr/>
        </p:nvSpPr>
        <p:spPr>
          <a:xfrm>
            <a:off x="9034272" y="372160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3</a:t>
            </a:r>
            <a:endParaRPr lang="en-US" sz="750" dirty="0"/>
          </a:p>
        </p:txBody>
      </p:sp>
      <p:sp>
        <p:nvSpPr>
          <p:cNvPr id="38" name="Text 34"/>
          <p:cNvSpPr/>
          <p:nvPr/>
        </p:nvSpPr>
        <p:spPr>
          <a:xfrm>
            <a:off x="9436608" y="361188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Kalender intervensi musiman</a:t>
            </a:r>
            <a:endParaRPr lang="en-US" sz="1100" dirty="0"/>
          </a:p>
        </p:txBody>
      </p:sp>
      <p:sp>
        <p:nvSpPr>
          <p:cNvPr id="39" name="Text 35"/>
          <p:cNvSpPr/>
          <p:nvPr/>
        </p:nvSpPr>
        <p:spPr>
          <a:xfrm>
            <a:off x="9436608" y="382219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Mulai pengendalian pra-musim risiko pada Jul–Nov; target penurunan hari tidak sehat minimal 10% pada periode puncak.</a:t>
            </a:r>
            <a:endParaRPr lang="en-US" sz="800" dirty="0"/>
          </a:p>
        </p:txBody>
      </p:sp>
      <p:sp>
        <p:nvSpPr>
          <p:cNvPr id="40" name="Shape 36"/>
          <p:cNvSpPr/>
          <p:nvPr/>
        </p:nvSpPr>
        <p:spPr>
          <a:xfrm>
            <a:off x="8869680" y="4453128"/>
            <a:ext cx="2651760" cy="786384"/>
          </a:xfrm>
          <a:prstGeom prst="roundRect">
            <a:avLst>
              <a:gd name="adj" fmla="val 9302"/>
            </a:avLst>
          </a:prstGeom>
          <a:solidFill>
            <a:srgbClr val="F8FBF9"/>
          </a:solidFill>
          <a:ln w="10160">
            <a:solidFill>
              <a:srgbClr val="DDEAE4"/>
            </a:solidFill>
            <a:prstDash val="solid"/>
          </a:ln>
        </p:spPr>
      </p:sp>
      <p:sp>
        <p:nvSpPr>
          <p:cNvPr id="41" name="Shape 37"/>
          <p:cNvSpPr/>
          <p:nvPr/>
        </p:nvSpPr>
        <p:spPr>
          <a:xfrm>
            <a:off x="9034272" y="4617720"/>
            <a:ext cx="310896" cy="310896"/>
          </a:xfrm>
          <a:prstGeom prst="ellipse">
            <a:avLst/>
          </a:prstGeom>
          <a:solidFill>
            <a:srgbClr val="C34632"/>
          </a:solidFill>
          <a:ln w="12700">
            <a:solidFill>
              <a:srgbClr val="C34632"/>
            </a:solidFill>
            <a:prstDash val="solid"/>
          </a:ln>
        </p:spPr>
      </p:sp>
      <p:sp>
        <p:nvSpPr>
          <p:cNvPr id="42" name="Text 38"/>
          <p:cNvSpPr/>
          <p:nvPr/>
        </p:nvSpPr>
        <p:spPr>
          <a:xfrm>
            <a:off x="9034272" y="4681728"/>
            <a:ext cx="310896" cy="91440"/>
          </a:xfrm>
          <a:prstGeom prst="rect">
            <a:avLst/>
          </a:prstGeom>
          <a:noFill/>
          <a:ln/>
        </p:spPr>
        <p:txBody>
          <a:bodyPr wrap="square" lIns="0" tIns="0" rIns="0" bIns="0" rtlCol="0" anchor="ctr"/>
          <a:lstStyle/>
          <a:p>
            <a:pPr marL="0" indent="0" algn="ctr">
              <a:buNone/>
            </a:pPr>
            <a:r>
              <a:rPr lang="en-US" sz="750" b="1" dirty="0">
                <a:solidFill>
                  <a:srgbClr val="FFFFFF"/>
                </a:solidFill>
                <a:latin typeface="Aptos" pitchFamily="34" charset="0"/>
                <a:ea typeface="Aptos" pitchFamily="34" charset="-122"/>
                <a:cs typeface="Aptos" pitchFamily="34" charset="-120"/>
              </a:rPr>
              <a:t>4</a:t>
            </a:r>
            <a:endParaRPr lang="en-US" sz="750" dirty="0"/>
          </a:p>
        </p:txBody>
      </p:sp>
      <p:sp>
        <p:nvSpPr>
          <p:cNvPr id="43" name="Text 39"/>
          <p:cNvSpPr/>
          <p:nvPr/>
        </p:nvSpPr>
        <p:spPr>
          <a:xfrm>
            <a:off x="9436608" y="4572000"/>
            <a:ext cx="1920240" cy="164592"/>
          </a:xfrm>
          <a:prstGeom prst="rect">
            <a:avLst/>
          </a:prstGeom>
          <a:noFill/>
          <a:ln/>
        </p:spPr>
        <p:txBody>
          <a:bodyPr wrap="square" lIns="0" tIns="0" rIns="0" bIns="0" rtlCol="0" anchor="ctr">
            <a:noAutofit/>
          </a:bodyPr>
          <a:lstStyle/>
          <a:p>
            <a:pPr marL="0" indent="0">
              <a:buNone/>
            </a:pPr>
            <a:r>
              <a:rPr lang="en-US" sz="1100" b="1" dirty="0">
                <a:solidFill>
                  <a:srgbClr val="14342C"/>
                </a:solidFill>
                <a:latin typeface="Aptos" pitchFamily="34" charset="0"/>
                <a:ea typeface="Aptos" pitchFamily="34" charset="-122"/>
                <a:cs typeface="Aptos" pitchFamily="34" charset="-120"/>
              </a:rPr>
              <a:t>Perbaiki mutu data PM2.5</a:t>
            </a:r>
            <a:endParaRPr lang="en-US" sz="1100" dirty="0"/>
          </a:p>
        </p:txBody>
      </p:sp>
      <p:sp>
        <p:nvSpPr>
          <p:cNvPr id="44" name="Text 40"/>
          <p:cNvSpPr/>
          <p:nvPr/>
        </p:nvSpPr>
        <p:spPr>
          <a:xfrm>
            <a:off x="9436608" y="4782312"/>
            <a:ext cx="1920240" cy="310896"/>
          </a:xfrm>
          <a:prstGeom prst="rect">
            <a:avLst/>
          </a:prstGeom>
          <a:noFill/>
          <a:ln/>
        </p:spPr>
        <p:txBody>
          <a:bodyPr wrap="square" lIns="127" tIns="127" rIns="127" bIns="127" rtlCol="0" anchor="ctr">
            <a:noAutofit/>
          </a:bodyPr>
          <a:lstStyle/>
          <a:p>
            <a:pPr marL="0" indent="0">
              <a:buNone/>
            </a:pPr>
            <a:r>
              <a:rPr lang="en-US" sz="800" dirty="0">
                <a:solidFill>
                  <a:srgbClr val="58706A"/>
                </a:solidFill>
                <a:latin typeface="Aptos" pitchFamily="34" charset="0"/>
                <a:ea typeface="Aptos" pitchFamily="34" charset="-122"/>
                <a:cs typeface="Aptos" pitchFamily="34" charset="-120"/>
              </a:rPr>
              <a:t>Wajibkan monitoring coverage PM2.5 per SPKU; target kelengkapan minimal 95% untuk analisis tahunan.</a:t>
            </a:r>
            <a:endParaRPr lang="en-US" sz="800" dirty="0"/>
          </a:p>
        </p:txBody>
      </p:sp>
      <p:sp>
        <p:nvSpPr>
          <p:cNvPr id="45" name="Shape 41"/>
          <p:cNvSpPr/>
          <p:nvPr/>
        </p:nvSpPr>
        <p:spPr>
          <a:xfrm>
            <a:off x="777240" y="5440680"/>
            <a:ext cx="10652760" cy="685800"/>
          </a:xfrm>
          <a:prstGeom prst="roundRect">
            <a:avLst>
              <a:gd name="adj" fmla="val 10667"/>
            </a:avLst>
          </a:prstGeom>
          <a:solidFill>
            <a:srgbClr val="F0F7F4"/>
          </a:solidFill>
          <a:ln w="10160">
            <a:solidFill>
              <a:srgbClr val="CBE4D7"/>
            </a:solidFill>
            <a:prstDash val="solid"/>
          </a:ln>
        </p:spPr>
      </p:sp>
      <p:sp>
        <p:nvSpPr>
          <p:cNvPr id="46" name="Text 42"/>
          <p:cNvSpPr/>
          <p:nvPr/>
        </p:nvSpPr>
        <p:spPr>
          <a:xfrm>
            <a:off x="923544" y="5541264"/>
            <a:ext cx="10360152" cy="201168"/>
          </a:xfrm>
          <a:prstGeom prst="rect">
            <a:avLst/>
          </a:prstGeom>
          <a:noFill/>
          <a:ln/>
        </p:spPr>
        <p:txBody>
          <a:bodyPr wrap="square" lIns="0" tIns="0" rIns="0" bIns="0" rtlCol="0" anchor="ctr">
            <a:noAutofit/>
          </a:bodyPr>
          <a:lstStyle/>
          <a:p>
            <a:pPr marL="0" indent="0">
              <a:buNone/>
            </a:pPr>
            <a:r>
              <a:rPr lang="en-US" sz="1400" b="1" dirty="0">
                <a:solidFill>
                  <a:srgbClr val="197A5D"/>
                </a:solidFill>
                <a:latin typeface="Aptos" pitchFamily="34" charset="0"/>
                <a:ea typeface="Aptos" pitchFamily="34" charset="-122"/>
                <a:cs typeface="Aptos" pitchFamily="34" charset="-120"/>
              </a:rPr>
              <a:t>Keputusan utama</a:t>
            </a:r>
            <a:endParaRPr lang="en-US" sz="1400" dirty="0"/>
          </a:p>
        </p:txBody>
      </p:sp>
      <p:sp>
        <p:nvSpPr>
          <p:cNvPr id="47" name="Text 43"/>
          <p:cNvSpPr/>
          <p:nvPr/>
        </p:nvSpPr>
        <p:spPr>
          <a:xfrm>
            <a:off x="923544" y="5797296"/>
            <a:ext cx="10360152" cy="246888"/>
          </a:xfrm>
          <a:prstGeom prst="rect">
            <a:avLst/>
          </a:prstGeom>
          <a:noFill/>
          <a:ln/>
        </p:spPr>
        <p:txBody>
          <a:bodyPr wrap="square" lIns="254" tIns="254" rIns="254" bIns="254" rtlCol="0" anchor="ctr">
            <a:noAutofit/>
          </a:bodyPr>
          <a:lstStyle/>
          <a:p>
            <a:pPr marL="0" indent="0">
              <a:buNone/>
            </a:pPr>
            <a:r>
              <a:rPr lang="en-US" sz="1100" dirty="0">
                <a:solidFill>
                  <a:srgbClr val="14342C"/>
                </a:solidFill>
                <a:latin typeface="Aptos" pitchFamily="34" charset="0"/>
                <a:ea typeface="Aptos" pitchFamily="34" charset="-122"/>
                <a:cs typeface="Aptos" pitchFamily="34" charset="-120"/>
              </a:rPr>
              <a:t>Gunakan dashboard sebagai instrumen rapat rutin: pantau KPI harian, evaluasi bulanan, dan prioritaskan intervensi berdasarkan lokasi, waktu, parameter, dan kualitas data.</a:t>
            </a:r>
            <a:endParaRPr lang="en-US" sz="1100" dirty="0"/>
          </a:p>
        </p:txBody>
      </p:sp>
      <p:sp>
        <p:nvSpPr>
          <p:cNvPr id="48" name="Slide Number Placeholder 0"/>
          <p:cNvSpPr>
            <a:spLocks noGrp="1"/>
          </p:cNvSpPr>
          <p:nvPr>
            <p:ph type="sldNum" sz="quarter" idx="4294967295"/>
          </p:nvPr>
        </p:nvSpPr>
        <p:spPr>
          <a:xfrm>
            <a:off x="11722608" y="6519672"/>
            <a:ext cx="800000" cy="300000"/>
          </a:xfrm>
          <a:prstGeom prst="rect">
            <a:avLst/>
          </a:prstGeom>
          <a:extLst>
            <a:ext uri="{C572A759-6A51-4108-AA02-DFA0A04FC94B}">
              <ma14:wrappingTextBoxFlag xmlns:ma14="http://schemas.microsoft.com/office/mac/drawingml/2011/main" xmlns="" val="0"/>
            </a:ext>
          </a:extLst>
        </p:spPr>
        <p:txBody>
          <a:bodyPr/>
          <a:lstStyle>
            <a:lvl1pPr>
              <a:defRPr sz="650">
                <a:solidFill>
                  <a:srgbClr val="6B7D76"/>
                </a:solidFill>
                <a:latin typeface="Aptos"/>
                <a:ea typeface="Aptos"/>
                <a:cs typeface="Aptos"/>
              </a:defRPr>
            </a:lvl1pPr>
          </a:lstStyle>
          <a:p>
            <a:pPr algn="l"/>
            <a:fld id="{F7021451-1387-4CA6-816F-3879F97B5CBC}" type="slidenum">
              <a:rPr lang="en-US" b="0"/>
              <a:t>10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22</TotalTime>
  <Words>1324</Words>
  <Application>Microsoft Office PowerPoint</Application>
  <PresentationFormat>Widescreen</PresentationFormat>
  <Paragraphs>175</Paragraphs>
  <Slides>10</Slides>
  <Notes>10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10</vt:i4>
      </vt:variant>
    </vt:vector>
  </HeadingPairs>
  <TitlesOfParts>
    <vt:vector size="15" baseType="lpstr">
      <vt:lpstr>Aptos</vt:lpstr>
      <vt:lpstr>Aptos Display</vt:lpstr>
      <vt:lpstr>Arial</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Pusdatin KLH/BPLH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Paparan ISPU DKI Jakarta - Sesuai Ketentuan</dc:title>
  <dc:subject>Paparan Analisis Kualitas Udara ISPU DKI Jakarta</dc:subject>
  <dc:creator>OpenAI</dc:creator>
  <cp:lastModifiedBy>Pusdatin KLH</cp:lastModifiedBy>
  <cp:revision>11</cp:revision>
  <dcterms:created xsi:type="dcterms:W3CDTF">2026-06-11T17:04:06Z</dcterms:created>
  <dcterms:modified xsi:type="dcterms:W3CDTF">2026-06-12T00:21:24Z</dcterms:modified>
</cp:coreProperties>
</file>